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313058-0bbd-d4fc-d059-c021616b8e15}">
          <p14:sldIdLst>
            <p14:sldId id="256"/>
            <p14:sldId id="257"/>
          </p14:sldIdLst>
        </p14:section>
        <p14:section name="Phase 1: Project setup and IAM" id="{a703ce1e-e7aa-59bf-50b2-a5f2cd4e1a11}">
          <p14:sldIdLst>
            <p14:sldId id="258"/>
            <p14:sldId id="259"/>
            <p14:sldId id="260"/>
            <p14:sldId id="261"/>
            <p14:sldId id="262"/>
          </p14:sldIdLst>
        </p14:section>
        <p14:section name="Phase 2: Architecture and IP plan" id="{2c9e995f-588b-66e7-b550-9aaf0a2849f3}">
          <p14:sldIdLst>
            <p14:sldId id="263"/>
            <p14:sldId id="264"/>
            <p14:sldId id="265"/>
            <p14:sldId id="266"/>
            <p14:sldId id="267"/>
          </p14:sldIdLst>
        </p14:section>
        <p14:section name="Phase 3: Shared VPC" id="{8842f6c9-da72-0c58-0930-c0698d15a8a2}">
          <p14:sldIdLst>
            <p14:sldId id="268"/>
            <p14:sldId id="269"/>
            <p14:sldId id="270"/>
            <p14:sldId id="271"/>
            <p14:sldId id="272"/>
          </p14:sldIdLst>
        </p14:section>
        <p14:section name="Phase 4: Network peering" id="{42567f4a-d0b3-5e79-fdc0-952ce98ac58e}">
          <p14:sldIdLst>
            <p14:sldId id="273"/>
            <p14:sldId id="274"/>
            <p14:sldId id="275"/>
            <p14:sldId id="276"/>
            <p14:sldId id="277"/>
          </p14:sldIdLst>
        </p14:section>
        <p14:section name="Phase 5: Security controls" id="{792e85c0-7d13-3a36-c667-d26dbd6e481b}">
          <p14:sldIdLst>
            <p14:sldId id="278"/>
            <p14:sldId id="279"/>
            <p14:sldId id="280"/>
            <p14:sldId id="281"/>
            <p14:sldId id="282"/>
          </p14:sldIdLst>
        </p14:section>
        <p14:section name="Phase 6: Egress and hybrid" id="{d64961e6-0a54-8f73-ed50-7557bbfa4e0d}">
          <p14:sldIdLst>
            <p14:sldId id="283"/>
            <p14:sldId id="284"/>
            <p14:sldId id="285"/>
            <p14:sldId id="286"/>
            <p14:sldId id="287"/>
          </p14:sldIdLst>
        </p14:section>
        <p14:section name="Phase 7: Monitoring and logging" id="{db6febb9-2a5e-f8dd-9a6f-f11f916c0ee6}">
          <p14:sldIdLst>
            <p14:sldId id="288"/>
            <p14:sldId id="289"/>
            <p14:sldId id="290"/>
            <p14:sldId id="291"/>
            <p14:sldId id="292"/>
          </p14:sldIdLst>
        </p14:section>
        <p14:section name="Phase 8: Automation, backup and DR" id="{21bb2b0c-906d-4a51-0452-d52baf8da778}">
          <p14:sldIdLst>
            <p14:sldId id="293"/>
            <p14:sldId id="294"/>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by reading only the question, answering aloud, then comparing with the model answer. The model answers are short on purpose: in an interview, give the short answer first and expand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86200"/>
            <a:ext cx="8686800" cy="17373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4"/>
                </a:solidFill>
              </a:rPr>
              <a:t>GCP Multi-Tenant SaaS Network  ·  Interview questions</a:t>
            </a:r>
            <a:endParaRPr lang="en-US" sz="1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400" b="1" dirty="0">
                <a:solidFill>
                  <a:schemeClr val="bg1"/>
                </a:solidFill>
              </a:rPr>
              <a:t>Interview Questions: GCP SaaS Network</a:t>
            </a: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lIns="0" tIns="0" rIns="0" bIns="0" rtlCol="0" anchor="t"/>
          <a:lstStyle/>
          <a:p>
            <a:pPr algn="l" indent="0" marL="0">
              <a:buNone/>
            </a:pPr>
            <a:r>
              <a:rPr lang="en-US" sz="2000" dirty="0">
                <a:solidFill>
                  <a:schemeClr val="bg2"/>
                </a:solidFill>
              </a:rPr>
              <a:t>128 questions with model answers across all 8 phases: concepts, design scenarios, troubleshooting and your own project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1"/>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HOW TO USE</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How to practise with this deck</a:t>
            </a:r>
            <a:endParaRPr lang="en-US" sz="3200" dirty="0"/>
          </a:p>
        </p:txBody>
      </p:sp>
      <p:sp>
        <p:nvSpPr>
          <p:cNvPr id="5" name="card-2"/>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6" name="badge-3"/>
          <p:cNvSpPr/>
          <p:nvPr/>
        </p:nvSpPr>
        <p:spPr>
          <a:xfrm>
            <a:off x="731520" y="1783080"/>
            <a:ext cx="420624" cy="420624"/>
          </a:xfrm>
          <a:prstGeom prst="ellipse">
            <a:avLst/>
          </a:prstGeom>
          <a:solidFill>
            <a:schemeClr val="accent1"/>
          </a:solidFill>
          <a:ln w="12700">
            <a:solidFill>
              <a:schemeClr val="accent1"/>
            </a:solidFill>
            <a:prstDash val="solid"/>
          </a:ln>
        </p:spPr>
      </p:sp>
      <p:sp>
        <p:nvSpPr>
          <p:cNvPr id="7" name="badgetxt-4"/>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h-5"/>
          <p:cNvSpPr txBox="1"/>
          <p:nvPr/>
        </p:nvSpPr>
        <p:spPr>
          <a:xfrm>
            <a:off x="1280160"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Concept</a:t>
            </a:r>
            <a:endParaRPr lang="en-US" sz="1800" dirty="0"/>
          </a:p>
        </p:txBody>
      </p:sp>
      <p:sp>
        <p:nvSpPr>
          <p:cNvPr id="9" name="cardb-6"/>
          <p:cNvSpPr txBox="1"/>
          <p:nvPr/>
        </p:nvSpPr>
        <p:spPr>
          <a:xfrm>
            <a:off x="777240"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Definitions and how a service works. Expect these early in a screen; answer in two or three sentences, then stop.</a:t>
            </a:r>
            <a:endParaRPr lang="en-US" sz="1700" dirty="0"/>
          </a:p>
        </p:txBody>
      </p:sp>
      <p:sp>
        <p:nvSpPr>
          <p:cNvPr id="10" name="card-7"/>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1" name="badge-8"/>
          <p:cNvSpPr/>
          <p:nvPr/>
        </p:nvSpPr>
        <p:spPr>
          <a:xfrm>
            <a:off x="6415888" y="1783080"/>
            <a:ext cx="420624" cy="420624"/>
          </a:xfrm>
          <a:prstGeom prst="ellipse">
            <a:avLst/>
          </a:prstGeom>
          <a:solidFill>
            <a:schemeClr val="accent1"/>
          </a:solidFill>
          <a:ln w="12700">
            <a:solidFill>
              <a:schemeClr val="accent1"/>
            </a:solidFill>
            <a:prstDash val="solid"/>
          </a:ln>
        </p:spPr>
      </p:sp>
      <p:sp>
        <p:nvSpPr>
          <p:cNvPr id="12" name="badgetxt-9"/>
          <p:cNvSpPr txBox="1"/>
          <p:nvPr/>
        </p:nvSpPr>
        <p:spPr>
          <a:xfrm>
            <a:off x="6415888"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h-10"/>
          <p:cNvSpPr txBox="1"/>
          <p:nvPr/>
        </p:nvSpPr>
        <p:spPr>
          <a:xfrm>
            <a:off x="6964528" y="175564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Design</a:t>
            </a:r>
            <a:endParaRPr lang="en-US" sz="1800" dirty="0"/>
          </a:p>
        </p:txBody>
      </p:sp>
      <p:sp>
        <p:nvSpPr>
          <p:cNvPr id="14" name="cardb-11"/>
          <p:cNvSpPr txBox="1"/>
          <p:nvPr/>
        </p:nvSpPr>
        <p:spPr>
          <a:xfrm>
            <a:off x="6461608" y="235000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'How would you…' and 'why did you…'. State the requirement, your choice, and the trade-off you accepted.</a:t>
            </a:r>
            <a:endParaRPr lang="en-US" sz="1700" dirty="0"/>
          </a:p>
        </p:txBody>
      </p:sp>
      <p:sp>
        <p:nvSpPr>
          <p:cNvPr id="15" name="card-12"/>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6" name="badge-13"/>
          <p:cNvSpPr/>
          <p:nvPr/>
        </p:nvSpPr>
        <p:spPr>
          <a:xfrm>
            <a:off x="731520" y="4251960"/>
            <a:ext cx="420624" cy="420624"/>
          </a:xfrm>
          <a:prstGeom prst="ellipse">
            <a:avLst/>
          </a:prstGeom>
          <a:solidFill>
            <a:schemeClr val="accent1"/>
          </a:solidFill>
          <a:ln w="12700">
            <a:solidFill>
              <a:schemeClr val="accent1"/>
            </a:solidFill>
            <a:prstDash val="solid"/>
          </a:ln>
        </p:spPr>
      </p:sp>
      <p:sp>
        <p:nvSpPr>
          <p:cNvPr id="17" name="badgetxt-14"/>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h-15"/>
          <p:cNvSpPr txBox="1"/>
          <p:nvPr/>
        </p:nvSpPr>
        <p:spPr>
          <a:xfrm>
            <a:off x="1280160"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Troubleshooting</a:t>
            </a:r>
            <a:endParaRPr lang="en-US" sz="1800" dirty="0"/>
          </a:p>
        </p:txBody>
      </p:sp>
      <p:sp>
        <p:nvSpPr>
          <p:cNvPr id="19" name="cardb-16"/>
          <p:cNvSpPr txBox="1"/>
          <p:nvPr/>
        </p:nvSpPr>
        <p:spPr>
          <a:xfrm>
            <a:off x="777240"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An error or symptom. Walk through what you'd check, in order, before naming the fix. Interviewers score the method.</a:t>
            </a:r>
            <a:endParaRPr lang="en-US" sz="1700" dirty="0"/>
          </a:p>
        </p:txBody>
      </p:sp>
      <p:sp>
        <p:nvSpPr>
          <p:cNvPr id="20" name="card-17"/>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1" name="badge-18"/>
          <p:cNvSpPr/>
          <p:nvPr/>
        </p:nvSpPr>
        <p:spPr>
          <a:xfrm>
            <a:off x="6415888" y="4251960"/>
            <a:ext cx="420624" cy="420624"/>
          </a:xfrm>
          <a:prstGeom prst="ellipse">
            <a:avLst/>
          </a:prstGeom>
          <a:solidFill>
            <a:schemeClr val="accent1"/>
          </a:solidFill>
          <a:ln w="12700">
            <a:solidFill>
              <a:schemeClr val="accent1"/>
            </a:solidFill>
            <a:prstDash val="solid"/>
          </a:ln>
        </p:spPr>
      </p:sp>
      <p:sp>
        <p:nvSpPr>
          <p:cNvPr id="22" name="badgetxt-19"/>
          <p:cNvSpPr txBox="1"/>
          <p:nvPr/>
        </p:nvSpPr>
        <p:spPr>
          <a:xfrm>
            <a:off x="6415888" y="4251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h-20"/>
          <p:cNvSpPr txBox="1"/>
          <p:nvPr/>
        </p:nvSpPr>
        <p:spPr>
          <a:xfrm>
            <a:off x="6964528" y="4224528"/>
            <a:ext cx="4495648" cy="475488"/>
          </a:xfrm>
          <a:prstGeom prst="rect">
            <a:avLst/>
          </a:prstGeom>
          <a:noFill/>
          <a:ln/>
        </p:spPr>
        <p:txBody>
          <a:bodyPr wrap="square" lIns="0" tIns="0" rIns="0" bIns="0" rtlCol="0" anchor="ctr"/>
          <a:lstStyle/>
          <a:p>
            <a:pPr indent="0" marL="0">
              <a:buNone/>
            </a:pPr>
            <a:r>
              <a:rPr lang="en-US" sz="1800" b="1" dirty="0">
                <a:solidFill>
                  <a:schemeClr val="tx2"/>
                </a:solidFill>
              </a:rPr>
              <a:t>Your project</a:t>
            </a:r>
            <a:endParaRPr lang="en-US" sz="1800" dirty="0"/>
          </a:p>
        </p:txBody>
      </p:sp>
      <p:sp>
        <p:nvSpPr>
          <p:cNvPr id="24" name="cardb-21"/>
          <p:cNvSpPr txBox="1"/>
          <p:nvPr/>
        </p:nvSpPr>
        <p:spPr>
          <a:xfrm>
            <a:off x="6461608" y="4818888"/>
            <a:ext cx="4952848" cy="132588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Behavioural and project questions. Answer with Situation, Task, Action, Result, using the real numbers from your build.</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num-22"/>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01</a:t>
            </a:r>
            <a:endParaRPr lang="en-US" sz="13000" dirty="0"/>
          </a:p>
        </p:txBody>
      </p:sp>
      <p:sp>
        <p:nvSpPr>
          <p:cNvPr id="3" name="sectag-23"/>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1</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Project setup and IAM</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16 questions: 8 concept · 3 design · 3 troubleshooting · 2 your project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24"/>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1 · PROJECT SETUP AND IAM · 1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Project setup and IAM</a:t>
            </a:r>
            <a:endParaRPr lang="en-US" sz="3200" dirty="0"/>
          </a:p>
        </p:txBody>
      </p:sp>
      <p:sp>
        <p:nvSpPr>
          <p:cNvPr id="4" name="card-25"/>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26"/>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27"/>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28"/>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Explain the GCP resource hierarchy and why it matters.</a:t>
            </a:r>
            <a:endParaRPr lang="en-US" sz="1600" dirty="0"/>
          </a:p>
        </p:txBody>
      </p:sp>
      <p:sp>
        <p:nvSpPr>
          <p:cNvPr id="8" name="a-29"/>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Organization → folders → projects → resources. IAM and org policies set higher up are inherited downward, so the hierarchy is how you apply guardrails at scale and separate billing, quotas and access.</a:t>
            </a:r>
            <a:endParaRPr lang="en-US" sz="1500" dirty="0"/>
          </a:p>
        </p:txBody>
      </p:sp>
      <p:sp>
        <p:nvSpPr>
          <p:cNvPr id="9" name="card-30"/>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31"/>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32"/>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33"/>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a project in GCP, and what does it isolate?</a:t>
            </a:r>
            <a:endParaRPr lang="en-US" sz="1600" dirty="0"/>
          </a:p>
        </p:txBody>
      </p:sp>
      <p:sp>
        <p:nvSpPr>
          <p:cNvPr id="13" name="a-34"/>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unit of billing, quotas, API enablement and IAM. Every resource belongs to exactly one project. It's a hard administrative boundary, which is why each tenant got its own.</a:t>
            </a:r>
            <a:endParaRPr lang="en-US" sz="1500" dirty="0"/>
          </a:p>
        </p:txBody>
      </p:sp>
      <p:sp>
        <p:nvSpPr>
          <p:cNvPr id="14" name="card-35"/>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36"/>
          <p:cNvSpPr/>
          <p:nvPr/>
        </p:nvSpPr>
        <p:spPr>
          <a:xfrm>
            <a:off x="731520" y="4233672"/>
            <a:ext cx="1600200" cy="292608"/>
          </a:xfrm>
          <a:prstGeom prst="roundRect">
            <a:avLst>
              <a:gd name="adj" fmla="val 31250"/>
            </a:avLst>
          </a:prstGeom>
          <a:solidFill>
            <a:schemeClr val="accent1"/>
          </a:solidFill>
          <a:ln w="12700">
            <a:solidFill>
              <a:schemeClr val="accent1"/>
            </a:solidFill>
            <a:prstDash val="solid"/>
          </a:ln>
        </p:spPr>
      </p:sp>
      <p:sp>
        <p:nvSpPr>
          <p:cNvPr id="16" name="pilltxt-37"/>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7" name="q-38"/>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Basic vs predefined vs custom roles?</a:t>
            </a:r>
            <a:endParaRPr lang="en-US" sz="1600" dirty="0"/>
          </a:p>
        </p:txBody>
      </p:sp>
      <p:sp>
        <p:nvSpPr>
          <p:cNvPr id="18" name="a-39"/>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Basic (owner, editor, viewer) are broad and legacy; avoid in production. Predefined roles are service-specific and maintained by Google; prefer them. Custom roles when predefined still grant too much.</a:t>
            </a:r>
            <a:endParaRPr lang="en-US" sz="1500" dirty="0"/>
          </a:p>
        </p:txBody>
      </p:sp>
      <p:sp>
        <p:nvSpPr>
          <p:cNvPr id="19" name="card-40"/>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41"/>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42"/>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43"/>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Can a role granted at the organization be removed at the project level?</a:t>
            </a:r>
            <a:endParaRPr lang="en-US" sz="1600" dirty="0"/>
          </a:p>
        </p:txBody>
      </p:sp>
      <p:sp>
        <p:nvSpPr>
          <p:cNvPr id="23" name="a-44"/>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No. IAM allow policies are additive and inherited. To restrict, use IAM deny policies or org policy constraints.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45"/>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1 · PROJECT SETUP AND IAM · 2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Project setup and IAM</a:t>
            </a:r>
            <a:endParaRPr lang="en-US" sz="3200" dirty="0"/>
          </a:p>
        </p:txBody>
      </p:sp>
      <p:sp>
        <p:nvSpPr>
          <p:cNvPr id="4" name="card-46"/>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47"/>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48"/>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49"/>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a service account and how is it different from a user?</a:t>
            </a:r>
            <a:endParaRPr lang="en-US" sz="1600" dirty="0"/>
          </a:p>
        </p:txBody>
      </p:sp>
      <p:sp>
        <p:nvSpPr>
          <p:cNvPr id="8" name="a-50"/>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 non-human identity for workloads and automation. It has no password; it authenticates with keys, attached metadata credentials, impersonation or federation. It's both an identity and a resource others can be granted access to.</a:t>
            </a:r>
            <a:endParaRPr lang="en-US" sz="1500" dirty="0"/>
          </a:p>
        </p:txBody>
      </p:sp>
      <p:sp>
        <p:nvSpPr>
          <p:cNvPr id="9" name="card-51"/>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52"/>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53"/>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54"/>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does service account impersonation work?</a:t>
            </a:r>
            <a:endParaRPr lang="en-US" sz="1600" dirty="0"/>
          </a:p>
        </p:txBody>
      </p:sp>
      <p:sp>
        <p:nvSpPr>
          <p:cNvPr id="13" name="a-55"/>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 principal with roles/iam.serviceAccountTokenCreator on the SA calls the IAM Credentials API (generateAccessToken) and receives a short-lived token, about an hour by default. No key is stored.</a:t>
            </a:r>
            <a:endParaRPr lang="en-US" sz="1500" dirty="0"/>
          </a:p>
        </p:txBody>
      </p:sp>
      <p:sp>
        <p:nvSpPr>
          <p:cNvPr id="14" name="card-56"/>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57"/>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58"/>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59"/>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did you avoid service account keys?</a:t>
            </a:r>
            <a:endParaRPr lang="en-US" sz="1600" dirty="0"/>
          </a:p>
        </p:txBody>
      </p:sp>
      <p:sp>
        <p:nvSpPr>
          <p:cNvPr id="18" name="a-60"/>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Keys are long-lived secrets that leak through repos, laptops and CI logs, and need rotation. Impersonation gives short-lived tokens and an audit trail of the human behind each action. Later I blocked key creation org-wide.</a:t>
            </a:r>
            <a:endParaRPr lang="en-US" sz="1500" dirty="0"/>
          </a:p>
        </p:txBody>
      </p:sp>
      <p:sp>
        <p:nvSpPr>
          <p:cNvPr id="19" name="card-61"/>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62"/>
          <p:cNvSpPr/>
          <p:nvPr/>
        </p:nvSpPr>
        <p:spPr>
          <a:xfrm>
            <a:off x="6415888" y="4233672"/>
            <a:ext cx="1600200" cy="292608"/>
          </a:xfrm>
          <a:prstGeom prst="roundRect">
            <a:avLst>
              <a:gd name="adj" fmla="val 31250"/>
            </a:avLst>
          </a:prstGeom>
          <a:solidFill>
            <a:schemeClr val="accent3"/>
          </a:solidFill>
          <a:ln w="12700">
            <a:solidFill>
              <a:schemeClr val="accent3"/>
            </a:solidFill>
            <a:prstDash val="solid"/>
          </a:ln>
        </p:spPr>
      </p:sp>
      <p:sp>
        <p:nvSpPr>
          <p:cNvPr id="21" name="pilltxt-63"/>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22" name="q-64"/>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would you give a contractor temporary access to deploy network changes?</a:t>
            </a:r>
            <a:endParaRPr lang="en-US" sz="1600" dirty="0"/>
          </a:p>
        </p:txBody>
      </p:sp>
      <p:sp>
        <p:nvSpPr>
          <p:cNvPr id="23" name="a-65"/>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Grant Token Creator on the deploy SA with an IAM condition that expires (request.time &lt; date), or better, have them open pull requests so CI deploys. Never hand out keys.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6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1 · PROJECT SETUP AND IAM · 3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Project setup and IAM</a:t>
            </a:r>
            <a:endParaRPr lang="en-US" sz="3200" dirty="0"/>
          </a:p>
        </p:txBody>
      </p:sp>
      <p:sp>
        <p:nvSpPr>
          <p:cNvPr id="4" name="card-67"/>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68"/>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69"/>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70"/>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Do budgets stop spending?</a:t>
            </a:r>
            <a:endParaRPr lang="en-US" sz="1600" dirty="0"/>
          </a:p>
        </p:txBody>
      </p:sp>
      <p:sp>
        <p:nvSpPr>
          <p:cNvPr id="8" name="a-71"/>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No. They alert at thresholds. To cap spend you wire the budget's Pub/Sub notifications to automation that disables billing or shuts resources down.</a:t>
            </a:r>
            <a:endParaRPr lang="en-US" sz="1500" dirty="0"/>
          </a:p>
        </p:txBody>
      </p:sp>
      <p:sp>
        <p:nvSpPr>
          <p:cNvPr id="9" name="card-72"/>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73"/>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74"/>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75"/>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does 'enabling an API' mean, and who pays for calls?</a:t>
            </a:r>
            <a:endParaRPr lang="en-US" sz="1600" dirty="0"/>
          </a:p>
        </p:txBody>
      </p:sp>
      <p:sp>
        <p:nvSpPr>
          <p:cNvPr id="13" name="a-76"/>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Service usage is turned on per project. Calls are attributed to a quota/billing project, which is why the caller needs serviceusage.services.use on it.</a:t>
            </a:r>
            <a:endParaRPr lang="en-US" sz="1500" dirty="0"/>
          </a:p>
        </p:txBody>
      </p:sp>
      <p:sp>
        <p:nvSpPr>
          <p:cNvPr id="14" name="card-77"/>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78"/>
          <p:cNvSpPr/>
          <p:nvPr/>
        </p:nvSpPr>
        <p:spPr>
          <a:xfrm>
            <a:off x="731520" y="4233672"/>
            <a:ext cx="1600200" cy="292608"/>
          </a:xfrm>
          <a:prstGeom prst="roundRect">
            <a:avLst>
              <a:gd name="adj" fmla="val 31250"/>
            </a:avLst>
          </a:prstGeom>
          <a:solidFill>
            <a:schemeClr val="accent5"/>
          </a:solidFill>
          <a:ln w="12700">
            <a:solidFill>
              <a:schemeClr val="accent5"/>
            </a:solidFill>
            <a:prstDash val="solid"/>
          </a:ln>
        </p:spPr>
      </p:sp>
      <p:sp>
        <p:nvSpPr>
          <p:cNvPr id="16" name="pilltxt-79"/>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17" name="q-80"/>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You get 'serviceusage.services.use' permission denied on terraform init. Why?</a:t>
            </a:r>
            <a:endParaRPr lang="en-US" sz="1600" dirty="0"/>
          </a:p>
        </p:txBody>
      </p:sp>
      <p:sp>
        <p:nvSpPr>
          <p:cNvPr id="18" name="a-81"/>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caller isn't allowed to use services in the quota project. Grant roles/serviceusage.serviceUsageConsumer on the project (or set the right quota project). That's what fixed it here.</a:t>
            </a:r>
            <a:endParaRPr lang="en-US" sz="1500" dirty="0"/>
          </a:p>
        </p:txBody>
      </p:sp>
      <p:sp>
        <p:nvSpPr>
          <p:cNvPr id="19" name="card-82"/>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83"/>
          <p:cNvSpPr/>
          <p:nvPr/>
        </p:nvSpPr>
        <p:spPr>
          <a:xfrm>
            <a:off x="6415888" y="4233672"/>
            <a:ext cx="1600200" cy="292608"/>
          </a:xfrm>
          <a:prstGeom prst="roundRect">
            <a:avLst>
              <a:gd name="adj" fmla="val 31250"/>
            </a:avLst>
          </a:prstGeom>
          <a:solidFill>
            <a:schemeClr val="accent5"/>
          </a:solidFill>
          <a:ln w="12700">
            <a:solidFill>
              <a:schemeClr val="accent5"/>
            </a:solidFill>
            <a:prstDash val="solid"/>
          </a:ln>
        </p:spPr>
      </p:sp>
      <p:sp>
        <p:nvSpPr>
          <p:cNvPr id="21" name="pilltxt-84"/>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22" name="q-85"/>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Linking billing fails with FAILED_PRECONDITION. What do you check?</a:t>
            </a:r>
            <a:endParaRPr lang="en-US" sz="1600" dirty="0"/>
          </a:p>
        </p:txBody>
      </p:sp>
      <p:sp>
        <p:nvSpPr>
          <p:cNvPr id="23" name="a-86"/>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Whether the billing account is open, whether you have billing.resourceAssociations.create, and whether the account hit its project limit. Here it was a closed account; I relinked to the open one.</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8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1 · PROJECT SETUP AND IAM · 4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Project setup and IAM</a:t>
            </a:r>
            <a:endParaRPr lang="en-US" sz="3200" dirty="0"/>
          </a:p>
        </p:txBody>
      </p:sp>
      <p:sp>
        <p:nvSpPr>
          <p:cNvPr id="4" name="card-88"/>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89"/>
          <p:cNvSpPr/>
          <p:nvPr/>
        </p:nvSpPr>
        <p:spPr>
          <a:xfrm>
            <a:off x="731520" y="1764792"/>
            <a:ext cx="1600200" cy="292608"/>
          </a:xfrm>
          <a:prstGeom prst="roundRect">
            <a:avLst>
              <a:gd name="adj" fmla="val 31250"/>
            </a:avLst>
          </a:prstGeom>
          <a:solidFill>
            <a:schemeClr val="accent5"/>
          </a:solidFill>
          <a:ln w="12700">
            <a:solidFill>
              <a:schemeClr val="accent5"/>
            </a:solidFill>
            <a:prstDash val="solid"/>
          </a:ln>
        </p:spPr>
      </p:sp>
      <p:sp>
        <p:nvSpPr>
          <p:cNvPr id="6" name="pilltxt-90"/>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7" name="q-91"/>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Shared VPC enable says the project has no organization. Fix?</a:t>
            </a:r>
            <a:endParaRPr lang="en-US" sz="1600" dirty="0"/>
          </a:p>
        </p:txBody>
      </p:sp>
      <p:sp>
        <p:nvSpPr>
          <p:cNvPr id="8" name="a-92"/>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project was created outside the org. Move it: gcloud beta projects move PROJECT --organization=ORG_ID, then retry.</a:t>
            </a:r>
            <a:endParaRPr lang="en-US" sz="1500" dirty="0"/>
          </a:p>
        </p:txBody>
      </p:sp>
      <p:sp>
        <p:nvSpPr>
          <p:cNvPr id="9" name="card-93"/>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94"/>
          <p:cNvSpPr/>
          <p:nvPr/>
        </p:nvSpPr>
        <p:spPr>
          <a:xfrm>
            <a:off x="6415888" y="1764792"/>
            <a:ext cx="1600200" cy="292608"/>
          </a:xfrm>
          <a:prstGeom prst="roundRect">
            <a:avLst>
              <a:gd name="adj" fmla="val 31250"/>
            </a:avLst>
          </a:prstGeom>
          <a:solidFill>
            <a:schemeClr val="accent3"/>
          </a:solidFill>
          <a:ln w="12700">
            <a:solidFill>
              <a:schemeClr val="accent3"/>
            </a:solidFill>
            <a:prstDash val="solid"/>
          </a:ln>
        </p:spPr>
      </p:sp>
      <p:sp>
        <p:nvSpPr>
          <p:cNvPr id="11" name="pilltxt-95"/>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2" name="q-96"/>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would you structure folders for a multi-tenant SaaS?</a:t>
            </a:r>
            <a:endParaRPr lang="en-US" sz="1600" dirty="0"/>
          </a:p>
        </p:txBody>
      </p:sp>
      <p:sp>
        <p:nvSpPr>
          <p:cNvPr id="13" name="a-97"/>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Folders for platform (shared), environments (prod, nonprod) and tenants (one folder per tenant). Apply tenant-specific org policies and hierarchical firewall rules at the tenant folder level.</a:t>
            </a:r>
            <a:endParaRPr lang="en-US" sz="1500" dirty="0"/>
          </a:p>
        </p:txBody>
      </p:sp>
      <p:sp>
        <p:nvSpPr>
          <p:cNvPr id="14" name="card-98"/>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99"/>
          <p:cNvSpPr/>
          <p:nvPr/>
        </p:nvSpPr>
        <p:spPr>
          <a:xfrm>
            <a:off x="731520" y="4233672"/>
            <a:ext cx="1600200" cy="292608"/>
          </a:xfrm>
          <a:prstGeom prst="roundRect">
            <a:avLst>
              <a:gd name="adj" fmla="val 31250"/>
            </a:avLst>
          </a:prstGeom>
          <a:solidFill>
            <a:schemeClr val="accent2"/>
          </a:solidFill>
          <a:ln w="12700">
            <a:solidFill>
              <a:schemeClr val="accent2"/>
            </a:solidFill>
            <a:prstDash val="solid"/>
          </a:ln>
        </p:spPr>
      </p:sp>
      <p:sp>
        <p:nvSpPr>
          <p:cNvPr id="16" name="pilltxt-100"/>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17" name="q-101"/>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would you change in Phase 1 for a real company?</a:t>
            </a:r>
            <a:endParaRPr lang="en-US" sz="1600" dirty="0"/>
          </a:p>
        </p:txBody>
      </p:sp>
      <p:sp>
        <p:nvSpPr>
          <p:cNvPr id="18" name="a-102"/>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Use folders per tenant, an IAM group per role instead of individual users, budgets wired to automation, and break-glass accounts with alerting on use.</a:t>
            </a:r>
            <a:endParaRPr lang="en-US" sz="1500" dirty="0"/>
          </a:p>
        </p:txBody>
      </p:sp>
      <p:sp>
        <p:nvSpPr>
          <p:cNvPr id="19" name="card-103"/>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104"/>
          <p:cNvSpPr/>
          <p:nvPr/>
        </p:nvSpPr>
        <p:spPr>
          <a:xfrm>
            <a:off x="6415888" y="4233672"/>
            <a:ext cx="1600200" cy="292608"/>
          </a:xfrm>
          <a:prstGeom prst="roundRect">
            <a:avLst>
              <a:gd name="adj" fmla="val 31250"/>
            </a:avLst>
          </a:prstGeom>
          <a:solidFill>
            <a:schemeClr val="accent2"/>
          </a:solidFill>
          <a:ln w="12700">
            <a:solidFill>
              <a:schemeClr val="accent2"/>
            </a:solidFill>
            <a:prstDash val="solid"/>
          </a:ln>
        </p:spPr>
      </p:sp>
      <p:sp>
        <p:nvSpPr>
          <p:cNvPr id="21" name="pilltxt-105"/>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22" name="q-106"/>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did you make sure nobody could bypass Terraform?</a:t>
            </a:r>
            <a:endParaRPr lang="en-US" sz="1600" dirty="0"/>
          </a:p>
        </p:txBody>
      </p:sp>
      <p:sp>
        <p:nvSpPr>
          <p:cNvPr id="23" name="a-107"/>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Humans don't hold network-admin roles; they impersonate the Terraform SA. Later, alerts fire on any change not made by that SA, and CI requires approval to apply.</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num-108"/>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02</a:t>
            </a:r>
            <a:endParaRPr lang="en-US" sz="13000" dirty="0"/>
          </a:p>
        </p:txBody>
      </p:sp>
      <p:sp>
        <p:nvSpPr>
          <p:cNvPr id="3" name="sectag-109"/>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2</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Architecture and IP plan</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16 questions: 5 concept · 9 design · 2 your project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11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2 · ARCHITECTURE AND IP PLAN · 1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Architecture and IP plan</a:t>
            </a:r>
            <a:endParaRPr lang="en-US" sz="3200" dirty="0"/>
          </a:p>
        </p:txBody>
      </p:sp>
      <p:sp>
        <p:nvSpPr>
          <p:cNvPr id="4" name="card-111"/>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112"/>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113"/>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114"/>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Shared VPC vs VPC Network Peering: when do you use each?</a:t>
            </a:r>
            <a:endParaRPr lang="en-US" sz="1600" dirty="0"/>
          </a:p>
        </p:txBody>
      </p:sp>
      <p:sp>
        <p:nvSpPr>
          <p:cNvPr id="8" name="a-115"/>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Shared VPC: one centrally administered network for teams in the same org (our environments). Peering: connecting separately administered networks or trust domains, even across orgs (our tenants).</a:t>
            </a:r>
            <a:endParaRPr lang="en-US" sz="1500" dirty="0"/>
          </a:p>
        </p:txBody>
      </p:sp>
      <p:sp>
        <p:nvSpPr>
          <p:cNvPr id="9" name="card-116"/>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117"/>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118"/>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119"/>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Is VPC peering transitive?</a:t>
            </a:r>
            <a:endParaRPr lang="en-US" sz="1600" dirty="0"/>
          </a:p>
        </p:txBody>
      </p:sp>
      <p:sp>
        <p:nvSpPr>
          <p:cNvPr id="13" name="a-120"/>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No. If A peers with B and B with C, A can't reach C through B. That's what keeps fintech and healthcare apart even though both peer with the hub.</a:t>
            </a:r>
            <a:endParaRPr lang="en-US" sz="1500" dirty="0"/>
          </a:p>
        </p:txBody>
      </p:sp>
      <p:sp>
        <p:nvSpPr>
          <p:cNvPr id="14" name="card-121"/>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122"/>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123"/>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124"/>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hub-and-spoke for tenants instead of a full mesh?</a:t>
            </a:r>
            <a:endParaRPr lang="en-US" sz="1600" dirty="0"/>
          </a:p>
        </p:txBody>
      </p:sp>
      <p:sp>
        <p:nvSpPr>
          <p:cNvPr id="18" name="a-125"/>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Tenants only need shared services, never each other. Hub-and-spoke gives exactly that path, scales linearly (2 peerings per tenant) and isolation comes from routing.</a:t>
            </a:r>
            <a:endParaRPr lang="en-US" sz="1500" dirty="0"/>
          </a:p>
        </p:txBody>
      </p:sp>
      <p:sp>
        <p:nvSpPr>
          <p:cNvPr id="19" name="card-126"/>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127"/>
          <p:cNvSpPr/>
          <p:nvPr/>
        </p:nvSpPr>
        <p:spPr>
          <a:xfrm>
            <a:off x="6415888" y="4233672"/>
            <a:ext cx="1600200" cy="292608"/>
          </a:xfrm>
          <a:prstGeom prst="roundRect">
            <a:avLst>
              <a:gd name="adj" fmla="val 31250"/>
            </a:avLst>
          </a:prstGeom>
          <a:solidFill>
            <a:schemeClr val="accent3"/>
          </a:solidFill>
          <a:ln w="12700">
            <a:solidFill>
              <a:schemeClr val="accent3"/>
            </a:solidFill>
            <a:prstDash val="solid"/>
          </a:ln>
        </p:spPr>
      </p:sp>
      <p:sp>
        <p:nvSpPr>
          <p:cNvPr id="21" name="pilltxt-128"/>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22" name="q-129"/>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did you size the address space?</a:t>
            </a:r>
            <a:endParaRPr lang="en-US" sz="1600" dirty="0"/>
          </a:p>
        </p:txBody>
      </p:sp>
      <p:sp>
        <p:nvSpPr>
          <p:cNvPr id="23" name="a-130"/>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A /16 reserved per environment and tenant, /20 subnets inside. Leaves room for more regions, GKE secondary ranges and growth, and each tenant is summarised by one CIDR in firewall rules.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131"/>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2 · ARCHITECTURE AND IP PLAN · 2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Architecture and IP plan</a:t>
            </a:r>
            <a:endParaRPr lang="en-US" sz="3200" dirty="0"/>
          </a:p>
        </p:txBody>
      </p:sp>
      <p:sp>
        <p:nvSpPr>
          <p:cNvPr id="4" name="card-132"/>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133"/>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134"/>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135"/>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many usable IPs in a /20 subnet in GCP, and why?</a:t>
            </a:r>
            <a:endParaRPr lang="en-US" sz="1600" dirty="0"/>
          </a:p>
        </p:txBody>
      </p:sp>
      <p:sp>
        <p:nvSpPr>
          <p:cNvPr id="8" name="a-136"/>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4,092. Google reserves 4: network, default gateway (.1), second-to-last, and broadcast.</a:t>
            </a:r>
            <a:endParaRPr lang="en-US" sz="1500" dirty="0"/>
          </a:p>
        </p:txBody>
      </p:sp>
      <p:sp>
        <p:nvSpPr>
          <p:cNvPr id="9" name="card-137"/>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138"/>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139"/>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140"/>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are the RFC 1918 ranges?</a:t>
            </a:r>
            <a:endParaRPr lang="en-US" sz="1600" dirty="0"/>
          </a:p>
        </p:txBody>
      </p:sp>
      <p:sp>
        <p:nvSpPr>
          <p:cNvPr id="13" name="a-141"/>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10.0.0.0/8, 172.16.0.0/12 and 192.168.0.0/16. GCP also allows some non-RFC 1918 ranges for subnets, but private space is standard.</a:t>
            </a:r>
            <a:endParaRPr lang="en-US" sz="1500" dirty="0"/>
          </a:p>
        </p:txBody>
      </p:sp>
      <p:sp>
        <p:nvSpPr>
          <p:cNvPr id="14" name="card-142"/>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143"/>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144"/>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145"/>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must peered networks not overlap?</a:t>
            </a:r>
            <a:endParaRPr lang="en-US" sz="1600" dirty="0"/>
          </a:p>
        </p:txBody>
      </p:sp>
      <p:sp>
        <p:nvSpPr>
          <p:cNvPr id="18" name="a-146"/>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Routing would be ambiguous, and GCP refuses to create peering with overlapping subnet ranges. The same applies to on-prem over VPN.</a:t>
            </a:r>
            <a:endParaRPr lang="en-US" sz="1500" dirty="0"/>
          </a:p>
        </p:txBody>
      </p:sp>
      <p:sp>
        <p:nvSpPr>
          <p:cNvPr id="19" name="card-147"/>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148"/>
          <p:cNvSpPr/>
          <p:nvPr/>
        </p:nvSpPr>
        <p:spPr>
          <a:xfrm>
            <a:off x="6415888" y="4233672"/>
            <a:ext cx="1600200" cy="292608"/>
          </a:xfrm>
          <a:prstGeom prst="roundRect">
            <a:avLst>
              <a:gd name="adj" fmla="val 31250"/>
            </a:avLst>
          </a:prstGeom>
          <a:solidFill>
            <a:schemeClr val="accent3"/>
          </a:solidFill>
          <a:ln w="12700">
            <a:solidFill>
              <a:schemeClr val="accent3"/>
            </a:solidFill>
            <a:prstDash val="solid"/>
          </a:ln>
        </p:spPr>
      </p:sp>
      <p:sp>
        <p:nvSpPr>
          <p:cNvPr id="21" name="pilltxt-149"/>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22" name="q-150"/>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did you put on-prem in 192.168.0.0/20?</a:t>
            </a:r>
            <a:endParaRPr lang="en-US" sz="1600" dirty="0"/>
          </a:p>
        </p:txBody>
      </p:sp>
      <p:sp>
        <p:nvSpPr>
          <p:cNvPr id="23" name="a-151"/>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So it could never collide with the 10.x cloud space. In a real migration you'd get the on-prem ranges first and plan cloud ranges around them.</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ag-152"/>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2 · ARCHITECTURE AND IP PLAN · 3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Architecture and IP plan</a:t>
            </a:r>
            <a:endParaRPr lang="en-US" sz="3200" dirty="0"/>
          </a:p>
        </p:txBody>
      </p:sp>
      <p:sp>
        <p:nvSpPr>
          <p:cNvPr id="4" name="card-153"/>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154"/>
          <p:cNvSpPr/>
          <p:nvPr/>
        </p:nvSpPr>
        <p:spPr>
          <a:xfrm>
            <a:off x="731520" y="1764792"/>
            <a:ext cx="1600200" cy="292608"/>
          </a:xfrm>
          <a:prstGeom prst="roundRect">
            <a:avLst>
              <a:gd name="adj" fmla="val 31250"/>
            </a:avLst>
          </a:prstGeom>
          <a:solidFill>
            <a:schemeClr val="accent3"/>
          </a:solidFill>
          <a:ln w="12700">
            <a:solidFill>
              <a:schemeClr val="accent3"/>
            </a:solidFill>
            <a:prstDash val="solid"/>
          </a:ln>
        </p:spPr>
      </p:sp>
      <p:sp>
        <p:nvSpPr>
          <p:cNvPr id="6" name="pilltxt-155"/>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7" name="q-156"/>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 you design for a new tenant onboarding?</a:t>
            </a:r>
            <a:endParaRPr lang="en-US" sz="1600" dirty="0"/>
          </a:p>
        </p:txBody>
      </p:sp>
      <p:sp>
        <p:nvSpPr>
          <p:cNvPr id="8" name="a-157"/>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Allocate the next /16 (e.g. 10.120.0.0/16), create the project, add one entry to the tenants map in Terraform, which creates the VPC, peerings, firewall rules and NAT. No other rules change.</a:t>
            </a:r>
            <a:endParaRPr lang="en-US" sz="1500" dirty="0"/>
          </a:p>
        </p:txBody>
      </p:sp>
      <p:sp>
        <p:nvSpPr>
          <p:cNvPr id="9" name="card-158"/>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159"/>
          <p:cNvSpPr/>
          <p:nvPr/>
        </p:nvSpPr>
        <p:spPr>
          <a:xfrm>
            <a:off x="6415888" y="1764792"/>
            <a:ext cx="1600200" cy="292608"/>
          </a:xfrm>
          <a:prstGeom prst="roundRect">
            <a:avLst>
              <a:gd name="adj" fmla="val 31250"/>
            </a:avLst>
          </a:prstGeom>
          <a:solidFill>
            <a:schemeClr val="accent3"/>
          </a:solidFill>
          <a:ln w="12700">
            <a:solidFill>
              <a:schemeClr val="accent3"/>
            </a:solidFill>
            <a:prstDash val="solid"/>
          </a:ln>
        </p:spPr>
      </p:sp>
      <p:sp>
        <p:nvSpPr>
          <p:cNvPr id="11" name="pilltxt-160"/>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2" name="q-161"/>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What's a firewall matrix and why build it first?</a:t>
            </a:r>
            <a:endParaRPr lang="en-US" sz="1600" dirty="0"/>
          </a:p>
        </p:txBody>
      </p:sp>
      <p:sp>
        <p:nvSpPr>
          <p:cNvPr id="13" name="a-162"/>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 table of which source may reach which destination on which ports. It's the requirement; rules are derived from it, so every rule traces to a business need, which helps audits.</a:t>
            </a:r>
            <a:endParaRPr lang="en-US" sz="1500" dirty="0"/>
          </a:p>
        </p:txBody>
      </p:sp>
      <p:sp>
        <p:nvSpPr>
          <p:cNvPr id="14" name="card-163"/>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164"/>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165"/>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166"/>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Where do you place shared services, and why in the hub?</a:t>
            </a:r>
            <a:endParaRPr lang="en-US" sz="1600" dirty="0"/>
          </a:p>
        </p:txBody>
      </p:sp>
      <p:sp>
        <p:nvSpPr>
          <p:cNvPr id="18" name="a-167"/>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In the Shared VPC host, reachable by environments (same VPC) and tenants (peering). One copy serves everyone, and it's the only thing tenants can reach.</a:t>
            </a:r>
            <a:endParaRPr lang="en-US" sz="1500" dirty="0"/>
          </a:p>
        </p:txBody>
      </p:sp>
      <p:sp>
        <p:nvSpPr>
          <p:cNvPr id="19" name="card-168"/>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169"/>
          <p:cNvSpPr/>
          <p:nvPr/>
        </p:nvSpPr>
        <p:spPr>
          <a:xfrm>
            <a:off x="6415888" y="4233672"/>
            <a:ext cx="1600200" cy="292608"/>
          </a:xfrm>
          <a:prstGeom prst="roundRect">
            <a:avLst>
              <a:gd name="adj" fmla="val 31250"/>
            </a:avLst>
          </a:prstGeom>
          <a:solidFill>
            <a:schemeClr val="accent3"/>
          </a:solidFill>
          <a:ln w="12700">
            <a:solidFill>
              <a:schemeClr val="accent3"/>
            </a:solidFill>
            <a:prstDash val="solid"/>
          </a:ln>
        </p:spPr>
      </p:sp>
      <p:sp>
        <p:nvSpPr>
          <p:cNvPr id="21" name="pilltxt-170"/>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22" name="q-171"/>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would you handle a tenant whose own range overlaps yours?</a:t>
            </a:r>
            <a:endParaRPr lang="en-US" sz="1600" dirty="0"/>
          </a:p>
        </p:txBody>
      </p:sp>
      <p:sp>
        <p:nvSpPr>
          <p:cNvPr id="23" name="a-172"/>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Peering won't work. Options: Private Service Connect (publish services without route exchange), NAT between them, or renumbering. PSC is the cleanest for SaaS.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173"/>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2 · ARCHITECTURE AND IP PLAN · 4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Architecture and IP plan</a:t>
            </a:r>
            <a:endParaRPr lang="en-US" sz="3200" dirty="0"/>
          </a:p>
        </p:txBody>
      </p:sp>
      <p:sp>
        <p:nvSpPr>
          <p:cNvPr id="4" name="card-174"/>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175"/>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176"/>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177"/>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Private Service Connect and when would you prefer it over peering?</a:t>
            </a:r>
            <a:endParaRPr lang="en-US" sz="1600" dirty="0"/>
          </a:p>
        </p:txBody>
      </p:sp>
      <p:sp>
        <p:nvSpPr>
          <p:cNvPr id="8" name="a-178"/>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PSC exposes a service through an internal endpoint in the consumer's VPC, without exchanging routes. Better for many tenants, overlapping ranges, and when consumers should reach one service, not a network.</a:t>
            </a:r>
            <a:endParaRPr lang="en-US" sz="1500" dirty="0"/>
          </a:p>
        </p:txBody>
      </p:sp>
      <p:sp>
        <p:nvSpPr>
          <p:cNvPr id="9" name="card-179"/>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180"/>
          <p:cNvSpPr/>
          <p:nvPr/>
        </p:nvSpPr>
        <p:spPr>
          <a:xfrm>
            <a:off x="6415888" y="1764792"/>
            <a:ext cx="1600200" cy="292608"/>
          </a:xfrm>
          <a:prstGeom prst="roundRect">
            <a:avLst>
              <a:gd name="adj" fmla="val 31250"/>
            </a:avLst>
          </a:prstGeom>
          <a:solidFill>
            <a:schemeClr val="accent3"/>
          </a:solidFill>
          <a:ln w="12700">
            <a:solidFill>
              <a:schemeClr val="accent3"/>
            </a:solidFill>
            <a:prstDash val="solid"/>
          </a:ln>
        </p:spPr>
      </p:sp>
      <p:sp>
        <p:nvSpPr>
          <p:cNvPr id="11" name="pilltxt-181"/>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2" name="q-182"/>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does the design support disaster recovery?</a:t>
            </a:r>
            <a:endParaRPr lang="en-US" sz="1600" dirty="0"/>
          </a:p>
        </p:txBody>
      </p:sp>
      <p:sp>
        <p:nvSpPr>
          <p:cNvPr id="13" name="a-183"/>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Each /16 has room for a DR-region subnet (we used 10.x.16.0/20 in us-east1), so DR fits inside existing rules.</a:t>
            </a:r>
            <a:endParaRPr lang="en-US" sz="1500" dirty="0"/>
          </a:p>
        </p:txBody>
      </p:sp>
      <p:sp>
        <p:nvSpPr>
          <p:cNvPr id="14" name="card-184"/>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185"/>
          <p:cNvSpPr/>
          <p:nvPr/>
        </p:nvSpPr>
        <p:spPr>
          <a:xfrm>
            <a:off x="731520" y="4233672"/>
            <a:ext cx="1600200" cy="292608"/>
          </a:xfrm>
          <a:prstGeom prst="roundRect">
            <a:avLst>
              <a:gd name="adj" fmla="val 31250"/>
            </a:avLst>
          </a:prstGeom>
          <a:solidFill>
            <a:schemeClr val="accent2"/>
          </a:solidFill>
          <a:ln w="12700">
            <a:solidFill>
              <a:schemeClr val="accent2"/>
            </a:solidFill>
            <a:prstDash val="solid"/>
          </a:ln>
        </p:spPr>
      </p:sp>
      <p:sp>
        <p:nvSpPr>
          <p:cNvPr id="16" name="pilltxt-186"/>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17" name="q-187"/>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Walk me through your architecture in two minutes.</a:t>
            </a:r>
            <a:endParaRPr lang="en-US" sz="1600" dirty="0"/>
          </a:p>
        </p:txBody>
      </p:sp>
      <p:sp>
        <p:nvSpPr>
          <p:cNvPr id="18" name="a-188"/>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Shared VPC hub for dev, staging, prod and shared services; tenant VPCs peered as spokes; org-level guardrails; SA-targeted firewalls; per-tenant NAT; HA VPN to on-prem; full logging and alerting; pilot-light DR; keyless CI/CD.</a:t>
            </a:r>
            <a:endParaRPr lang="en-US" sz="1500" dirty="0"/>
          </a:p>
        </p:txBody>
      </p:sp>
      <p:sp>
        <p:nvSpPr>
          <p:cNvPr id="19" name="card-189"/>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190"/>
          <p:cNvSpPr/>
          <p:nvPr/>
        </p:nvSpPr>
        <p:spPr>
          <a:xfrm>
            <a:off x="6415888" y="4233672"/>
            <a:ext cx="1600200" cy="292608"/>
          </a:xfrm>
          <a:prstGeom prst="roundRect">
            <a:avLst>
              <a:gd name="adj" fmla="val 31250"/>
            </a:avLst>
          </a:prstGeom>
          <a:solidFill>
            <a:schemeClr val="accent2"/>
          </a:solidFill>
          <a:ln w="12700">
            <a:solidFill>
              <a:schemeClr val="accent2"/>
            </a:solidFill>
            <a:prstDash val="solid"/>
          </a:ln>
        </p:spPr>
      </p:sp>
      <p:sp>
        <p:nvSpPr>
          <p:cNvPr id="21" name="pilltxt-191"/>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22" name="q-192"/>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trade-off would you revisit in this design?</a:t>
            </a:r>
            <a:endParaRPr lang="en-US" sz="1600" dirty="0"/>
          </a:p>
        </p:txBody>
      </p:sp>
      <p:sp>
        <p:nvSpPr>
          <p:cNvPr id="23" name="a-193"/>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Peering limits per VPC (default 25) cap the number of tenants on one hub. At scale I'd move tenant access to Private Service Connect or Network Connectivity Center.</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num-194"/>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03</a:t>
            </a:r>
            <a:endParaRPr lang="en-US" sz="13000" dirty="0"/>
          </a:p>
        </p:txBody>
      </p:sp>
      <p:sp>
        <p:nvSpPr>
          <p:cNvPr id="3" name="sectag-195"/>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3</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Shared VPC</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16 questions: 11 concept · 2 design · 2 troubleshooting · 1 your project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ag-19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 · 1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Shared VPC</a:t>
            </a:r>
            <a:endParaRPr lang="en-US" sz="3200" dirty="0"/>
          </a:p>
        </p:txBody>
      </p:sp>
      <p:sp>
        <p:nvSpPr>
          <p:cNvPr id="4" name="card-197"/>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198"/>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199"/>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200"/>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Explain host and service projects.</a:t>
            </a:r>
            <a:endParaRPr lang="en-US" sz="1600" dirty="0"/>
          </a:p>
        </p:txBody>
      </p:sp>
      <p:sp>
        <p:nvSpPr>
          <p:cNvPr id="8" name="a-201"/>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host owns the network, subnets, routes and firewalls. Service projects are attached and deploy VMs into the host's subnets, while keeping their own billing and IAM.</a:t>
            </a:r>
            <a:endParaRPr lang="en-US" sz="1500" dirty="0"/>
          </a:p>
        </p:txBody>
      </p:sp>
      <p:sp>
        <p:nvSpPr>
          <p:cNvPr id="9" name="card-202"/>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203"/>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204"/>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205"/>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permissions are needed to set up Shared VPC?</a:t>
            </a:r>
            <a:endParaRPr lang="en-US" sz="1600" dirty="0"/>
          </a:p>
        </p:txBody>
      </p:sp>
      <p:sp>
        <p:nvSpPr>
          <p:cNvPr id="13" name="a-206"/>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roles/compute.xpnAdmin (Shared VPC Admin) at org or folder to enable a host and attach projects; roles/compute.networkUser for whoever deploys into subnets.</a:t>
            </a:r>
            <a:endParaRPr lang="en-US" sz="1500" dirty="0"/>
          </a:p>
        </p:txBody>
      </p:sp>
      <p:sp>
        <p:nvSpPr>
          <p:cNvPr id="14" name="card-207"/>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208"/>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209"/>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210"/>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grant networkUser at the subnet level?</a:t>
            </a:r>
            <a:endParaRPr lang="en-US" sz="1600" dirty="0"/>
          </a:p>
        </p:txBody>
      </p:sp>
      <p:sp>
        <p:nvSpPr>
          <p:cNvPr id="18" name="a-211"/>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Least privilege: prod can only use prod subnets and nonprod only dev and staging. Project-level grants would let any service project use every subnet.</a:t>
            </a:r>
            <a:endParaRPr lang="en-US" sz="1500" dirty="0"/>
          </a:p>
        </p:txBody>
      </p:sp>
      <p:sp>
        <p:nvSpPr>
          <p:cNvPr id="19" name="card-212"/>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213"/>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214"/>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215"/>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Who needs networkUser on a subnet?</a:t>
            </a:r>
            <a:endParaRPr lang="en-US" sz="1600" dirty="0"/>
          </a:p>
        </p:txBody>
      </p:sp>
      <p:sp>
        <p:nvSpPr>
          <p:cNvPr id="23" name="a-216"/>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identities that create resources there: the service project's Google APIs service agent (for managed instance groups) and the default compute SA, plus any humans or CI that create VMs.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ag-21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 · 2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Shared VPC</a:t>
            </a:r>
            <a:endParaRPr lang="en-US" sz="3200" dirty="0"/>
          </a:p>
        </p:txBody>
      </p:sp>
      <p:sp>
        <p:nvSpPr>
          <p:cNvPr id="4" name="card-218"/>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219"/>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220"/>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221"/>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Custom-mode vs auto-mode VPC?</a:t>
            </a:r>
            <a:endParaRPr lang="en-US" sz="1600" dirty="0"/>
          </a:p>
        </p:txBody>
      </p:sp>
      <p:sp>
        <p:nvSpPr>
          <p:cNvPr id="8" name="a-222"/>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Auto mode creates a subnet in every region from a fixed range, often overlapping across VPCs. Custom mode means you define every subnet; always use it in production.</a:t>
            </a:r>
            <a:endParaRPr lang="en-US" sz="1500" dirty="0"/>
          </a:p>
        </p:txBody>
      </p:sp>
      <p:sp>
        <p:nvSpPr>
          <p:cNvPr id="9" name="card-223"/>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224"/>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225"/>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226"/>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Global vs regional dynamic routing mode?</a:t>
            </a:r>
            <a:endParaRPr lang="en-US" sz="1600" dirty="0"/>
          </a:p>
        </p:txBody>
      </p:sp>
      <p:sp>
        <p:nvSpPr>
          <p:cNvPr id="13" name="a-227"/>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Regional: Cloud Routers only share learned routes within their region. Global: routes are shared across all regions in the VPC. Needed so us-east1 workloads use routes learned in us-central1.</a:t>
            </a:r>
            <a:endParaRPr lang="en-US" sz="1500" dirty="0"/>
          </a:p>
        </p:txBody>
      </p:sp>
      <p:sp>
        <p:nvSpPr>
          <p:cNvPr id="14" name="card-228"/>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229"/>
          <p:cNvSpPr/>
          <p:nvPr/>
        </p:nvSpPr>
        <p:spPr>
          <a:xfrm>
            <a:off x="731520" y="4233672"/>
            <a:ext cx="1600200" cy="292608"/>
          </a:xfrm>
          <a:prstGeom prst="roundRect">
            <a:avLst>
              <a:gd name="adj" fmla="val 31250"/>
            </a:avLst>
          </a:prstGeom>
          <a:solidFill>
            <a:schemeClr val="accent1"/>
          </a:solidFill>
          <a:ln w="12700">
            <a:solidFill>
              <a:schemeClr val="accent1"/>
            </a:solidFill>
            <a:prstDash val="solid"/>
          </a:ln>
        </p:spPr>
      </p:sp>
      <p:sp>
        <p:nvSpPr>
          <p:cNvPr id="16" name="pilltxt-230"/>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7" name="q-231"/>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does GCP select a route?</a:t>
            </a:r>
            <a:endParaRPr lang="en-US" sz="1600" dirty="0"/>
          </a:p>
        </p:txBody>
      </p:sp>
      <p:sp>
        <p:nvSpPr>
          <p:cNvPr id="18" name="a-232"/>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Longest prefix match first; among equal prefixes, the lowest priority number; then ECMP across equal routes. Subnet routes are always most specific.</a:t>
            </a:r>
            <a:endParaRPr lang="en-US" sz="1500" dirty="0"/>
          </a:p>
        </p:txBody>
      </p:sp>
      <p:sp>
        <p:nvSpPr>
          <p:cNvPr id="19" name="card-233"/>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234"/>
          <p:cNvSpPr/>
          <p:nvPr/>
        </p:nvSpPr>
        <p:spPr>
          <a:xfrm>
            <a:off x="6415888" y="4233672"/>
            <a:ext cx="1600200" cy="292608"/>
          </a:xfrm>
          <a:prstGeom prst="roundRect">
            <a:avLst>
              <a:gd name="adj" fmla="val 31250"/>
            </a:avLst>
          </a:prstGeom>
          <a:solidFill>
            <a:schemeClr val="accent3"/>
          </a:solidFill>
          <a:ln w="12700">
            <a:solidFill>
              <a:schemeClr val="accent3"/>
            </a:solidFill>
            <a:prstDash val="solid"/>
          </a:ln>
        </p:spPr>
      </p:sp>
      <p:sp>
        <p:nvSpPr>
          <p:cNvPr id="21" name="pilltxt-235"/>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22" name="q-236"/>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delete the default internet route?</a:t>
            </a:r>
            <a:endParaRPr lang="en-US" sz="1600" dirty="0"/>
          </a:p>
        </p:txBody>
      </p:sp>
      <p:sp>
        <p:nvSpPr>
          <p:cNvPr id="23" name="a-237"/>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So every route is explicit and in Terraform. Egress needs a deliberate route, NAT and a firewall allow; a hand-added route shows up as drift.</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ag-23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 · 3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Shared VPC</a:t>
            </a:r>
            <a:endParaRPr lang="en-US" sz="3200" dirty="0"/>
          </a:p>
        </p:txBody>
      </p:sp>
      <p:sp>
        <p:nvSpPr>
          <p:cNvPr id="4" name="card-239"/>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240"/>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241"/>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242"/>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Private Google Access?</a:t>
            </a:r>
            <a:endParaRPr lang="en-US" sz="1600" dirty="0"/>
          </a:p>
        </p:txBody>
      </p:sp>
      <p:sp>
        <p:nvSpPr>
          <p:cNvPr id="8" name="a-243"/>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 per-subnet setting letting VMs with only internal IPs reach Google APIs and services. It doesn't give general internet access.</a:t>
            </a:r>
            <a:endParaRPr lang="en-US" sz="1500" dirty="0"/>
          </a:p>
        </p:txBody>
      </p:sp>
      <p:sp>
        <p:nvSpPr>
          <p:cNvPr id="9" name="card-244"/>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245"/>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246"/>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247"/>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What's 199.36.153.8/30?</a:t>
            </a:r>
            <a:endParaRPr lang="en-US" sz="1600" dirty="0"/>
          </a:p>
        </p:txBody>
      </p:sp>
      <p:sp>
        <p:nvSpPr>
          <p:cNvPr id="13" name="a-248"/>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private.googleapis.com. A route to it plus private DNS keeps Google API traffic on Google's network. 199.36.153.4/30 (restricted) is used with VPC Service Controls.</a:t>
            </a:r>
            <a:endParaRPr lang="en-US" sz="1500" dirty="0"/>
          </a:p>
        </p:txBody>
      </p:sp>
      <p:sp>
        <p:nvSpPr>
          <p:cNvPr id="14" name="card-249"/>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250"/>
          <p:cNvSpPr/>
          <p:nvPr/>
        </p:nvSpPr>
        <p:spPr>
          <a:xfrm>
            <a:off x="731520" y="4233672"/>
            <a:ext cx="1600200" cy="292608"/>
          </a:xfrm>
          <a:prstGeom prst="roundRect">
            <a:avLst>
              <a:gd name="adj" fmla="val 31250"/>
            </a:avLst>
          </a:prstGeom>
          <a:solidFill>
            <a:schemeClr val="accent1"/>
          </a:solidFill>
          <a:ln w="12700">
            <a:solidFill>
              <a:schemeClr val="accent1"/>
            </a:solidFill>
            <a:prstDash val="solid"/>
          </a:ln>
        </p:spPr>
      </p:sp>
      <p:sp>
        <p:nvSpPr>
          <p:cNvPr id="16" name="pilltxt-251"/>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7" name="q-252"/>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does Cloud Router do, and does traffic flow through it?</a:t>
            </a:r>
            <a:endParaRPr lang="en-US" sz="1600" dirty="0"/>
          </a:p>
        </p:txBody>
      </p:sp>
      <p:sp>
        <p:nvSpPr>
          <p:cNvPr id="18" name="a-253"/>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It's a managed BGP speaker (control plane) that exchanges routes with peers. Data traffic doesn't pass through it; it goes over the VPN or Interconnect directly.</a:t>
            </a:r>
            <a:endParaRPr lang="en-US" sz="1500" dirty="0"/>
          </a:p>
        </p:txBody>
      </p:sp>
      <p:sp>
        <p:nvSpPr>
          <p:cNvPr id="19" name="card-254"/>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255"/>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256"/>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257"/>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store Terraform state remotely?</a:t>
            </a:r>
            <a:endParaRPr lang="en-US" sz="1600" dirty="0"/>
          </a:p>
        </p:txBody>
      </p:sp>
      <p:sp>
        <p:nvSpPr>
          <p:cNvPr id="23" name="a-258"/>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One shared truth for a team, locking so two applies don't collide, and versioning to roll back a corrupted state. GCS supports locking natively.</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ag-259"/>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3 · SHARED VPC · 4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Shared VPC</a:t>
            </a:r>
            <a:endParaRPr lang="en-US" sz="3200" dirty="0"/>
          </a:p>
        </p:txBody>
      </p:sp>
      <p:sp>
        <p:nvSpPr>
          <p:cNvPr id="4" name="card-260"/>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261"/>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262"/>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263"/>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for_each vs count in Terraform?</a:t>
            </a:r>
            <a:endParaRPr lang="en-US" sz="1600" dirty="0"/>
          </a:p>
        </p:txBody>
      </p:sp>
      <p:sp>
        <p:nvSpPr>
          <p:cNvPr id="8" name="a-264"/>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for_each keys resources by name, so removing one item deletes only that resource. count keys by index, so removing an item shifts and recreates the rest.</a:t>
            </a:r>
            <a:endParaRPr lang="en-US" sz="1500" dirty="0"/>
          </a:p>
        </p:txBody>
      </p:sp>
      <p:sp>
        <p:nvSpPr>
          <p:cNvPr id="9" name="card-265"/>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266"/>
          <p:cNvSpPr/>
          <p:nvPr/>
        </p:nvSpPr>
        <p:spPr>
          <a:xfrm>
            <a:off x="6415888" y="1764792"/>
            <a:ext cx="1600200" cy="292608"/>
          </a:xfrm>
          <a:prstGeom prst="roundRect">
            <a:avLst>
              <a:gd name="adj" fmla="val 31250"/>
            </a:avLst>
          </a:prstGeom>
          <a:solidFill>
            <a:schemeClr val="accent5"/>
          </a:solidFill>
          <a:ln w="12700">
            <a:solidFill>
              <a:schemeClr val="accent5"/>
            </a:solidFill>
            <a:prstDash val="solid"/>
          </a:ln>
        </p:spPr>
      </p:sp>
      <p:sp>
        <p:nvSpPr>
          <p:cNvPr id="11" name="pilltxt-267"/>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12" name="q-268"/>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Firewall logs for a prod VM aren't in the prod project. Why?</a:t>
            </a:r>
            <a:endParaRPr lang="en-US" sz="1600" dirty="0"/>
          </a:p>
        </p:txBody>
      </p:sp>
      <p:sp>
        <p:nvSpPr>
          <p:cNvPr id="13" name="a-269"/>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With Shared VPC, firewall rules and the network belong to the host, so the logs are written to the host project.</a:t>
            </a:r>
            <a:endParaRPr lang="en-US" sz="1500" dirty="0"/>
          </a:p>
        </p:txBody>
      </p:sp>
      <p:sp>
        <p:nvSpPr>
          <p:cNvPr id="14" name="card-270"/>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271"/>
          <p:cNvSpPr/>
          <p:nvPr/>
        </p:nvSpPr>
        <p:spPr>
          <a:xfrm>
            <a:off x="731520" y="4233672"/>
            <a:ext cx="1600200" cy="292608"/>
          </a:xfrm>
          <a:prstGeom prst="roundRect">
            <a:avLst>
              <a:gd name="adj" fmla="val 31250"/>
            </a:avLst>
          </a:prstGeom>
          <a:solidFill>
            <a:schemeClr val="accent5"/>
          </a:solidFill>
          <a:ln w="12700">
            <a:solidFill>
              <a:schemeClr val="accent5"/>
            </a:solidFill>
            <a:prstDash val="solid"/>
          </a:ln>
        </p:spPr>
      </p:sp>
      <p:sp>
        <p:nvSpPr>
          <p:cNvPr id="16" name="pilltxt-272"/>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17" name="q-273"/>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terraform apply keeps failing with 'connection refused'.</a:t>
            </a:r>
            <a:endParaRPr lang="en-US" sz="1600" dirty="0"/>
          </a:p>
        </p:txBody>
      </p:sp>
      <p:sp>
        <p:nvSpPr>
          <p:cNvPr id="18" name="a-274"/>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Transient network issue in the client (Cloud Shell here). Reduce concurrency with -parallelism=1, retry, or run from a stable runner such as CI.</a:t>
            </a:r>
            <a:endParaRPr lang="en-US" sz="1500" dirty="0"/>
          </a:p>
        </p:txBody>
      </p:sp>
      <p:sp>
        <p:nvSpPr>
          <p:cNvPr id="19" name="card-275"/>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276"/>
          <p:cNvSpPr/>
          <p:nvPr/>
        </p:nvSpPr>
        <p:spPr>
          <a:xfrm>
            <a:off x="6415888" y="4233672"/>
            <a:ext cx="1600200" cy="292608"/>
          </a:xfrm>
          <a:prstGeom prst="roundRect">
            <a:avLst>
              <a:gd name="adj" fmla="val 31250"/>
            </a:avLst>
          </a:prstGeom>
          <a:solidFill>
            <a:schemeClr val="accent2"/>
          </a:solidFill>
          <a:ln w="12700">
            <a:solidFill>
              <a:schemeClr val="accent2"/>
            </a:solidFill>
            <a:prstDash val="solid"/>
          </a:ln>
        </p:spPr>
      </p:sp>
      <p:sp>
        <p:nvSpPr>
          <p:cNvPr id="21" name="pilltxt-277"/>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22" name="q-278"/>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did you verify subnet delegation worked?</a:t>
            </a:r>
            <a:endParaRPr lang="en-US" sz="1600" dirty="0"/>
          </a:p>
        </p:txBody>
      </p:sp>
      <p:sp>
        <p:nvSpPr>
          <p:cNvPr id="23" name="a-279"/>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Created VMs from each service project in their own subnets (allowed) and checked the console's subnet IAM showing networkUser per subnet. A project can't deploy into a subnet it wasn't granted.</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num-280"/>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04</a:t>
            </a:r>
            <a:endParaRPr lang="en-US" sz="13000" dirty="0"/>
          </a:p>
        </p:txBody>
      </p:sp>
      <p:sp>
        <p:nvSpPr>
          <p:cNvPr id="3" name="sectag-281"/>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4</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Network peering</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16 questions: 8 concept · 3 design · 3 troubleshooting · 2 your project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ag-282"/>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4 · NETWORK PEERING · 1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Network peering</a:t>
            </a:r>
            <a:endParaRPr lang="en-US" sz="3200" dirty="0"/>
          </a:p>
        </p:txBody>
      </p:sp>
      <p:sp>
        <p:nvSpPr>
          <p:cNvPr id="4" name="card-283"/>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284"/>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285"/>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286"/>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is VPC peering established?</a:t>
            </a:r>
            <a:endParaRPr lang="en-US" sz="1600" dirty="0"/>
          </a:p>
        </p:txBody>
      </p:sp>
      <p:sp>
        <p:nvSpPr>
          <p:cNvPr id="8" name="a-287"/>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Both networks create a peering to the other. When both exist the state becomes ACTIVE and subnet routes are exchanged automatically.</a:t>
            </a:r>
            <a:endParaRPr lang="en-US" sz="1500" dirty="0"/>
          </a:p>
        </p:txBody>
      </p:sp>
      <p:sp>
        <p:nvSpPr>
          <p:cNvPr id="9" name="card-288"/>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289"/>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290"/>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291"/>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routes are exchanged over peering?</a:t>
            </a:r>
            <a:endParaRPr lang="en-US" sz="1600" dirty="0"/>
          </a:p>
        </p:txBody>
      </p:sp>
      <p:sp>
        <p:nvSpPr>
          <p:cNvPr id="13" name="a-292"/>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Subnet routes always. Custom static and dynamic routes only when export is enabled on one side and import on the other.</a:t>
            </a:r>
            <a:endParaRPr lang="en-US" sz="1500" dirty="0"/>
          </a:p>
        </p:txBody>
      </p:sp>
      <p:sp>
        <p:nvSpPr>
          <p:cNvPr id="14" name="card-293"/>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294"/>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295"/>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296"/>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did you keep custom route exchange off?</a:t>
            </a:r>
            <a:endParaRPr lang="en-US" sz="1600" dirty="0"/>
          </a:p>
        </p:txBody>
      </p:sp>
      <p:sp>
        <p:nvSpPr>
          <p:cNvPr id="18" name="a-297"/>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Tenants mustn't learn the hub's 0.0.0.0/0 or on-prem BGP routes. They use their own NAT, and on-prem stays reachable only from the hub.</a:t>
            </a:r>
            <a:endParaRPr lang="en-US" sz="1500" dirty="0"/>
          </a:p>
        </p:txBody>
      </p:sp>
      <p:sp>
        <p:nvSpPr>
          <p:cNvPr id="19" name="card-298"/>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299"/>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300"/>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301"/>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Does peering add latency or a bandwidth bottleneck?</a:t>
            </a:r>
            <a:endParaRPr lang="en-US" sz="1600" dirty="0"/>
          </a:p>
        </p:txBody>
      </p:sp>
      <p:sp>
        <p:nvSpPr>
          <p:cNvPr id="23" name="a-302"/>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No. Traffic stays on Google's backbone with the same performance as within one VPC; there's no gateway in the path.</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ag-303"/>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4 · NETWORK PEERING · 2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Network peering</a:t>
            </a:r>
            <a:endParaRPr lang="en-US" sz="3200" dirty="0"/>
          </a:p>
        </p:txBody>
      </p:sp>
      <p:sp>
        <p:nvSpPr>
          <p:cNvPr id="4" name="card-304"/>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305"/>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306"/>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307"/>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Are firewall rules shared across a peering?</a:t>
            </a:r>
            <a:endParaRPr lang="en-US" sz="1600" dirty="0"/>
          </a:p>
        </p:txBody>
      </p:sp>
      <p:sp>
        <p:nvSpPr>
          <p:cNvPr id="8" name="a-308"/>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No. Each VPC enforces its own: egress is evaluated in the source VPC and ingress in the destination VPC. Both must allow.</a:t>
            </a:r>
            <a:endParaRPr lang="en-US" sz="1500" dirty="0"/>
          </a:p>
        </p:txBody>
      </p:sp>
      <p:sp>
        <p:nvSpPr>
          <p:cNvPr id="9" name="card-309"/>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310"/>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311"/>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312"/>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Explain stateful firewalls.</a:t>
            </a:r>
            <a:endParaRPr lang="en-US" sz="1600" dirty="0"/>
          </a:p>
        </p:txBody>
      </p:sp>
      <p:sp>
        <p:nvSpPr>
          <p:cNvPr id="13" name="a-313"/>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If a connection is allowed in one direction, the return traffic is allowed automatically. You only write rules for the side that starts the connection.</a:t>
            </a:r>
            <a:endParaRPr lang="en-US" sz="1500" dirty="0"/>
          </a:p>
        </p:txBody>
      </p:sp>
      <p:sp>
        <p:nvSpPr>
          <p:cNvPr id="14" name="card-314"/>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315"/>
          <p:cNvSpPr/>
          <p:nvPr/>
        </p:nvSpPr>
        <p:spPr>
          <a:xfrm>
            <a:off x="731520" y="4233672"/>
            <a:ext cx="1600200" cy="292608"/>
          </a:xfrm>
          <a:prstGeom prst="roundRect">
            <a:avLst>
              <a:gd name="adj" fmla="val 31250"/>
            </a:avLst>
          </a:prstGeom>
          <a:solidFill>
            <a:schemeClr val="accent1"/>
          </a:solidFill>
          <a:ln w="12700">
            <a:solidFill>
              <a:schemeClr val="accent1"/>
            </a:solidFill>
            <a:prstDash val="solid"/>
          </a:ln>
        </p:spPr>
      </p:sp>
      <p:sp>
        <p:nvSpPr>
          <p:cNvPr id="16" name="pilltxt-316"/>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7" name="q-317"/>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are the implied firewall rules?</a:t>
            </a:r>
            <a:endParaRPr lang="en-US" sz="1600" dirty="0"/>
          </a:p>
        </p:txBody>
      </p:sp>
      <p:sp>
        <p:nvSpPr>
          <p:cNvPr id="18" name="a-318"/>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Deny all ingress and allow all egress, both at priority 65535. They can't be deleted, but higher-priority rules override them.</a:t>
            </a:r>
            <a:endParaRPr lang="en-US" sz="1500" dirty="0"/>
          </a:p>
        </p:txBody>
      </p:sp>
      <p:sp>
        <p:nvSpPr>
          <p:cNvPr id="19" name="card-319"/>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320"/>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321"/>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322"/>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If an allow is at priority 1000 and a deny at 2000, what happens?</a:t>
            </a:r>
            <a:endParaRPr lang="en-US" sz="1600" dirty="0"/>
          </a:p>
        </p:txBody>
      </p:sp>
      <p:sp>
        <p:nvSpPr>
          <p:cNvPr id="23" name="a-323"/>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allow applies. Lower number wins. Deny only beats allow when both have the same priority.</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ag-324"/>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4 · NETWORK PEERING · 3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Network peering</a:t>
            </a:r>
            <a:endParaRPr lang="en-US" sz="3200" dirty="0"/>
          </a:p>
        </p:txBody>
      </p:sp>
      <p:sp>
        <p:nvSpPr>
          <p:cNvPr id="4" name="card-325"/>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326"/>
          <p:cNvSpPr/>
          <p:nvPr/>
        </p:nvSpPr>
        <p:spPr>
          <a:xfrm>
            <a:off x="731520" y="1764792"/>
            <a:ext cx="1600200" cy="292608"/>
          </a:xfrm>
          <a:prstGeom prst="roundRect">
            <a:avLst>
              <a:gd name="adj" fmla="val 31250"/>
            </a:avLst>
          </a:prstGeom>
          <a:solidFill>
            <a:schemeClr val="accent3"/>
          </a:solidFill>
          <a:ln w="12700">
            <a:solidFill>
              <a:schemeClr val="accent3"/>
            </a:solidFill>
            <a:prstDash val="solid"/>
          </a:ln>
        </p:spPr>
      </p:sp>
      <p:sp>
        <p:nvSpPr>
          <p:cNvPr id="6" name="pilltxt-327"/>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7" name="q-328"/>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Network tags vs service accounts as firewall targets?</a:t>
            </a:r>
            <a:endParaRPr lang="en-US" sz="1600" dirty="0"/>
          </a:p>
        </p:txBody>
      </p:sp>
      <p:sp>
        <p:nvSpPr>
          <p:cNvPr id="8" name="a-329"/>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Tags are easy but anyone with instance admin can add one. SA targeting ties rules to identity, and changing a VM's SA requires more privilege. We used SAs.</a:t>
            </a:r>
            <a:endParaRPr lang="en-US" sz="1500" dirty="0"/>
          </a:p>
        </p:txBody>
      </p:sp>
      <p:sp>
        <p:nvSpPr>
          <p:cNvPr id="9" name="card-330"/>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331"/>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332"/>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333"/>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does IAP TCP forwarding work for SSH?</a:t>
            </a:r>
            <a:endParaRPr lang="en-US" sz="1600" dirty="0"/>
          </a:p>
        </p:txBody>
      </p:sp>
      <p:sp>
        <p:nvSpPr>
          <p:cNvPr id="13" name="a-334"/>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user authenticates to IAP with IAM (iap.tunnelResourceAccessor); IAP connects to the VM's internal IP from 35.235.240.0/20. VMs need no public IP, only a firewall allow from that range.</a:t>
            </a:r>
            <a:endParaRPr lang="en-US" sz="1500" dirty="0"/>
          </a:p>
        </p:txBody>
      </p:sp>
      <p:sp>
        <p:nvSpPr>
          <p:cNvPr id="14" name="card-335"/>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336"/>
          <p:cNvSpPr/>
          <p:nvPr/>
        </p:nvSpPr>
        <p:spPr>
          <a:xfrm>
            <a:off x="731520" y="4233672"/>
            <a:ext cx="1600200" cy="292608"/>
          </a:xfrm>
          <a:prstGeom prst="roundRect">
            <a:avLst>
              <a:gd name="adj" fmla="val 31250"/>
            </a:avLst>
          </a:prstGeom>
          <a:solidFill>
            <a:schemeClr val="accent5"/>
          </a:solidFill>
          <a:ln w="12700">
            <a:solidFill>
              <a:schemeClr val="accent5"/>
            </a:solidFill>
            <a:prstDash val="solid"/>
          </a:ln>
        </p:spPr>
      </p:sp>
      <p:sp>
        <p:nvSpPr>
          <p:cNvPr id="16" name="pilltxt-337"/>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17" name="q-338"/>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Peering state shows INACTIVE.</a:t>
            </a:r>
            <a:endParaRPr lang="en-US" sz="1600" dirty="0"/>
          </a:p>
        </p:txBody>
      </p:sp>
      <p:sp>
        <p:nvSpPr>
          <p:cNvPr id="18" name="a-339"/>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Only one side exists, or the other side was deleted. Create the reverse peering. In Terraform, a refresh may also be needed if state was recorded before the second side was created.</a:t>
            </a:r>
            <a:endParaRPr lang="en-US" sz="1500" dirty="0"/>
          </a:p>
        </p:txBody>
      </p:sp>
      <p:sp>
        <p:nvSpPr>
          <p:cNvPr id="19" name="card-340"/>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341"/>
          <p:cNvSpPr/>
          <p:nvPr/>
        </p:nvSpPr>
        <p:spPr>
          <a:xfrm>
            <a:off x="6415888" y="4233672"/>
            <a:ext cx="1600200" cy="292608"/>
          </a:xfrm>
          <a:prstGeom prst="roundRect">
            <a:avLst>
              <a:gd name="adj" fmla="val 31250"/>
            </a:avLst>
          </a:prstGeom>
          <a:solidFill>
            <a:schemeClr val="accent5"/>
          </a:solidFill>
          <a:ln w="12700">
            <a:solidFill>
              <a:schemeClr val="accent5"/>
            </a:solidFill>
            <a:prstDash val="solid"/>
          </a:ln>
        </p:spPr>
      </p:sp>
      <p:sp>
        <p:nvSpPr>
          <p:cNvPr id="21" name="pilltxt-342"/>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22" name="q-343"/>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Terraform fails creating two peerings on the same network at once.</a:t>
            </a:r>
            <a:endParaRPr lang="en-US" sz="1600" dirty="0"/>
          </a:p>
        </p:txBody>
      </p:sp>
      <p:sp>
        <p:nvSpPr>
          <p:cNvPr id="23" name="a-344"/>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GCP serialises peering operations per network. Chain them with depends_on so they run one after another.</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ag-345"/>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4 · NETWORK PEERING · 4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Network peering</a:t>
            </a:r>
            <a:endParaRPr lang="en-US" sz="3200" dirty="0"/>
          </a:p>
        </p:txBody>
      </p:sp>
      <p:sp>
        <p:nvSpPr>
          <p:cNvPr id="4" name="card-346"/>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347"/>
          <p:cNvSpPr/>
          <p:nvPr/>
        </p:nvSpPr>
        <p:spPr>
          <a:xfrm>
            <a:off x="731520" y="1764792"/>
            <a:ext cx="1600200" cy="292608"/>
          </a:xfrm>
          <a:prstGeom prst="roundRect">
            <a:avLst>
              <a:gd name="adj" fmla="val 31250"/>
            </a:avLst>
          </a:prstGeom>
          <a:solidFill>
            <a:schemeClr val="accent5"/>
          </a:solidFill>
          <a:ln w="12700">
            <a:solidFill>
              <a:schemeClr val="accent5"/>
            </a:solidFill>
            <a:prstDash val="solid"/>
          </a:ln>
        </p:spPr>
      </p:sp>
      <p:sp>
        <p:nvSpPr>
          <p:cNvPr id="6" name="pilltxt-348"/>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7" name="q-349"/>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Tenant can't reach shared services over peering. How do you troubleshoot?</a:t>
            </a:r>
            <a:endParaRPr lang="en-US" sz="1600" dirty="0"/>
          </a:p>
        </p:txBody>
      </p:sp>
      <p:sp>
        <p:nvSpPr>
          <p:cNvPr id="8" name="a-350"/>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Check peering is ACTIVE, routes are present (effective routes), tenant egress allow, hub ingress allow targeting the right SA, then firewall logs and a Connectivity Test for the exact path.</a:t>
            </a:r>
            <a:endParaRPr lang="en-US" sz="1500" dirty="0"/>
          </a:p>
        </p:txBody>
      </p:sp>
      <p:sp>
        <p:nvSpPr>
          <p:cNvPr id="9" name="card-351"/>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352"/>
          <p:cNvSpPr/>
          <p:nvPr/>
        </p:nvSpPr>
        <p:spPr>
          <a:xfrm>
            <a:off x="6415888" y="1764792"/>
            <a:ext cx="1600200" cy="292608"/>
          </a:xfrm>
          <a:prstGeom prst="roundRect">
            <a:avLst>
              <a:gd name="adj" fmla="val 31250"/>
            </a:avLst>
          </a:prstGeom>
          <a:solidFill>
            <a:schemeClr val="accent3"/>
          </a:solidFill>
          <a:ln w="12700">
            <a:solidFill>
              <a:schemeClr val="accent3"/>
            </a:solidFill>
            <a:prstDash val="solid"/>
          </a:ln>
        </p:spPr>
      </p:sp>
      <p:sp>
        <p:nvSpPr>
          <p:cNvPr id="11" name="pilltxt-353"/>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2" name="q-354"/>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would you let tenants reach on-prem through the hub?</a:t>
            </a:r>
            <a:endParaRPr lang="en-US" sz="1600" dirty="0"/>
          </a:p>
        </p:txBody>
      </p:sp>
      <p:sp>
        <p:nvSpPr>
          <p:cNvPr id="13" name="a-355"/>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Peering is non-transitive for custom routes unless exchanged: export custom routes from the hub and import in the tenant, advertise the tenant's range to on-prem, and add firewall allows. Or use NCC.</a:t>
            </a:r>
            <a:endParaRPr lang="en-US" sz="1500" dirty="0"/>
          </a:p>
        </p:txBody>
      </p:sp>
      <p:sp>
        <p:nvSpPr>
          <p:cNvPr id="14" name="card-356"/>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357"/>
          <p:cNvSpPr/>
          <p:nvPr/>
        </p:nvSpPr>
        <p:spPr>
          <a:xfrm>
            <a:off x="731520" y="4233672"/>
            <a:ext cx="1600200" cy="292608"/>
          </a:xfrm>
          <a:prstGeom prst="roundRect">
            <a:avLst>
              <a:gd name="adj" fmla="val 31250"/>
            </a:avLst>
          </a:prstGeom>
          <a:solidFill>
            <a:schemeClr val="accent2"/>
          </a:solidFill>
          <a:ln w="12700">
            <a:solidFill>
              <a:schemeClr val="accent2"/>
            </a:solidFill>
            <a:prstDash val="solid"/>
          </a:ln>
        </p:spPr>
      </p:sp>
      <p:sp>
        <p:nvSpPr>
          <p:cNvPr id="16" name="pilltxt-358"/>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17" name="q-359"/>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did you prove tenant isolation?</a:t>
            </a:r>
            <a:endParaRPr lang="en-US" sz="1600" dirty="0"/>
          </a:p>
        </p:txBody>
      </p:sp>
      <p:sp>
        <p:nvSpPr>
          <p:cNvPr id="18" name="a-360"/>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A 7-test script: tenant→shared-svc OPEN, shared-svc→tenant callbacks OPEN, fintech↔health BLOCKED in both directions, run over IAP from real VMs.</a:t>
            </a:r>
            <a:endParaRPr lang="en-US" sz="1500" dirty="0"/>
          </a:p>
        </p:txBody>
      </p:sp>
      <p:sp>
        <p:nvSpPr>
          <p:cNvPr id="19" name="card-361"/>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362"/>
          <p:cNvSpPr/>
          <p:nvPr/>
        </p:nvSpPr>
        <p:spPr>
          <a:xfrm>
            <a:off x="6415888" y="4233672"/>
            <a:ext cx="1600200" cy="292608"/>
          </a:xfrm>
          <a:prstGeom prst="roundRect">
            <a:avLst>
              <a:gd name="adj" fmla="val 31250"/>
            </a:avLst>
          </a:prstGeom>
          <a:solidFill>
            <a:schemeClr val="accent2"/>
          </a:solidFill>
          <a:ln w="12700">
            <a:solidFill>
              <a:schemeClr val="accent2"/>
            </a:solidFill>
            <a:prstDash val="solid"/>
          </a:ln>
        </p:spPr>
      </p:sp>
      <p:sp>
        <p:nvSpPr>
          <p:cNvPr id="21" name="pilltxt-363"/>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22" name="q-364"/>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did you learn about Cloud Shell file uploads?</a:t>
            </a:r>
            <a:endParaRPr lang="en-US" sz="1600" dirty="0"/>
          </a:p>
        </p:txBody>
      </p:sp>
      <p:sp>
        <p:nvSpPr>
          <p:cNvPr id="23" name="a-365"/>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Uploading a file with the same name saves name_(1).ext instead of overwriting. Upload a zip and unzip -o, and verify with grep before applying.</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num-366"/>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05</a:t>
            </a:r>
            <a:endParaRPr lang="en-US" sz="13000" dirty="0"/>
          </a:p>
        </p:txBody>
      </p:sp>
      <p:sp>
        <p:nvSpPr>
          <p:cNvPr id="3" name="sectag-367"/>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5</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Security controls</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16 questions: 8 concept · 3 design · 3 troubleshooting · 2 your project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ag-36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 · 1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Security controls</a:t>
            </a:r>
            <a:endParaRPr lang="en-US" sz="3200" dirty="0"/>
          </a:p>
        </p:txBody>
      </p:sp>
      <p:sp>
        <p:nvSpPr>
          <p:cNvPr id="4" name="card-369"/>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370"/>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371"/>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372"/>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a hierarchical firewall policy?</a:t>
            </a:r>
            <a:endParaRPr lang="en-US" sz="1600" dirty="0"/>
          </a:p>
        </p:txBody>
      </p:sp>
      <p:sp>
        <p:nvSpPr>
          <p:cNvPr id="8" name="a-373"/>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Firewall rules attached at the org or folder, evaluated before VPC rules. Actions: allow, deny, or goto_next to hand the decision to the next level.</a:t>
            </a:r>
            <a:endParaRPr lang="en-US" sz="1500" dirty="0"/>
          </a:p>
        </p:txBody>
      </p:sp>
      <p:sp>
        <p:nvSpPr>
          <p:cNvPr id="9" name="card-374"/>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375"/>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376"/>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377"/>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does goto_next do?</a:t>
            </a:r>
            <a:endParaRPr lang="en-US" sz="1600" dirty="0"/>
          </a:p>
        </p:txBody>
      </p:sp>
      <p:sp>
        <p:nvSpPr>
          <p:cNvPr id="13" name="a-378"/>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It doesn't decide; it passes evaluation down to the folder or VPC rules. We used it so the org blocks SSH and RDP from everywhere except IAP, and lets VPC rules decide IAP traffic.</a:t>
            </a:r>
            <a:endParaRPr lang="en-US" sz="1500" dirty="0"/>
          </a:p>
        </p:txBody>
      </p:sp>
      <p:sp>
        <p:nvSpPr>
          <p:cNvPr id="14" name="card-379"/>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380"/>
          <p:cNvSpPr/>
          <p:nvPr/>
        </p:nvSpPr>
        <p:spPr>
          <a:xfrm>
            <a:off x="731520" y="4233672"/>
            <a:ext cx="1600200" cy="292608"/>
          </a:xfrm>
          <a:prstGeom prst="roundRect">
            <a:avLst>
              <a:gd name="adj" fmla="val 31250"/>
            </a:avLst>
          </a:prstGeom>
          <a:solidFill>
            <a:schemeClr val="accent1"/>
          </a:solidFill>
          <a:ln w="12700">
            <a:solidFill>
              <a:schemeClr val="accent1"/>
            </a:solidFill>
            <a:prstDash val="solid"/>
          </a:ln>
        </p:spPr>
      </p:sp>
      <p:sp>
        <p:nvSpPr>
          <p:cNvPr id="16" name="pilltxt-381"/>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7" name="q-382"/>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Org policy constraint vs firewall rule?</a:t>
            </a:r>
            <a:endParaRPr lang="en-US" sz="1600" dirty="0"/>
          </a:p>
        </p:txBody>
      </p:sp>
      <p:sp>
        <p:nvSpPr>
          <p:cNvPr id="18" name="a-383"/>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An org policy blocks the API call (the misconfiguration can't be created); a firewall filters packets. Defence in depth uses both.</a:t>
            </a:r>
            <a:endParaRPr lang="en-US" sz="1500" dirty="0"/>
          </a:p>
        </p:txBody>
      </p:sp>
      <p:sp>
        <p:nvSpPr>
          <p:cNvPr id="19" name="card-384"/>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385"/>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386"/>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387"/>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Name org policies you'd always set for a regulated workload.</a:t>
            </a:r>
            <a:endParaRPr lang="en-US" sz="1600" dirty="0"/>
          </a:p>
        </p:txBody>
      </p:sp>
      <p:sp>
        <p:nvSpPr>
          <p:cNvPr id="23" name="a-388"/>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vmExternalIpAccess (no public IPs), requireOsLogin, disableServiceAccountKeyCreation, skipDefaultNetworkCreation, restrictVpcPeering, plus resourceLocations for data residency.</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ag-389"/>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 · 2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Security controls</a:t>
            </a:r>
            <a:endParaRPr lang="en-US" sz="3200" dirty="0"/>
          </a:p>
        </p:txBody>
      </p:sp>
      <p:sp>
        <p:nvSpPr>
          <p:cNvPr id="4" name="card-390"/>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391"/>
          <p:cNvSpPr/>
          <p:nvPr/>
        </p:nvSpPr>
        <p:spPr>
          <a:xfrm>
            <a:off x="731520" y="1764792"/>
            <a:ext cx="1600200" cy="292608"/>
          </a:xfrm>
          <a:prstGeom prst="roundRect">
            <a:avLst>
              <a:gd name="adj" fmla="val 31250"/>
            </a:avLst>
          </a:prstGeom>
          <a:solidFill>
            <a:schemeClr val="accent3"/>
          </a:solidFill>
          <a:ln w="12700">
            <a:solidFill>
              <a:schemeClr val="accent3"/>
            </a:solidFill>
            <a:prstDash val="solid"/>
          </a:ln>
        </p:spPr>
      </p:sp>
      <p:sp>
        <p:nvSpPr>
          <p:cNvPr id="6" name="pilltxt-392"/>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7" name="q-393"/>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Explain your priority bands.</a:t>
            </a:r>
            <a:endParaRPr lang="en-US" sz="1600" dirty="0"/>
          </a:p>
        </p:txBody>
      </p:sp>
      <p:sp>
        <p:nvSpPr>
          <p:cNvPr id="8" name="a-394"/>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100s platform access, 500s isolation denies, 1000s environment allows, 2000s tenant, 3000s hybrid, 4000 deny private egress, 4100 allow internet HTTPS, 65000 logged default deny. The number tells you the rule's purpose.</a:t>
            </a:r>
            <a:endParaRPr lang="en-US" sz="1500" dirty="0"/>
          </a:p>
        </p:txBody>
      </p:sp>
      <p:sp>
        <p:nvSpPr>
          <p:cNvPr id="9" name="card-395"/>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396"/>
          <p:cNvSpPr/>
          <p:nvPr/>
        </p:nvSpPr>
        <p:spPr>
          <a:xfrm>
            <a:off x="6415888" y="1764792"/>
            <a:ext cx="1600200" cy="292608"/>
          </a:xfrm>
          <a:prstGeom prst="roundRect">
            <a:avLst>
              <a:gd name="adj" fmla="val 31250"/>
            </a:avLst>
          </a:prstGeom>
          <a:solidFill>
            <a:schemeClr val="accent3"/>
          </a:solidFill>
          <a:ln w="12700">
            <a:solidFill>
              <a:schemeClr val="accent3"/>
            </a:solidFill>
            <a:prstDash val="solid"/>
          </a:ln>
        </p:spPr>
      </p:sp>
      <p:sp>
        <p:nvSpPr>
          <p:cNvPr id="11" name="pilltxt-397"/>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2" name="q-398"/>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default-deny egress as well as ingress?</a:t>
            </a:r>
            <a:endParaRPr lang="en-US" sz="1600" dirty="0"/>
          </a:p>
        </p:txBody>
      </p:sp>
      <p:sp>
        <p:nvSpPr>
          <p:cNvPr id="13" name="a-399"/>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Egress control stops data exfiltration and lateral movement from a compromised VM. Only named destinations (shared-svc, Google APIs, internet HTTPS via NAT) are allowed.</a:t>
            </a:r>
            <a:endParaRPr lang="en-US" sz="1500" dirty="0"/>
          </a:p>
        </p:txBody>
      </p:sp>
      <p:sp>
        <p:nvSpPr>
          <p:cNvPr id="14" name="card-400"/>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401"/>
          <p:cNvSpPr/>
          <p:nvPr/>
        </p:nvSpPr>
        <p:spPr>
          <a:xfrm>
            <a:off x="731520" y="4233672"/>
            <a:ext cx="1600200" cy="292608"/>
          </a:xfrm>
          <a:prstGeom prst="roundRect">
            <a:avLst>
              <a:gd name="adj" fmla="val 31250"/>
            </a:avLst>
          </a:prstGeom>
          <a:solidFill>
            <a:schemeClr val="accent1"/>
          </a:solidFill>
          <a:ln w="12700">
            <a:solidFill>
              <a:schemeClr val="accent1"/>
            </a:solidFill>
            <a:prstDash val="solid"/>
          </a:ln>
        </p:spPr>
      </p:sp>
      <p:sp>
        <p:nvSpPr>
          <p:cNvPr id="16" name="pilltxt-402"/>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7" name="q-403"/>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does OS Login improve SSH security?</a:t>
            </a:r>
            <a:endParaRPr lang="en-US" sz="1600" dirty="0"/>
          </a:p>
        </p:txBody>
      </p:sp>
      <p:sp>
        <p:nvSpPr>
          <p:cNvPr id="18" name="a-404"/>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SSH access is granted through IAM roles and tied to user identities, with optional 2FA. No SSH keys in project or instance metadata, and access is removed by removing a role.</a:t>
            </a:r>
            <a:endParaRPr lang="en-US" sz="1500" dirty="0"/>
          </a:p>
        </p:txBody>
      </p:sp>
      <p:sp>
        <p:nvSpPr>
          <p:cNvPr id="19" name="card-405"/>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406"/>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407"/>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408"/>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does a VM with no public IP reach Cloud Storage privately?</a:t>
            </a:r>
            <a:endParaRPr lang="en-US" sz="1600" dirty="0"/>
          </a:p>
        </p:txBody>
      </p:sp>
      <p:sp>
        <p:nvSpPr>
          <p:cNvPr id="23" name="a-409"/>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Private Google Access, a route to 199.36.153.8/30, a private DNS zone that CNAMEs *.googleapis.com to private.googleapis.com, and an egress allow on tcp:443.</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ag-41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 · 3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Security controls</a:t>
            </a:r>
            <a:endParaRPr lang="en-US" sz="3200" dirty="0"/>
          </a:p>
        </p:txBody>
      </p:sp>
      <p:sp>
        <p:nvSpPr>
          <p:cNvPr id="4" name="card-411"/>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412"/>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413"/>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414"/>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does VPC Service Controls add beyond this?</a:t>
            </a:r>
            <a:endParaRPr lang="en-US" sz="1600" dirty="0"/>
          </a:p>
        </p:txBody>
      </p:sp>
      <p:sp>
        <p:nvSpPr>
          <p:cNvPr id="8" name="a-415"/>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 perimeter around Google-managed services (Storage, BigQuery) that blocks data movement outside it even with valid credentials, mitigating exfiltration. It uses restricted.googleapis.com.</a:t>
            </a:r>
            <a:endParaRPr lang="en-US" sz="1500" dirty="0"/>
          </a:p>
        </p:txBody>
      </p:sp>
      <p:sp>
        <p:nvSpPr>
          <p:cNvPr id="9" name="card-416"/>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417"/>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418"/>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419"/>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does Security Command Center Standard provide?</a:t>
            </a:r>
            <a:endParaRPr lang="en-US" sz="1600" dirty="0"/>
          </a:p>
        </p:txBody>
      </p:sp>
      <p:sp>
        <p:nvSpPr>
          <p:cNvPr id="13" name="a-420"/>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Asset inventory and Security Health Analytics findings for misconfigurations (public buckets, open firewalls, keys). Premium adds threat detection and compliance reports.</a:t>
            </a:r>
            <a:endParaRPr lang="en-US" sz="1500" dirty="0"/>
          </a:p>
        </p:txBody>
      </p:sp>
      <p:sp>
        <p:nvSpPr>
          <p:cNvPr id="14" name="card-421"/>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422"/>
          <p:cNvSpPr/>
          <p:nvPr/>
        </p:nvSpPr>
        <p:spPr>
          <a:xfrm>
            <a:off x="731520" y="4233672"/>
            <a:ext cx="1600200" cy="292608"/>
          </a:xfrm>
          <a:prstGeom prst="roundRect">
            <a:avLst>
              <a:gd name="adj" fmla="val 31250"/>
            </a:avLst>
          </a:prstGeom>
          <a:solidFill>
            <a:schemeClr val="accent5"/>
          </a:solidFill>
          <a:ln w="12700">
            <a:solidFill>
              <a:schemeClr val="accent5"/>
            </a:solidFill>
            <a:prstDash val="solid"/>
          </a:ln>
        </p:spPr>
      </p:sp>
      <p:sp>
        <p:nvSpPr>
          <p:cNvPr id="16" name="pilltxt-423"/>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17" name="q-424"/>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Terraform returns 409 POLICY_ALREADY_EXISTS for an org policy.</a:t>
            </a:r>
            <a:endParaRPr lang="en-US" sz="1600" dirty="0"/>
          </a:p>
        </p:txBody>
      </p:sp>
      <p:sp>
        <p:nvSpPr>
          <p:cNvPr id="18" name="a-425"/>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policy already exists (Google enforces some by default on new orgs). Import it: terraform import 'google_org_policy_policy.x' organizations/ORG/policies/CONSTRAINT.</a:t>
            </a:r>
            <a:endParaRPr lang="en-US" sz="1500" dirty="0"/>
          </a:p>
        </p:txBody>
      </p:sp>
      <p:sp>
        <p:nvSpPr>
          <p:cNvPr id="19" name="card-426"/>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427"/>
          <p:cNvSpPr/>
          <p:nvPr/>
        </p:nvSpPr>
        <p:spPr>
          <a:xfrm>
            <a:off x="6415888" y="4233672"/>
            <a:ext cx="1600200" cy="292608"/>
          </a:xfrm>
          <a:prstGeom prst="roundRect">
            <a:avLst>
              <a:gd name="adj" fmla="val 31250"/>
            </a:avLst>
          </a:prstGeom>
          <a:solidFill>
            <a:schemeClr val="accent5"/>
          </a:solidFill>
          <a:ln w="12700">
            <a:solidFill>
              <a:schemeClr val="accent5"/>
            </a:solidFill>
            <a:prstDash val="solid"/>
          </a:ln>
        </p:spPr>
      </p:sp>
      <p:sp>
        <p:nvSpPr>
          <p:cNvPr id="21" name="pilltxt-428"/>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22" name="q-429"/>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A DENIED log was expected in the service project but isn't there.</a:t>
            </a:r>
            <a:endParaRPr lang="en-US" sz="1600" dirty="0"/>
          </a:p>
        </p:txBody>
      </p:sp>
      <p:sp>
        <p:nvSpPr>
          <p:cNvPr id="23" name="a-430"/>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With Shared VPC, firewall logs go to the host project. Query the host's logs.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ag-431"/>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5 · SECURITY CONTROLS · 4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Security controls</a:t>
            </a:r>
            <a:endParaRPr lang="en-US" sz="3200" dirty="0"/>
          </a:p>
        </p:txBody>
      </p:sp>
      <p:sp>
        <p:nvSpPr>
          <p:cNvPr id="4" name="card-432"/>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433"/>
          <p:cNvSpPr/>
          <p:nvPr/>
        </p:nvSpPr>
        <p:spPr>
          <a:xfrm>
            <a:off x="731520" y="1764792"/>
            <a:ext cx="1600200" cy="292608"/>
          </a:xfrm>
          <a:prstGeom prst="roundRect">
            <a:avLst>
              <a:gd name="adj" fmla="val 31250"/>
            </a:avLst>
          </a:prstGeom>
          <a:solidFill>
            <a:schemeClr val="accent5"/>
          </a:solidFill>
          <a:ln w="12700">
            <a:solidFill>
              <a:schemeClr val="accent5"/>
            </a:solidFill>
            <a:prstDash val="solid"/>
          </a:ln>
        </p:spPr>
      </p:sp>
      <p:sp>
        <p:nvSpPr>
          <p:cNvPr id="6" name="pilltxt-434"/>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7" name="q-435"/>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SSH via IAP fails. What do you check?</a:t>
            </a:r>
            <a:endParaRPr lang="en-US" sz="1600" dirty="0"/>
          </a:p>
        </p:txBody>
      </p:sp>
      <p:sp>
        <p:nvSpPr>
          <p:cNvPr id="8" name="a-436"/>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Firewall allow from 35.235.240.0/20 on tcp:22, the user's iap.tunnelResourceAccessor role, OS Login role (osLogin or osAdminLogin), the org SSH deny using goto_next for IAP, and that the VM is running.</a:t>
            </a:r>
            <a:endParaRPr lang="en-US" sz="1500" dirty="0"/>
          </a:p>
        </p:txBody>
      </p:sp>
      <p:sp>
        <p:nvSpPr>
          <p:cNvPr id="9" name="card-437"/>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438"/>
          <p:cNvSpPr/>
          <p:nvPr/>
        </p:nvSpPr>
        <p:spPr>
          <a:xfrm>
            <a:off x="6415888" y="1764792"/>
            <a:ext cx="1600200" cy="292608"/>
          </a:xfrm>
          <a:prstGeom prst="roundRect">
            <a:avLst>
              <a:gd name="adj" fmla="val 31250"/>
            </a:avLst>
          </a:prstGeom>
          <a:solidFill>
            <a:schemeClr val="accent3"/>
          </a:solidFill>
          <a:ln w="12700">
            <a:solidFill>
              <a:schemeClr val="accent3"/>
            </a:solidFill>
            <a:prstDash val="solid"/>
          </a:ln>
        </p:spPr>
      </p:sp>
      <p:sp>
        <p:nvSpPr>
          <p:cNvPr id="11" name="pilltxt-439"/>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2" name="q-440"/>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keep admin IAM out of Terraform?</a:t>
            </a:r>
            <a:endParaRPr lang="en-US" sz="1600" dirty="0"/>
          </a:p>
        </p:txBody>
      </p:sp>
      <p:sp>
        <p:nvSpPr>
          <p:cNvPr id="13" name="a-441"/>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So the Terraform SA never has permission to grant itself or anyone else access. Privilege escalation through the pipeline becomes impossible.</a:t>
            </a:r>
            <a:endParaRPr lang="en-US" sz="1500" dirty="0"/>
          </a:p>
        </p:txBody>
      </p:sp>
      <p:sp>
        <p:nvSpPr>
          <p:cNvPr id="14" name="card-442"/>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443"/>
          <p:cNvSpPr/>
          <p:nvPr/>
        </p:nvSpPr>
        <p:spPr>
          <a:xfrm>
            <a:off x="731520" y="4233672"/>
            <a:ext cx="1600200" cy="292608"/>
          </a:xfrm>
          <a:prstGeom prst="roundRect">
            <a:avLst>
              <a:gd name="adj" fmla="val 31250"/>
            </a:avLst>
          </a:prstGeom>
          <a:solidFill>
            <a:schemeClr val="accent2"/>
          </a:solidFill>
          <a:ln w="12700">
            <a:solidFill>
              <a:schemeClr val="accent2"/>
            </a:solidFill>
            <a:prstDash val="solid"/>
          </a:ln>
        </p:spPr>
      </p:sp>
      <p:sp>
        <p:nvSpPr>
          <p:cNvPr id="16" name="pilltxt-444"/>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17" name="q-445"/>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Give an example of defence in depth from your logs.</a:t>
            </a:r>
            <a:endParaRPr lang="en-US" sz="1600" dirty="0"/>
          </a:p>
        </p:txBody>
      </p:sp>
      <p:sp>
        <p:nvSpPr>
          <p:cNvPr id="18" name="a-446"/>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prod→shared-svc:22 was dropped by the source VM's egress deny before the org-level SSH deny was reached. Either layer alone would have blocked it.</a:t>
            </a:r>
            <a:endParaRPr lang="en-US" sz="1500" dirty="0"/>
          </a:p>
        </p:txBody>
      </p:sp>
      <p:sp>
        <p:nvSpPr>
          <p:cNvPr id="19" name="card-447"/>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448"/>
          <p:cNvSpPr/>
          <p:nvPr/>
        </p:nvSpPr>
        <p:spPr>
          <a:xfrm>
            <a:off x="6415888" y="4233672"/>
            <a:ext cx="1600200" cy="292608"/>
          </a:xfrm>
          <a:prstGeom prst="roundRect">
            <a:avLst>
              <a:gd name="adj" fmla="val 31250"/>
            </a:avLst>
          </a:prstGeom>
          <a:solidFill>
            <a:schemeClr val="accent2"/>
          </a:solidFill>
          <a:ln w="12700">
            <a:solidFill>
              <a:schemeClr val="accent2"/>
            </a:solidFill>
            <a:prstDash val="solid"/>
          </a:ln>
        </p:spPr>
      </p:sp>
      <p:sp>
        <p:nvSpPr>
          <p:cNvPr id="21" name="pilltxt-449"/>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22" name="q-450"/>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did you prove the security controls?</a:t>
            </a:r>
            <a:endParaRPr lang="en-US" sz="1600" dirty="0"/>
          </a:p>
        </p:txBody>
      </p:sp>
      <p:sp>
        <p:nvSpPr>
          <p:cNvPr id="23" name="a-451"/>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12 automated tests: allowed paths OPEN, isolation paths BLOCKED, DNS resolving to private VIPs, and a VM-with-external-IP creation refused by org policy. Firewall logs confirmed each deny.</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num-452"/>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06</a:t>
            </a:r>
            <a:endParaRPr lang="en-US" sz="13000" dirty="0"/>
          </a:p>
        </p:txBody>
      </p:sp>
      <p:sp>
        <p:nvSpPr>
          <p:cNvPr id="3" name="sectag-453"/>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6</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Egress and hybrid</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16 questions: 9 concept · 3 design · 3 troubleshooting · 1 your project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ag-454"/>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6 · EGRESS AND HYBRID · 1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Egress and hybrid</a:t>
            </a:r>
            <a:endParaRPr lang="en-US" sz="3200" dirty="0"/>
          </a:p>
        </p:txBody>
      </p:sp>
      <p:sp>
        <p:nvSpPr>
          <p:cNvPr id="4" name="card-455"/>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456"/>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457"/>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458"/>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does Cloud NAT work?</a:t>
            </a:r>
            <a:endParaRPr lang="en-US" sz="1600" dirty="0"/>
          </a:p>
        </p:txBody>
      </p:sp>
      <p:sp>
        <p:nvSpPr>
          <p:cNvPr id="8" name="a-459"/>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It's software-defined NAT on Google's network, configured on a Cloud Router per region. There's no proxy VM; VMs' outbound connections are translated to the NAT's external IPs and ports.</a:t>
            </a:r>
            <a:endParaRPr lang="en-US" sz="1500" dirty="0"/>
          </a:p>
        </p:txBody>
      </p:sp>
      <p:sp>
        <p:nvSpPr>
          <p:cNvPr id="9" name="card-460"/>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461"/>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462"/>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463"/>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Does Cloud NAT allow inbound connections?</a:t>
            </a:r>
            <a:endParaRPr lang="en-US" sz="1600" dirty="0"/>
          </a:p>
        </p:txBody>
      </p:sp>
      <p:sp>
        <p:nvSpPr>
          <p:cNvPr id="13" name="a-464"/>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No. Only responses to connections that VMs initiated. Inbound access needs a load balancer or an external IP.</a:t>
            </a:r>
            <a:endParaRPr lang="en-US" sz="1500" dirty="0"/>
          </a:p>
        </p:txBody>
      </p:sp>
      <p:sp>
        <p:nvSpPr>
          <p:cNvPr id="14" name="card-465"/>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466"/>
          <p:cNvSpPr/>
          <p:nvPr/>
        </p:nvSpPr>
        <p:spPr>
          <a:xfrm>
            <a:off x="731520" y="4233672"/>
            <a:ext cx="1600200" cy="292608"/>
          </a:xfrm>
          <a:prstGeom prst="roundRect">
            <a:avLst>
              <a:gd name="adj" fmla="val 31250"/>
            </a:avLst>
          </a:prstGeom>
          <a:solidFill>
            <a:schemeClr val="accent1"/>
          </a:solidFill>
          <a:ln w="12700">
            <a:solidFill>
              <a:schemeClr val="accent1"/>
            </a:solidFill>
            <a:prstDash val="solid"/>
          </a:ln>
        </p:spPr>
      </p:sp>
      <p:sp>
        <p:nvSpPr>
          <p:cNvPr id="16" name="pilltxt-467"/>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7" name="q-468"/>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Auto vs manual NAT IP allocation?</a:t>
            </a:r>
            <a:endParaRPr lang="en-US" sz="1600" dirty="0"/>
          </a:p>
        </p:txBody>
      </p:sp>
      <p:sp>
        <p:nvSpPr>
          <p:cNvPr id="18" name="a-469"/>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Auto lets Google add and remove IPs as needed, but they can change. Manual uses reserved static IPs that third parties can allowlist. We used manual.</a:t>
            </a:r>
            <a:endParaRPr lang="en-US" sz="1500" dirty="0"/>
          </a:p>
        </p:txBody>
      </p:sp>
      <p:sp>
        <p:nvSpPr>
          <p:cNvPr id="19" name="card-470"/>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471"/>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472"/>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473"/>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does NAT port allocation work?</a:t>
            </a:r>
            <a:endParaRPr lang="en-US" sz="1600" dirty="0"/>
          </a:p>
        </p:txBody>
      </p:sp>
      <p:sp>
        <p:nvSpPr>
          <p:cNvPr id="23" name="a-474"/>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Each external IP has 64,512 usable source ports. Each VM gets a slice: a static minimum, or dynamic allocation growing from min to max (64→4,096 here) as connections increase.</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ag-475"/>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6 · EGRESS AND HYBRID · 2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Egress and hybrid</a:t>
            </a:r>
            <a:endParaRPr lang="en-US" sz="3200" dirty="0"/>
          </a:p>
        </p:txBody>
      </p:sp>
      <p:sp>
        <p:nvSpPr>
          <p:cNvPr id="4" name="card-476"/>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477"/>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478"/>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479"/>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many VMs can one NAT IP serve?</a:t>
            </a:r>
            <a:endParaRPr lang="en-US" sz="1600" dirty="0"/>
          </a:p>
        </p:txBody>
      </p:sp>
      <p:sp>
        <p:nvSpPr>
          <p:cNvPr id="8" name="a-480"/>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64,512 ÷ min ports per VM. At 64 ports, 1,008 VMs. Heavy connection users need more ports, so fewer VMs per IP.</a:t>
            </a:r>
            <a:endParaRPr lang="en-US" sz="1500" dirty="0"/>
          </a:p>
        </p:txBody>
      </p:sp>
      <p:sp>
        <p:nvSpPr>
          <p:cNvPr id="9" name="card-481"/>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482"/>
          <p:cNvSpPr/>
          <p:nvPr/>
        </p:nvSpPr>
        <p:spPr>
          <a:xfrm>
            <a:off x="6415888" y="1764792"/>
            <a:ext cx="1600200" cy="292608"/>
          </a:xfrm>
          <a:prstGeom prst="roundRect">
            <a:avLst>
              <a:gd name="adj" fmla="val 31250"/>
            </a:avLst>
          </a:prstGeom>
          <a:solidFill>
            <a:schemeClr val="accent5"/>
          </a:solidFill>
          <a:ln w="12700">
            <a:solidFill>
              <a:schemeClr val="accent5"/>
            </a:solidFill>
            <a:prstDash val="solid"/>
          </a:ln>
        </p:spPr>
      </p:sp>
      <p:sp>
        <p:nvSpPr>
          <p:cNvPr id="11" name="pilltxt-483"/>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12" name="q-484"/>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Symptoms of NAT port exhaustion, and the fix?</a:t>
            </a:r>
            <a:endParaRPr lang="en-US" sz="1600" dirty="0"/>
          </a:p>
        </p:txBody>
      </p:sp>
      <p:sp>
        <p:nvSpPr>
          <p:cNvPr id="13" name="a-485"/>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Connection timeouts and dropped packets; nat_allocation_failed and dropped_sent_packets metrics; ERRORS in NAT logs. Fix: add IPs, raise max ports per VM, use dynamic allocation.</a:t>
            </a:r>
            <a:endParaRPr lang="en-US" sz="1500" dirty="0"/>
          </a:p>
        </p:txBody>
      </p:sp>
      <p:sp>
        <p:nvSpPr>
          <p:cNvPr id="14" name="card-486"/>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487"/>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488"/>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489"/>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one NAT gateway per tenant?</a:t>
            </a:r>
            <a:endParaRPr lang="en-US" sz="1600" dirty="0"/>
          </a:p>
        </p:txBody>
      </p:sp>
      <p:sp>
        <p:nvSpPr>
          <p:cNvPr id="18" name="a-490"/>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Each customer gets its own egress IPs to allowlist, their traffic is attributable, and one tenant can't exhaust another's ports.</a:t>
            </a:r>
            <a:endParaRPr lang="en-US" sz="1500" dirty="0"/>
          </a:p>
        </p:txBody>
      </p:sp>
      <p:sp>
        <p:nvSpPr>
          <p:cNvPr id="19" name="card-491"/>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492"/>
          <p:cNvSpPr/>
          <p:nvPr/>
        </p:nvSpPr>
        <p:spPr>
          <a:xfrm>
            <a:off x="6415888" y="4233672"/>
            <a:ext cx="1600200" cy="292608"/>
          </a:xfrm>
          <a:prstGeom prst="roundRect">
            <a:avLst>
              <a:gd name="adj" fmla="val 31250"/>
            </a:avLst>
          </a:prstGeom>
          <a:solidFill>
            <a:schemeClr val="accent3"/>
          </a:solidFill>
          <a:ln w="12700">
            <a:solidFill>
              <a:schemeClr val="accent3"/>
            </a:solidFill>
            <a:prstDash val="solid"/>
          </a:ln>
        </p:spPr>
      </p:sp>
      <p:sp>
        <p:nvSpPr>
          <p:cNvPr id="21" name="pilltxt-493"/>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22" name="q-494"/>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did you make NAT IP failover safe?</a:t>
            </a:r>
            <a:endParaRPr lang="en-US" sz="1600" dirty="0"/>
          </a:p>
        </p:txBody>
      </p:sp>
      <p:sp>
        <p:nvSpPr>
          <p:cNvPr id="23" name="a-495"/>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Prod has two IPs. Draining one moves new connections to the other while existing ones finish, with no VM change. Tested: egress moved from 34.132.81.101 to 34.60.101.104.</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ag-49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6 · EGRESS AND HYBRID · 3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Egress and hybrid</a:t>
            </a:r>
            <a:endParaRPr lang="en-US" sz="3200" dirty="0"/>
          </a:p>
        </p:txBody>
      </p:sp>
      <p:sp>
        <p:nvSpPr>
          <p:cNvPr id="4" name="card-497"/>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498"/>
          <p:cNvSpPr/>
          <p:nvPr/>
        </p:nvSpPr>
        <p:spPr>
          <a:xfrm>
            <a:off x="731520" y="1764792"/>
            <a:ext cx="1600200" cy="292608"/>
          </a:xfrm>
          <a:prstGeom prst="roundRect">
            <a:avLst>
              <a:gd name="adj" fmla="val 31250"/>
            </a:avLst>
          </a:prstGeom>
          <a:solidFill>
            <a:schemeClr val="accent5"/>
          </a:solidFill>
          <a:ln w="12700">
            <a:solidFill>
              <a:schemeClr val="accent5"/>
            </a:solidFill>
            <a:prstDash val="solid"/>
          </a:ln>
        </p:spPr>
      </p:sp>
      <p:sp>
        <p:nvSpPr>
          <p:cNvPr id="6" name="pilltxt-499"/>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7" name="q-500"/>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Restoring a drained IP failed with 'Draining IP … already used'. Why?</a:t>
            </a:r>
            <a:endParaRPr lang="en-US" sz="1600" dirty="0"/>
          </a:p>
        </p:txBody>
      </p:sp>
      <p:sp>
        <p:nvSpPr>
          <p:cNvPr id="8" name="a-501"/>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API won't move an IP from the drain pool directly back to active. Clear the drain pool first (gcloud --clear-nat-external-drain-ip-pool), then apply.</a:t>
            </a:r>
            <a:endParaRPr lang="en-US" sz="1500" dirty="0"/>
          </a:p>
        </p:txBody>
      </p:sp>
      <p:sp>
        <p:nvSpPr>
          <p:cNvPr id="9" name="card-502"/>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503"/>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504"/>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505"/>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HA VPN vs Classic VPN?</a:t>
            </a:r>
            <a:endParaRPr lang="en-US" sz="1600" dirty="0"/>
          </a:p>
        </p:txBody>
      </p:sp>
      <p:sp>
        <p:nvSpPr>
          <p:cNvPr id="13" name="a-506"/>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HA VPN has two interfaces and IPs, requires BGP, and gives a 99.99% SLA when both interfaces have tunnels. Classic VPN has one interface and a 99.9% SLA, and is largely deprecated.</a:t>
            </a:r>
            <a:endParaRPr lang="en-US" sz="1500" dirty="0"/>
          </a:p>
        </p:txBody>
      </p:sp>
      <p:sp>
        <p:nvSpPr>
          <p:cNvPr id="14" name="card-507"/>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508"/>
          <p:cNvSpPr/>
          <p:nvPr/>
        </p:nvSpPr>
        <p:spPr>
          <a:xfrm>
            <a:off x="731520" y="4233672"/>
            <a:ext cx="1600200" cy="292608"/>
          </a:xfrm>
          <a:prstGeom prst="roundRect">
            <a:avLst>
              <a:gd name="adj" fmla="val 31250"/>
            </a:avLst>
          </a:prstGeom>
          <a:solidFill>
            <a:schemeClr val="accent1"/>
          </a:solidFill>
          <a:ln w="12700">
            <a:solidFill>
              <a:schemeClr val="accent1"/>
            </a:solidFill>
            <a:prstDash val="solid"/>
          </a:ln>
        </p:spPr>
      </p:sp>
      <p:sp>
        <p:nvSpPr>
          <p:cNvPr id="16" name="pilltxt-509"/>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7" name="q-510"/>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does HA VPN need BGP?</a:t>
            </a:r>
            <a:endParaRPr lang="en-US" sz="1600" dirty="0"/>
          </a:p>
        </p:txBody>
      </p:sp>
      <p:sp>
        <p:nvSpPr>
          <p:cNvPr id="18" name="a-511"/>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Dynamic routing withdraws routes when a tunnel or session fails, so traffic shifts to the healthy tunnel automatically.</a:t>
            </a:r>
            <a:endParaRPr lang="en-US" sz="1500" dirty="0"/>
          </a:p>
        </p:txBody>
      </p:sp>
      <p:sp>
        <p:nvSpPr>
          <p:cNvPr id="19" name="card-512"/>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513"/>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514"/>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515"/>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are the BGP session IPs and ASNs you used?</a:t>
            </a:r>
            <a:endParaRPr lang="en-US" sz="1600" dirty="0"/>
          </a:p>
        </p:txBody>
      </p:sp>
      <p:sp>
        <p:nvSpPr>
          <p:cNvPr id="23" name="a-516"/>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Link-local /30s: 169.254.0.1↔.2 and 169.254.1.1↔.2. Private ASNs 64512 (cloud) and 64513 (on-prem).</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ag-51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6 · EGRESS AND HYBRID · 4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Egress and hybrid</a:t>
            </a:r>
            <a:endParaRPr lang="en-US" sz="3200" dirty="0"/>
          </a:p>
        </p:txBody>
      </p:sp>
      <p:sp>
        <p:nvSpPr>
          <p:cNvPr id="4" name="card-518"/>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519"/>
          <p:cNvSpPr/>
          <p:nvPr/>
        </p:nvSpPr>
        <p:spPr>
          <a:xfrm>
            <a:off x="731520" y="1764792"/>
            <a:ext cx="1600200" cy="292608"/>
          </a:xfrm>
          <a:prstGeom prst="roundRect">
            <a:avLst>
              <a:gd name="adj" fmla="val 31250"/>
            </a:avLst>
          </a:prstGeom>
          <a:solidFill>
            <a:schemeClr val="accent3"/>
          </a:solidFill>
          <a:ln w="12700">
            <a:solidFill>
              <a:schemeClr val="accent3"/>
            </a:solidFill>
            <a:prstDash val="solid"/>
          </a:ln>
        </p:spPr>
      </p:sp>
      <p:sp>
        <p:nvSpPr>
          <p:cNvPr id="6" name="pilltxt-520"/>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7" name="q-521"/>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did you stop on-prem reaching prod?</a:t>
            </a:r>
            <a:endParaRPr lang="en-US" sz="1600" dirty="0"/>
          </a:p>
        </p:txBody>
      </p:sp>
      <p:sp>
        <p:nvSpPr>
          <p:cNvPr id="8" name="a-522"/>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Custom BGP advertisement: Cloud Router advertises only shared-svc ranges, so on-prem has no route to prod. Plus a firewall allow only to shared-svc on 443.</a:t>
            </a:r>
            <a:endParaRPr lang="en-US" sz="1500" dirty="0"/>
          </a:p>
        </p:txBody>
      </p:sp>
      <p:sp>
        <p:nvSpPr>
          <p:cNvPr id="9" name="card-523"/>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524"/>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525"/>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526"/>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Active/active vs active/passive VPN?</a:t>
            </a:r>
            <a:endParaRPr lang="en-US" sz="1600" dirty="0"/>
          </a:p>
        </p:txBody>
      </p:sp>
      <p:sp>
        <p:nvSpPr>
          <p:cNvPr id="13" name="a-527"/>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Equal advertised route priority on both tunnels gives ECMP (active/active). Different priorities (MED) make one tunnel preferred and the other standby.</a:t>
            </a:r>
            <a:endParaRPr lang="en-US" sz="1500" dirty="0"/>
          </a:p>
        </p:txBody>
      </p:sp>
      <p:sp>
        <p:nvSpPr>
          <p:cNvPr id="14" name="card-528"/>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529"/>
          <p:cNvSpPr/>
          <p:nvPr/>
        </p:nvSpPr>
        <p:spPr>
          <a:xfrm>
            <a:off x="731520" y="4233672"/>
            <a:ext cx="1600200" cy="292608"/>
          </a:xfrm>
          <a:prstGeom prst="roundRect">
            <a:avLst>
              <a:gd name="adj" fmla="val 31250"/>
            </a:avLst>
          </a:prstGeom>
          <a:solidFill>
            <a:schemeClr val="accent5"/>
          </a:solidFill>
          <a:ln w="12700">
            <a:solidFill>
              <a:schemeClr val="accent5"/>
            </a:solidFill>
            <a:prstDash val="solid"/>
          </a:ln>
        </p:spPr>
      </p:sp>
      <p:sp>
        <p:nvSpPr>
          <p:cNvPr id="16" name="pilltxt-530"/>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17" name="q-531"/>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BGP session is down. How do you troubleshoot?</a:t>
            </a:r>
            <a:endParaRPr lang="en-US" sz="1600" dirty="0"/>
          </a:p>
        </p:txBody>
      </p:sp>
      <p:sp>
        <p:nvSpPr>
          <p:cNvPr id="18" name="a-532"/>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gcloud compute routers get-status for peer state; check tunnel status (IKE established?), matching ASNs and link-local IPs, shared secret, and firewall/peer config on the other side.</a:t>
            </a:r>
            <a:endParaRPr lang="en-US" sz="1500" dirty="0"/>
          </a:p>
        </p:txBody>
      </p:sp>
      <p:sp>
        <p:nvSpPr>
          <p:cNvPr id="19" name="card-533"/>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534"/>
          <p:cNvSpPr/>
          <p:nvPr/>
        </p:nvSpPr>
        <p:spPr>
          <a:xfrm>
            <a:off x="6415888" y="4233672"/>
            <a:ext cx="1600200" cy="292608"/>
          </a:xfrm>
          <a:prstGeom prst="roundRect">
            <a:avLst>
              <a:gd name="adj" fmla="val 31250"/>
            </a:avLst>
          </a:prstGeom>
          <a:solidFill>
            <a:schemeClr val="accent2"/>
          </a:solidFill>
          <a:ln w="12700">
            <a:solidFill>
              <a:schemeClr val="accent2"/>
            </a:solidFill>
            <a:prstDash val="solid"/>
          </a:ln>
        </p:spPr>
      </p:sp>
      <p:sp>
        <p:nvSpPr>
          <p:cNvPr id="21" name="pilltxt-535"/>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22" name="q-536"/>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did you learn about the Monitoring dashboard in Terraform?</a:t>
            </a:r>
            <a:endParaRPr lang="en-US" sz="1600" dirty="0"/>
          </a:p>
        </p:txBody>
      </p:sp>
      <p:sp>
        <p:nvSpPr>
          <p:cNvPr id="23" name="a-537"/>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API normalises dashboard JSON (drops zero positions, adds targetAxis), so Terraform saw a diff on every plan. I generated JSON in the stored shape.</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ecnum-538"/>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07</a:t>
            </a:r>
            <a:endParaRPr lang="en-US" sz="13000" dirty="0"/>
          </a:p>
        </p:txBody>
      </p:sp>
      <p:sp>
        <p:nvSpPr>
          <p:cNvPr id="3" name="sectag-539"/>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7</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Monitoring and logging</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16 questions: 9 concept · 4 design · 2 troubleshooting · 1 your project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ag-54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 · 1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Monitoring and logging</a:t>
            </a:r>
            <a:endParaRPr lang="en-US" sz="3200" dirty="0"/>
          </a:p>
        </p:txBody>
      </p:sp>
      <p:sp>
        <p:nvSpPr>
          <p:cNvPr id="4" name="card-541"/>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542"/>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543"/>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544"/>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What's in a VPC flow log record?</a:t>
            </a:r>
            <a:endParaRPr lang="en-US" sz="1600" dirty="0"/>
          </a:p>
        </p:txBody>
      </p:sp>
      <p:sp>
        <p:nvSpPr>
          <p:cNvPr id="8" name="a-545"/>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Connection 5-tuple, bytes and packets, start/end time, RTT for TCP, and metadata such as VM names, subnets, regions and GKE details. It's sampled, not every packet.</a:t>
            </a:r>
            <a:endParaRPr lang="en-US" sz="1500" dirty="0"/>
          </a:p>
        </p:txBody>
      </p:sp>
      <p:sp>
        <p:nvSpPr>
          <p:cNvPr id="9" name="card-546"/>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547"/>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548"/>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549"/>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Explain flow log aggregation, sampling and filtering.</a:t>
            </a:r>
            <a:endParaRPr lang="en-US" sz="1600" dirty="0"/>
          </a:p>
        </p:txBody>
      </p:sp>
      <p:sp>
        <p:nvSpPr>
          <p:cNvPr id="13" name="a-550"/>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Aggregation interval (5s to 15min) controls how often records are emitted; sampling (0–1) the fraction of connections kept; a CEL filter limits which flows are logged.</a:t>
            </a:r>
            <a:endParaRPr lang="en-US" sz="1500" dirty="0"/>
          </a:p>
        </p:txBody>
      </p:sp>
      <p:sp>
        <p:nvSpPr>
          <p:cNvPr id="14" name="card-551"/>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552"/>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553"/>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554"/>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did you choose sampling rates?</a:t>
            </a:r>
            <a:endParaRPr lang="en-US" sz="1600" dirty="0"/>
          </a:p>
        </p:txBody>
      </p:sp>
      <p:sp>
        <p:nvSpPr>
          <p:cNvPr id="18" name="a-555"/>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By risk and cost: 100% for prod and regulated tenants (audit evidence), 50% shared services, 25% dev and staging.</a:t>
            </a:r>
            <a:endParaRPr lang="en-US" sz="1500" dirty="0"/>
          </a:p>
        </p:txBody>
      </p:sp>
      <p:sp>
        <p:nvSpPr>
          <p:cNvPr id="19" name="card-556"/>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557"/>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558"/>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559"/>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Which audit logs are always on?</a:t>
            </a:r>
            <a:endParaRPr lang="en-US" sz="1600" dirty="0"/>
          </a:p>
        </p:txBody>
      </p:sp>
      <p:sp>
        <p:nvSpPr>
          <p:cNvPr id="23" name="a-560"/>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Admin Activity and System Event: always on, free, kept 400 days in _Required. Data Access logs are off by default (except BigQuery) because of volume.</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ag-561"/>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 · 2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Monitoring and logging</a:t>
            </a:r>
            <a:endParaRPr lang="en-US" sz="3200" dirty="0"/>
          </a:p>
        </p:txBody>
      </p:sp>
      <p:sp>
        <p:nvSpPr>
          <p:cNvPr id="4" name="card-562"/>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563"/>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564"/>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565"/>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the Log Router?</a:t>
            </a:r>
            <a:endParaRPr lang="en-US" sz="1600" dirty="0"/>
          </a:p>
        </p:txBody>
      </p:sp>
      <p:sp>
        <p:nvSpPr>
          <p:cNvPr id="8" name="a-566"/>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Every log entry passes through it; sinks with filters route copies to log buckets, BigQuery, Cloud Storage, Pub/Sub or other projects. Exclusions drop entries from a destination.</a:t>
            </a:r>
            <a:endParaRPr lang="en-US" sz="1500" dirty="0"/>
          </a:p>
        </p:txBody>
      </p:sp>
      <p:sp>
        <p:nvSpPr>
          <p:cNvPr id="9" name="card-567"/>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568"/>
          <p:cNvSpPr/>
          <p:nvPr/>
        </p:nvSpPr>
        <p:spPr>
          <a:xfrm>
            <a:off x="6415888" y="1764792"/>
            <a:ext cx="1600200" cy="292608"/>
          </a:xfrm>
          <a:prstGeom prst="roundRect">
            <a:avLst>
              <a:gd name="adj" fmla="val 31250"/>
            </a:avLst>
          </a:prstGeom>
          <a:solidFill>
            <a:schemeClr val="accent3"/>
          </a:solidFill>
          <a:ln w="12700">
            <a:solidFill>
              <a:schemeClr val="accent3"/>
            </a:solidFill>
            <a:prstDash val="solid"/>
          </a:ln>
        </p:spPr>
      </p:sp>
      <p:sp>
        <p:nvSpPr>
          <p:cNvPr id="11" name="pilltxt-569"/>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2" name="q-570"/>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BigQuery vs Cloud Storage vs log bucket as a destination?</a:t>
            </a:r>
            <a:endParaRPr lang="en-US" sz="1600" dirty="0"/>
          </a:p>
        </p:txBody>
      </p:sp>
      <p:sp>
        <p:nvSpPr>
          <p:cNvPr id="13" name="a-571"/>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Log bucket: interactive search and Log Analytics. BigQuery: SQL analytics and dashboards. Cloud Storage: cheapest long retention for audit. Pub/Sub: streaming to a SIEM.</a:t>
            </a:r>
            <a:endParaRPr lang="en-US" sz="1500" dirty="0"/>
          </a:p>
        </p:txBody>
      </p:sp>
      <p:sp>
        <p:nvSpPr>
          <p:cNvPr id="14" name="card-572"/>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573"/>
          <p:cNvSpPr/>
          <p:nvPr/>
        </p:nvSpPr>
        <p:spPr>
          <a:xfrm>
            <a:off x="731520" y="4233672"/>
            <a:ext cx="1600200" cy="292608"/>
          </a:xfrm>
          <a:prstGeom prst="roundRect">
            <a:avLst>
              <a:gd name="adj" fmla="val 31250"/>
            </a:avLst>
          </a:prstGeom>
          <a:solidFill>
            <a:schemeClr val="accent1"/>
          </a:solidFill>
          <a:ln w="12700">
            <a:solidFill>
              <a:schemeClr val="accent1"/>
            </a:solidFill>
            <a:prstDash val="solid"/>
          </a:ln>
        </p:spPr>
      </p:sp>
      <p:sp>
        <p:nvSpPr>
          <p:cNvPr id="16" name="pilltxt-574"/>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7" name="q-575"/>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a sink's writer identity?</a:t>
            </a:r>
            <a:endParaRPr lang="en-US" sz="1600" dirty="0"/>
          </a:p>
        </p:txBody>
      </p:sp>
      <p:sp>
        <p:nvSpPr>
          <p:cNvPr id="18" name="a-576"/>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A Google-managed service account per sink. You grant it write access on the destination only, such as bigquery.dataEditor on one dataset.</a:t>
            </a:r>
            <a:endParaRPr lang="en-US" sz="1500" dirty="0"/>
          </a:p>
        </p:txBody>
      </p:sp>
      <p:sp>
        <p:nvSpPr>
          <p:cNvPr id="19" name="card-577"/>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578"/>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579"/>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580"/>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a log-based metric?</a:t>
            </a:r>
            <a:endParaRPr lang="en-US" sz="1600" dirty="0"/>
          </a:p>
        </p:txBody>
      </p:sp>
      <p:sp>
        <p:nvSpPr>
          <p:cNvPr id="23" name="a-581"/>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A Cloud Monitoring metric derived from logs matching a filter: a counter or distribution, with labels extracted from fields. Used for alerting on log events.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ag-582"/>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 · 3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Monitoring and logging</a:t>
            </a:r>
            <a:endParaRPr lang="en-US" sz="3200" dirty="0"/>
          </a:p>
        </p:txBody>
      </p:sp>
      <p:sp>
        <p:nvSpPr>
          <p:cNvPr id="4" name="card-583"/>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584"/>
          <p:cNvSpPr/>
          <p:nvPr/>
        </p:nvSpPr>
        <p:spPr>
          <a:xfrm>
            <a:off x="731520" y="1764792"/>
            <a:ext cx="1600200" cy="292608"/>
          </a:xfrm>
          <a:prstGeom prst="roundRect">
            <a:avLst>
              <a:gd name="adj" fmla="val 31250"/>
            </a:avLst>
          </a:prstGeom>
          <a:solidFill>
            <a:schemeClr val="accent5"/>
          </a:solidFill>
          <a:ln w="12700">
            <a:solidFill>
              <a:schemeClr val="accent5"/>
            </a:solidFill>
            <a:prstDash val="solid"/>
          </a:ln>
        </p:spPr>
      </p:sp>
      <p:sp>
        <p:nvSpPr>
          <p:cNvPr id="6" name="pilltxt-585"/>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7" name="q-586"/>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Creating an alert on a log metric fails: 'must specify a restriction on resource.type'.</a:t>
            </a:r>
            <a:endParaRPr lang="en-US" sz="1600" dirty="0"/>
          </a:p>
        </p:txBody>
      </p:sp>
      <p:sp>
        <p:nvSpPr>
          <p:cNvPr id="8" name="a-587"/>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Monitoring filters must name a resource type. A log metric keeps the log entry's resource type, so check it via the timeSeries API or Metrics Explorer. For firewall logs it was gce_subnetwork.</a:t>
            </a:r>
            <a:endParaRPr lang="en-US" sz="1500" dirty="0"/>
          </a:p>
        </p:txBody>
      </p:sp>
      <p:sp>
        <p:nvSpPr>
          <p:cNvPr id="9" name="card-588"/>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589"/>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590"/>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591"/>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Explain alignment and reduction in alert conditions.</a:t>
            </a:r>
            <a:endParaRPr lang="en-US" sz="1600" dirty="0"/>
          </a:p>
        </p:txBody>
      </p:sp>
      <p:sp>
        <p:nvSpPr>
          <p:cNvPr id="13" name="a-592"/>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Alignment turns each time series into regular points per period (e.g. ALIGN_SUM over 300s). Reduction combines series across labels (REDUCE_SUM). Then threshold and duration decide when it fires.</a:t>
            </a:r>
            <a:endParaRPr lang="en-US" sz="1500" dirty="0"/>
          </a:p>
        </p:txBody>
      </p:sp>
      <p:sp>
        <p:nvSpPr>
          <p:cNvPr id="14" name="card-593"/>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594"/>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595"/>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596"/>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 you detect changes made outside Terraform?</a:t>
            </a:r>
            <a:endParaRPr lang="en-US" sz="1600" dirty="0"/>
          </a:p>
        </p:txBody>
      </p:sp>
      <p:sp>
        <p:nvSpPr>
          <p:cNvPr id="18" name="a-597"/>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Log-based metric on Admin Activity audit logs for network methods, excluding the Terraform SA's principal; alert on any count. Labels show who and which method. terraform plan shows the diff.</a:t>
            </a:r>
            <a:endParaRPr lang="en-US" sz="1500" dirty="0"/>
          </a:p>
        </p:txBody>
      </p:sp>
      <p:sp>
        <p:nvSpPr>
          <p:cNvPr id="19" name="card-598"/>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599"/>
          <p:cNvSpPr/>
          <p:nvPr/>
        </p:nvSpPr>
        <p:spPr>
          <a:xfrm>
            <a:off x="6415888" y="4233672"/>
            <a:ext cx="1600200" cy="292608"/>
          </a:xfrm>
          <a:prstGeom prst="roundRect">
            <a:avLst>
              <a:gd name="adj" fmla="val 31250"/>
            </a:avLst>
          </a:prstGeom>
          <a:solidFill>
            <a:schemeClr val="accent5"/>
          </a:solidFill>
          <a:ln w="12700">
            <a:solidFill>
              <a:schemeClr val="accent5"/>
            </a:solidFill>
            <a:prstDash val="solid"/>
          </a:ln>
        </p:spPr>
      </p:sp>
      <p:sp>
        <p:nvSpPr>
          <p:cNvPr id="21" name="pilltxt-600"/>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22" name="q-601"/>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A Cloud Storage sink shows 0 bytes. Is it broken?</a:t>
            </a:r>
            <a:endParaRPr lang="en-US" sz="1600" dirty="0"/>
          </a:p>
        </p:txBody>
      </p:sp>
      <p:sp>
        <p:nvSpPr>
          <p:cNvPr id="23" name="a-602"/>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Not necessarily. Storage sinks write in hourly batches. Check the writer identity has objectCreator; errors would show on the sink and be emailed.</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ag-603"/>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7 · MONITORING AND LOGGING · 4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Monitoring and logging</a:t>
            </a:r>
            <a:endParaRPr lang="en-US" sz="3200" dirty="0"/>
          </a:p>
        </p:txBody>
      </p:sp>
      <p:sp>
        <p:nvSpPr>
          <p:cNvPr id="4" name="card-604"/>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605"/>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606"/>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607"/>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are Connectivity Tests?</a:t>
            </a:r>
            <a:endParaRPr lang="en-US" sz="1600" dirty="0"/>
          </a:p>
        </p:txBody>
      </p:sp>
      <p:sp>
        <p:nvSpPr>
          <p:cNvPr id="8" name="a-608"/>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Network Intelligence Center analysis of a path between endpoints using config (routes, firewalls, peering) plus optional live data-plane probing. It shows exactly which hop drops the packet.</a:t>
            </a:r>
            <a:endParaRPr lang="en-US" sz="1500" dirty="0"/>
          </a:p>
        </p:txBody>
      </p:sp>
      <p:sp>
        <p:nvSpPr>
          <p:cNvPr id="9" name="card-609"/>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610"/>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611"/>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612"/>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Flow Analyzer?</a:t>
            </a:r>
            <a:endParaRPr lang="en-US" sz="1600" dirty="0"/>
          </a:p>
        </p:txBody>
      </p:sp>
      <p:sp>
        <p:nvSpPr>
          <p:cNvPr id="13" name="a-613"/>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A console tool that analyses VPC flow logs with Log Analytics SQL (top talkers, traffic between subnets). It requires a log bucket upgraded to Log Analytics.</a:t>
            </a:r>
            <a:endParaRPr lang="en-US" sz="1500" dirty="0"/>
          </a:p>
        </p:txBody>
      </p:sp>
      <p:sp>
        <p:nvSpPr>
          <p:cNvPr id="14" name="card-614"/>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615"/>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616"/>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617"/>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would you send these logs to a SIEM?</a:t>
            </a:r>
            <a:endParaRPr lang="en-US" sz="1600" dirty="0"/>
          </a:p>
        </p:txBody>
      </p:sp>
      <p:sp>
        <p:nvSpPr>
          <p:cNvPr id="18" name="a-618"/>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A sink with a filter to a Pub/Sub topic; the SIEM subscribes (or Dataflow forwards). Keep exclusions off for security logs.</a:t>
            </a:r>
            <a:endParaRPr lang="en-US" sz="1500" dirty="0"/>
          </a:p>
        </p:txBody>
      </p:sp>
      <p:sp>
        <p:nvSpPr>
          <p:cNvPr id="19" name="card-619"/>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620"/>
          <p:cNvSpPr/>
          <p:nvPr/>
        </p:nvSpPr>
        <p:spPr>
          <a:xfrm>
            <a:off x="6415888" y="4233672"/>
            <a:ext cx="1600200" cy="292608"/>
          </a:xfrm>
          <a:prstGeom prst="roundRect">
            <a:avLst>
              <a:gd name="adj" fmla="val 31250"/>
            </a:avLst>
          </a:prstGeom>
          <a:solidFill>
            <a:schemeClr val="accent2"/>
          </a:solidFill>
          <a:ln w="12700">
            <a:solidFill>
              <a:schemeClr val="accent2"/>
            </a:solidFill>
            <a:prstDash val="solid"/>
          </a:ln>
        </p:spPr>
      </p:sp>
      <p:sp>
        <p:nvSpPr>
          <p:cNvPr id="21" name="pilltxt-621"/>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22" name="q-622"/>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Tell me about a monitoring problem you solved.</a:t>
            </a:r>
            <a:endParaRPr lang="en-US" sz="1600" dirty="0"/>
          </a:p>
        </p:txBody>
      </p:sp>
      <p:sp>
        <p:nvSpPr>
          <p:cNvPr id="23" name="a-623"/>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firewall-deny alert never fired. Logs showed 30 denies, the metric counted them, but the alert filtered on resource.type global. The timeSeries API showed gce_subnetwork; I fixed the filter and it fired at 30.</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ecnum-624"/>
          <p:cNvSpPr txBox="1"/>
          <p:nvPr/>
        </p:nvSpPr>
        <p:spPr>
          <a:xfrm>
            <a:off x="9052560" y="1737360"/>
            <a:ext cx="2560320" cy="2194560"/>
          </a:xfrm>
          <a:prstGeom prst="rect">
            <a:avLst/>
          </a:prstGeom>
          <a:noFill/>
          <a:ln/>
        </p:spPr>
        <p:txBody>
          <a:bodyPr wrap="square" lIns="0" tIns="0" rIns="0" bIns="0" rtlCol="0" anchor="ctr"/>
          <a:lstStyle/>
          <a:p>
            <a:pPr algn="r" indent="0" marL="0">
              <a:buNone/>
            </a:pPr>
            <a:r>
              <a:rPr lang="en-US" sz="13000" b="1" dirty="0">
                <a:solidFill>
                  <a:schemeClr val="accent1"/>
                </a:solidFill>
              </a:rPr>
              <a:t>08</a:t>
            </a:r>
            <a:endParaRPr lang="en-US" sz="13000" dirty="0"/>
          </a:p>
        </p:txBody>
      </p:sp>
      <p:sp>
        <p:nvSpPr>
          <p:cNvPr id="3" name="sectag-625"/>
          <p:cNvSpPr txBox="1"/>
          <p:nvPr/>
        </p:nvSpPr>
        <p:spPr>
          <a:xfrm>
            <a:off x="548640" y="2240280"/>
            <a:ext cx="5486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PHASE 8</a:t>
            </a:r>
            <a:endParaRPr lang="en-US" sz="1400" dirty="0"/>
          </a:p>
        </p:txBody>
      </p:sp>
      <p:sp>
        <p:nvSpPr>
          <p:cNvPr id="4"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000" b="1" dirty="0">
                <a:solidFill>
                  <a:schemeClr val="bg1"/>
                </a:solidFill>
              </a:rPr>
              <a:t>Automation, backup and DR</a:t>
            </a:r>
            <a:endParaRPr lang="en-US" sz="4000" dirty="0"/>
          </a:p>
        </p:txBody>
      </p:sp>
      <p:sp>
        <p:nvSpPr>
          <p:cNvPr id="5" name="Text 0"/>
          <p:cNvSpPr/>
          <p:nvPr>
            <p:ph idx="101" type="body" hasCustomPrompt="1"/>
          </p:nvPr>
        </p:nvSpPr>
        <p:spPr>
          <a:xfrm>
            <a:off x="548640" y="3886200"/>
            <a:ext cx="8686800" cy="1737360"/>
          </a:xfrm>
          <a:prstGeom prst="rect">
            <a:avLst/>
          </a:prstGeom>
          <a:noFill/>
          <a:ln/>
        </p:spPr>
        <p:txBody>
          <a:bodyPr wrap="square" lIns="0" tIns="0" rIns="0" bIns="0" rtlCol="0" anchor="t"/>
          <a:lstStyle/>
          <a:p>
            <a:pPr algn="l" indent="0" marL="0">
              <a:buNone/>
            </a:pPr>
            <a:r>
              <a:rPr lang="en-US" sz="1800" dirty="0">
                <a:solidFill>
                  <a:schemeClr val="bg2"/>
                </a:solidFill>
              </a:rPr>
              <a:t>16 questions: 6 concept · 6 design · 2 troubleshooting · 2 your project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ag-626"/>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 · 1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Automation, backup and DR</a:t>
            </a:r>
            <a:endParaRPr lang="en-US" sz="3200" dirty="0"/>
          </a:p>
        </p:txBody>
      </p:sp>
      <p:sp>
        <p:nvSpPr>
          <p:cNvPr id="4" name="card-627"/>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628"/>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629"/>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630"/>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Define RTO and RPO.</a:t>
            </a:r>
            <a:endParaRPr lang="en-US" sz="1600" dirty="0"/>
          </a:p>
        </p:txBody>
      </p:sp>
      <p:sp>
        <p:nvSpPr>
          <p:cNvPr id="8" name="a-631"/>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RTO: how long until service is restored. RPO: how much data or change you can lose, measured in time. They drive the DR strategy and cost.</a:t>
            </a:r>
            <a:endParaRPr lang="en-US" sz="1500" dirty="0"/>
          </a:p>
        </p:txBody>
      </p:sp>
      <p:sp>
        <p:nvSpPr>
          <p:cNvPr id="9" name="card-632"/>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633"/>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634"/>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635"/>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Compare backup/restore, pilot light, warm standby and active/active.</a:t>
            </a:r>
            <a:endParaRPr lang="en-US" sz="1600" dirty="0"/>
          </a:p>
        </p:txBody>
      </p:sp>
      <p:sp>
        <p:nvSpPr>
          <p:cNvPr id="13" name="a-636"/>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In that order, cost rises and RTO falls: rebuild from backups (hours), minimal core running (minutes to an hour), scaled-down copy (minutes), full capacity in both (near zero).</a:t>
            </a:r>
            <a:endParaRPr lang="en-US" sz="1500" dirty="0"/>
          </a:p>
        </p:txBody>
      </p:sp>
      <p:sp>
        <p:nvSpPr>
          <p:cNvPr id="14" name="card-637"/>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638"/>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639"/>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640"/>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pilot light for this network?</a:t>
            </a:r>
            <a:endParaRPr lang="en-US" sz="1600" dirty="0"/>
          </a:p>
        </p:txBody>
      </p:sp>
      <p:sp>
        <p:nvSpPr>
          <p:cNvPr id="18" name="a-641"/>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Subnets, routes and firewall rules cost nothing at rest, so the DR region's network core is ready for free. Billable parts (tenant DR NAT IPs) are behind one variable.</a:t>
            </a:r>
            <a:endParaRPr lang="en-US" sz="1500" dirty="0"/>
          </a:p>
        </p:txBody>
      </p:sp>
      <p:sp>
        <p:nvSpPr>
          <p:cNvPr id="19" name="card-642"/>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643"/>
          <p:cNvSpPr/>
          <p:nvPr/>
        </p:nvSpPr>
        <p:spPr>
          <a:xfrm>
            <a:off x="6415888" y="4233672"/>
            <a:ext cx="1600200" cy="292608"/>
          </a:xfrm>
          <a:prstGeom prst="roundRect">
            <a:avLst>
              <a:gd name="adj" fmla="val 31250"/>
            </a:avLst>
          </a:prstGeom>
          <a:solidFill>
            <a:schemeClr val="accent3"/>
          </a:solidFill>
          <a:ln w="12700">
            <a:solidFill>
              <a:schemeClr val="accent3"/>
            </a:solidFill>
            <a:prstDash val="solid"/>
          </a:ln>
        </p:spPr>
      </p:sp>
      <p:sp>
        <p:nvSpPr>
          <p:cNvPr id="21" name="pilltxt-644"/>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22" name="q-645"/>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did you make failover need no firewall changes?</a:t>
            </a:r>
            <a:endParaRPr lang="en-US" sz="1600" dirty="0"/>
          </a:p>
        </p:txBody>
      </p:sp>
      <p:sp>
        <p:nvSpPr>
          <p:cNvPr id="23" name="a-646"/>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DR subnets sit inside the existing /16 blocks and rules target service accounts and /16s; the only /20-based rules were widened to include the DR shared-svc range.</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ag-647"/>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 · 2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Automation, backup and DR</a:t>
            </a:r>
            <a:endParaRPr lang="en-US" sz="3200" dirty="0"/>
          </a:p>
        </p:txBody>
      </p:sp>
      <p:sp>
        <p:nvSpPr>
          <p:cNvPr id="4" name="card-648"/>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649"/>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650"/>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651"/>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 you protect Terraform state?</a:t>
            </a:r>
            <a:endParaRPr lang="en-US" sz="1600" dirty="0"/>
          </a:p>
        </p:txBody>
      </p:sp>
      <p:sp>
        <p:nvSpPr>
          <p:cNvPr id="8" name="a-652"/>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Remote backend in a private bucket with object versioning and locking; restore a previous generation if corrupted. Never commit state; it can contain secrets.</a:t>
            </a:r>
            <a:endParaRPr lang="en-US" sz="1500" dirty="0"/>
          </a:p>
        </p:txBody>
      </p:sp>
      <p:sp>
        <p:nvSpPr>
          <p:cNvPr id="9" name="card-653"/>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654"/>
          <p:cNvSpPr/>
          <p:nvPr/>
        </p:nvSpPr>
        <p:spPr>
          <a:xfrm>
            <a:off x="6415888" y="1764792"/>
            <a:ext cx="1600200" cy="292608"/>
          </a:xfrm>
          <a:prstGeom prst="roundRect">
            <a:avLst>
              <a:gd name="adj" fmla="val 31250"/>
            </a:avLst>
          </a:prstGeom>
          <a:solidFill>
            <a:schemeClr val="accent3"/>
          </a:solidFill>
          <a:ln w="12700">
            <a:solidFill>
              <a:schemeClr val="accent3"/>
            </a:solidFill>
            <a:prstDash val="solid"/>
          </a:ln>
        </p:spPr>
      </p:sp>
      <p:sp>
        <p:nvSpPr>
          <p:cNvPr id="11" name="pilltxt-655"/>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2" name="q-656"/>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does the config backup not include Terraform state?</a:t>
            </a:r>
            <a:endParaRPr lang="en-US" sz="1600" dirty="0"/>
          </a:p>
        </p:txBody>
      </p:sp>
      <p:sp>
        <p:nvSpPr>
          <p:cNvPr id="13" name="a-657"/>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State contains secrets (the VPN pre-shared key). Backups record the resource list, serial and lineage only, and VPN secrets are redacted.</a:t>
            </a:r>
            <a:endParaRPr lang="en-US" sz="1500" dirty="0"/>
          </a:p>
        </p:txBody>
      </p:sp>
      <p:sp>
        <p:nvSpPr>
          <p:cNvPr id="14" name="card-658"/>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659"/>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660"/>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661"/>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store backups in the DR region?</a:t>
            </a:r>
            <a:endParaRPr lang="en-US" sz="1600" dirty="0"/>
          </a:p>
        </p:txBody>
      </p:sp>
      <p:sp>
        <p:nvSpPr>
          <p:cNvPr id="18" name="a-662"/>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So a primary-region incident can't take out the evidence needed to recover, and backups survive the failure they're meant for.</a:t>
            </a:r>
            <a:endParaRPr lang="en-US" sz="1500" dirty="0"/>
          </a:p>
        </p:txBody>
      </p:sp>
      <p:sp>
        <p:nvSpPr>
          <p:cNvPr id="19" name="card-663"/>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664"/>
          <p:cNvSpPr/>
          <p:nvPr/>
        </p:nvSpPr>
        <p:spPr>
          <a:xfrm>
            <a:off x="6415888" y="4233672"/>
            <a:ext cx="1600200" cy="292608"/>
          </a:xfrm>
          <a:prstGeom prst="roundRect">
            <a:avLst>
              <a:gd name="adj" fmla="val 31250"/>
            </a:avLst>
          </a:prstGeom>
          <a:solidFill>
            <a:schemeClr val="accent2"/>
          </a:solidFill>
          <a:ln w="12700">
            <a:solidFill>
              <a:schemeClr val="accent2"/>
            </a:solidFill>
            <a:prstDash val="solid"/>
          </a:ln>
        </p:spPr>
      </p:sp>
      <p:sp>
        <p:nvSpPr>
          <p:cNvPr id="21" name="pilltxt-665"/>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22" name="q-666"/>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Walk me through your DR drill.</a:t>
            </a:r>
            <a:endParaRPr lang="en-US" sz="1600" dirty="0"/>
          </a:p>
        </p:txBody>
      </p:sp>
      <p:sp>
        <p:nvSpPr>
          <p:cNvPr id="23" name="a-667"/>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Backed up config, deleted a firewall rule in the fintech project, confirmed impact (BLOCKED), got the drift alert, used backup diff to find the deleted rule, restored with Terraform, confirmed OPEN. RTO 249 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ag-668"/>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 · 3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Automation, backup and DR</a:t>
            </a:r>
            <a:endParaRPr lang="en-US" sz="3200" dirty="0"/>
          </a:p>
        </p:txBody>
      </p:sp>
      <p:sp>
        <p:nvSpPr>
          <p:cNvPr id="4" name="card-669"/>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670"/>
          <p:cNvSpPr/>
          <p:nvPr/>
        </p:nvSpPr>
        <p:spPr>
          <a:xfrm>
            <a:off x="731520" y="1764792"/>
            <a:ext cx="1600200" cy="292608"/>
          </a:xfrm>
          <a:prstGeom prst="roundRect">
            <a:avLst>
              <a:gd name="adj" fmla="val 31250"/>
            </a:avLst>
          </a:prstGeom>
          <a:solidFill>
            <a:schemeClr val="accent1"/>
          </a:solidFill>
          <a:ln w="12700">
            <a:solidFill>
              <a:schemeClr val="accent1"/>
            </a:solidFill>
            <a:prstDash val="solid"/>
          </a:ln>
        </p:spPr>
      </p:sp>
      <p:sp>
        <p:nvSpPr>
          <p:cNvPr id="6" name="pilltxt-671"/>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7" name="q-672"/>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is Workload Identity Federation?</a:t>
            </a:r>
            <a:endParaRPr lang="en-US" sz="1600" dirty="0"/>
          </a:p>
        </p:txBody>
      </p:sp>
      <p:sp>
        <p:nvSpPr>
          <p:cNvPr id="8" name="a-673"/>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Lets external workloads (GitHub, AWS, Azure, OIDC/SAML) exchange their own tokens for short-lived Google credentials via STS. No service account keys.</a:t>
            </a:r>
            <a:endParaRPr lang="en-US" sz="1500" dirty="0"/>
          </a:p>
        </p:txBody>
      </p:sp>
      <p:sp>
        <p:nvSpPr>
          <p:cNvPr id="9" name="card-674"/>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675"/>
          <p:cNvSpPr/>
          <p:nvPr/>
        </p:nvSpPr>
        <p:spPr>
          <a:xfrm>
            <a:off x="6415888" y="1764792"/>
            <a:ext cx="1600200" cy="292608"/>
          </a:xfrm>
          <a:prstGeom prst="roundRect">
            <a:avLst>
              <a:gd name="adj" fmla="val 31250"/>
            </a:avLst>
          </a:prstGeom>
          <a:solidFill>
            <a:schemeClr val="accent1"/>
          </a:solidFill>
          <a:ln w="12700">
            <a:solidFill>
              <a:schemeClr val="accent1"/>
            </a:solidFill>
            <a:prstDash val="solid"/>
          </a:ln>
        </p:spPr>
      </p:sp>
      <p:sp>
        <p:nvSpPr>
          <p:cNvPr id="11" name="pilltxt-676"/>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12" name="q-677"/>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Why is an attribute condition required for GitHub WIF?</a:t>
            </a:r>
            <a:endParaRPr lang="en-US" sz="1600" dirty="0"/>
          </a:p>
        </p:txBody>
      </p:sp>
      <p:sp>
        <p:nvSpPr>
          <p:cNvPr id="13" name="a-678"/>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GitHub's OIDC issuer is shared by every repository. Without a condition on assertion.repository, any repo on GitHub could obtain credentials.</a:t>
            </a:r>
            <a:endParaRPr lang="en-US" sz="1500" dirty="0"/>
          </a:p>
        </p:txBody>
      </p:sp>
      <p:sp>
        <p:nvSpPr>
          <p:cNvPr id="14" name="card-679"/>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680"/>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681"/>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682"/>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Describe your CI/CD flow.</a:t>
            </a:r>
            <a:endParaRPr lang="en-US" sz="1600" dirty="0"/>
          </a:p>
        </p:txBody>
      </p:sp>
      <p:sp>
        <p:nvSpPr>
          <p:cNvPr id="18" name="a-683"/>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PR: fmt, validate, plan, plan posted as a comment. Merge: plan, then apply after approval via a protected 'production' environment. Daily: drift check and config backup.</a:t>
            </a:r>
            <a:endParaRPr lang="en-US" sz="1500" dirty="0"/>
          </a:p>
        </p:txBody>
      </p:sp>
      <p:sp>
        <p:nvSpPr>
          <p:cNvPr id="19" name="card-684"/>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685"/>
          <p:cNvSpPr/>
          <p:nvPr/>
        </p:nvSpPr>
        <p:spPr>
          <a:xfrm>
            <a:off x="6415888" y="4233672"/>
            <a:ext cx="1600200" cy="292608"/>
          </a:xfrm>
          <a:prstGeom prst="roundRect">
            <a:avLst>
              <a:gd name="adj" fmla="val 31250"/>
            </a:avLst>
          </a:prstGeom>
          <a:solidFill>
            <a:schemeClr val="accent1"/>
          </a:solidFill>
          <a:ln w="12700">
            <a:solidFill>
              <a:schemeClr val="accent1"/>
            </a:solidFill>
            <a:prstDash val="solid"/>
          </a:ln>
        </p:spPr>
      </p:sp>
      <p:sp>
        <p:nvSpPr>
          <p:cNvPr id="21" name="pilltxt-686"/>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Concept</a:t>
            </a:r>
            <a:endParaRPr lang="en-US" sz="1200" dirty="0"/>
          </a:p>
        </p:txBody>
      </p:sp>
      <p:sp>
        <p:nvSpPr>
          <p:cNvPr id="22" name="q-687"/>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does terraform plan -detailed-exitcode return?</a:t>
            </a:r>
            <a:endParaRPr lang="en-US" sz="1600" dirty="0"/>
          </a:p>
        </p:txBody>
      </p:sp>
      <p:sp>
        <p:nvSpPr>
          <p:cNvPr id="23" name="a-688"/>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0: no changes. 1: error. 2: success with changes. The scheduled job treats 2 as drift and fails.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ag-689"/>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PHASE 8 · AUTOMATION, BACKUP AND DR · 4 OF 4</a:t>
            </a:r>
            <a:endParaRPr lang="en-US" sz="1100" dirty="0"/>
          </a:p>
        </p:txBody>
      </p:sp>
      <p:sp>
        <p:nvSpPr>
          <p:cNvPr id="3" name="Text 0"/>
          <p:cNvSpPr/>
          <p:nvPr>
            <p:ph idx="100" type="title" hasCustomPrompt="1"/>
          </p:nvPr>
        </p:nvSpPr>
        <p:spPr>
          <a:xfrm>
            <a:off x="548640" y="566928"/>
            <a:ext cx="11094415" cy="777240"/>
          </a:xfrm>
          <a:prstGeom prst="rect">
            <a:avLst/>
          </a:prstGeom>
          <a:noFill/>
          <a:ln/>
        </p:spPr>
        <p:txBody>
          <a:bodyPr wrap="square" lIns="0" tIns="0" rIns="0" bIns="0" rtlCol="0" anchor="t"/>
          <a:lstStyle/>
          <a:p>
            <a:pPr algn="l" indent="0" marL="0">
              <a:buNone/>
            </a:pPr>
            <a:r>
              <a:rPr lang="en-US" sz="3200" b="1" dirty="0">
                <a:solidFill>
                  <a:schemeClr val="tx2"/>
                </a:solidFill>
              </a:rPr>
              <a:t>Automation, backup and DR</a:t>
            </a:r>
            <a:endParaRPr lang="en-US" sz="3200" dirty="0"/>
          </a:p>
        </p:txBody>
      </p:sp>
      <p:sp>
        <p:nvSpPr>
          <p:cNvPr id="4" name="card-690"/>
          <p:cNvSpPr/>
          <p:nvPr/>
        </p:nvSpPr>
        <p:spPr>
          <a:xfrm>
            <a:off x="548640" y="1600200"/>
            <a:ext cx="5410048" cy="2194560"/>
          </a:xfrm>
          <a:prstGeom prst="roundRect">
            <a:avLst>
              <a:gd name="adj" fmla="val 3333"/>
            </a:avLst>
          </a:prstGeom>
          <a:solidFill>
            <a:schemeClr val="bg2"/>
          </a:solidFill>
          <a:ln w="12700">
            <a:solidFill>
              <a:schemeClr val="bg2"/>
            </a:solidFill>
            <a:prstDash val="solid"/>
          </a:ln>
        </p:spPr>
      </p:sp>
      <p:sp>
        <p:nvSpPr>
          <p:cNvPr id="5" name="pill-691"/>
          <p:cNvSpPr/>
          <p:nvPr/>
        </p:nvSpPr>
        <p:spPr>
          <a:xfrm>
            <a:off x="731520" y="1764792"/>
            <a:ext cx="1600200" cy="292608"/>
          </a:xfrm>
          <a:prstGeom prst="roundRect">
            <a:avLst>
              <a:gd name="adj" fmla="val 31250"/>
            </a:avLst>
          </a:prstGeom>
          <a:solidFill>
            <a:schemeClr val="accent5"/>
          </a:solidFill>
          <a:ln w="12700">
            <a:solidFill>
              <a:schemeClr val="accent5"/>
            </a:solidFill>
            <a:prstDash val="solid"/>
          </a:ln>
        </p:spPr>
      </p:sp>
      <p:sp>
        <p:nvSpPr>
          <p:cNvPr id="6" name="pilltxt-692"/>
          <p:cNvSpPr txBox="1"/>
          <p:nvPr/>
        </p:nvSpPr>
        <p:spPr>
          <a:xfrm>
            <a:off x="731520"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7" name="q-693"/>
          <p:cNvSpPr txBox="1"/>
          <p:nvPr/>
        </p:nvSpPr>
        <p:spPr>
          <a:xfrm>
            <a:off x="731520"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CI auth fails: 'must specify exactly one of workload_identity_provider or credentials_json'.</a:t>
            </a:r>
            <a:endParaRPr lang="en-US" sz="1600" dirty="0"/>
          </a:p>
        </p:txBody>
      </p:sp>
      <p:sp>
        <p:nvSpPr>
          <p:cNvPr id="8" name="a-694"/>
          <p:cNvSpPr txBox="1"/>
          <p:nvPr/>
        </p:nvSpPr>
        <p:spPr>
          <a:xfrm>
            <a:off x="731520"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The input was empty. Here the values were environment variables of 'production', which only jobs using that environment read. Moved them to repository variables.</a:t>
            </a:r>
            <a:endParaRPr lang="en-US" sz="1500" dirty="0"/>
          </a:p>
        </p:txBody>
      </p:sp>
      <p:sp>
        <p:nvSpPr>
          <p:cNvPr id="9" name="card-695"/>
          <p:cNvSpPr/>
          <p:nvPr/>
        </p:nvSpPr>
        <p:spPr>
          <a:xfrm>
            <a:off x="6233008" y="1600200"/>
            <a:ext cx="5410048" cy="2194560"/>
          </a:xfrm>
          <a:prstGeom prst="roundRect">
            <a:avLst>
              <a:gd name="adj" fmla="val 3333"/>
            </a:avLst>
          </a:prstGeom>
          <a:solidFill>
            <a:schemeClr val="bg2"/>
          </a:solidFill>
          <a:ln w="12700">
            <a:solidFill>
              <a:schemeClr val="bg2"/>
            </a:solidFill>
            <a:prstDash val="solid"/>
          </a:ln>
        </p:spPr>
      </p:sp>
      <p:sp>
        <p:nvSpPr>
          <p:cNvPr id="10" name="pill-696"/>
          <p:cNvSpPr/>
          <p:nvPr/>
        </p:nvSpPr>
        <p:spPr>
          <a:xfrm>
            <a:off x="6415888" y="1764792"/>
            <a:ext cx="1600200" cy="292608"/>
          </a:xfrm>
          <a:prstGeom prst="roundRect">
            <a:avLst>
              <a:gd name="adj" fmla="val 31250"/>
            </a:avLst>
          </a:prstGeom>
          <a:solidFill>
            <a:schemeClr val="accent5"/>
          </a:solidFill>
          <a:ln w="12700">
            <a:solidFill>
              <a:schemeClr val="accent5"/>
            </a:solidFill>
            <a:prstDash val="solid"/>
          </a:ln>
        </p:spPr>
      </p:sp>
      <p:sp>
        <p:nvSpPr>
          <p:cNvPr id="11" name="pilltxt-697"/>
          <p:cNvSpPr txBox="1"/>
          <p:nvPr/>
        </p:nvSpPr>
        <p:spPr>
          <a:xfrm>
            <a:off x="6415888" y="176479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Troubleshooting</a:t>
            </a:r>
            <a:endParaRPr lang="en-US" sz="1200" dirty="0"/>
          </a:p>
        </p:txBody>
      </p:sp>
      <p:sp>
        <p:nvSpPr>
          <p:cNvPr id="12" name="q-698"/>
          <p:cNvSpPr txBox="1"/>
          <p:nvPr/>
        </p:nvSpPr>
        <p:spPr>
          <a:xfrm>
            <a:off x="6415888" y="2148840"/>
            <a:ext cx="5044288" cy="566928"/>
          </a:xfrm>
          <a:prstGeom prst="rect">
            <a:avLst/>
          </a:prstGeom>
          <a:noFill/>
          <a:ln/>
        </p:spPr>
        <p:txBody>
          <a:bodyPr wrap="square" lIns="0" tIns="0" rIns="0" bIns="0" rtlCol="0" anchor="t"/>
          <a:lstStyle/>
          <a:p>
            <a:pPr indent="0" marL="0">
              <a:buNone/>
            </a:pPr>
            <a:r>
              <a:rPr lang="en-US" sz="1600" b="1" dirty="0">
                <a:solidFill>
                  <a:schemeClr val="tx2"/>
                </a:solidFill>
              </a:rPr>
              <a:t>A scheduled script hangs with no output.</a:t>
            </a:r>
            <a:endParaRPr lang="en-US" sz="1600" dirty="0"/>
          </a:p>
        </p:txBody>
      </p:sp>
      <p:sp>
        <p:nvSpPr>
          <p:cNvPr id="13" name="a-699"/>
          <p:cNvSpPr txBox="1"/>
          <p:nvPr/>
        </p:nvSpPr>
        <p:spPr>
          <a:xfrm>
            <a:off x="6415888" y="2743200"/>
            <a:ext cx="5044288" cy="960120"/>
          </a:xfrm>
          <a:prstGeom prst="rect">
            <a:avLst/>
          </a:prstGeom>
          <a:noFill/>
          <a:ln/>
        </p:spPr>
        <p:txBody>
          <a:bodyPr wrap="square" lIns="0" tIns="0" rIns="0" bIns="0" rtlCol="0" anchor="t"/>
          <a:lstStyle/>
          <a:p>
            <a:pPr indent="0" marL="0">
              <a:buNone/>
            </a:pPr>
            <a:r>
              <a:rPr lang="en-US" sz="1500" dirty="0">
                <a:solidFill>
                  <a:schemeClr val="tx1"/>
                </a:solidFill>
              </a:rPr>
              <a:t>Likely an interactive prompt (gcloud 'enable API? y/N') hidden by output redirection. Set CLOUDSDK_CORE_DISABLE_PROMPTS=1 in unattended scripts.</a:t>
            </a:r>
            <a:endParaRPr lang="en-US" sz="1500" dirty="0"/>
          </a:p>
        </p:txBody>
      </p:sp>
      <p:sp>
        <p:nvSpPr>
          <p:cNvPr id="14" name="card-700"/>
          <p:cNvSpPr/>
          <p:nvPr/>
        </p:nvSpPr>
        <p:spPr>
          <a:xfrm>
            <a:off x="548640" y="4069080"/>
            <a:ext cx="5410048" cy="2194560"/>
          </a:xfrm>
          <a:prstGeom prst="roundRect">
            <a:avLst>
              <a:gd name="adj" fmla="val 3333"/>
            </a:avLst>
          </a:prstGeom>
          <a:solidFill>
            <a:schemeClr val="bg2"/>
          </a:solidFill>
          <a:ln w="12700">
            <a:solidFill>
              <a:schemeClr val="bg2"/>
            </a:solidFill>
            <a:prstDash val="solid"/>
          </a:ln>
        </p:spPr>
      </p:sp>
      <p:sp>
        <p:nvSpPr>
          <p:cNvPr id="15" name="pill-701"/>
          <p:cNvSpPr/>
          <p:nvPr/>
        </p:nvSpPr>
        <p:spPr>
          <a:xfrm>
            <a:off x="731520" y="4233672"/>
            <a:ext cx="1600200" cy="292608"/>
          </a:xfrm>
          <a:prstGeom prst="roundRect">
            <a:avLst>
              <a:gd name="adj" fmla="val 31250"/>
            </a:avLst>
          </a:prstGeom>
          <a:solidFill>
            <a:schemeClr val="accent3"/>
          </a:solidFill>
          <a:ln w="12700">
            <a:solidFill>
              <a:schemeClr val="accent3"/>
            </a:solidFill>
            <a:prstDash val="solid"/>
          </a:ln>
        </p:spPr>
      </p:sp>
      <p:sp>
        <p:nvSpPr>
          <p:cNvPr id="16" name="pilltxt-702"/>
          <p:cNvSpPr txBox="1"/>
          <p:nvPr/>
        </p:nvSpPr>
        <p:spPr>
          <a:xfrm>
            <a:off x="731520"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17" name="q-703"/>
          <p:cNvSpPr txBox="1"/>
          <p:nvPr/>
        </p:nvSpPr>
        <p:spPr>
          <a:xfrm>
            <a:off x="731520"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How do you prevent someone approving their own risky change?</a:t>
            </a:r>
            <a:endParaRPr lang="en-US" sz="1600" dirty="0"/>
          </a:p>
        </p:txBody>
      </p:sp>
      <p:sp>
        <p:nvSpPr>
          <p:cNvPr id="18" name="a-704"/>
          <p:cNvSpPr txBox="1"/>
          <p:nvPr/>
        </p:nvSpPr>
        <p:spPr>
          <a:xfrm>
            <a:off x="731520"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Required reviewers on the environment with 'prevent self-review', branch protection requiring PR approval, and CODEOWNERS for terraform/ paths.</a:t>
            </a:r>
            <a:endParaRPr lang="en-US" sz="1500" dirty="0"/>
          </a:p>
        </p:txBody>
      </p:sp>
      <p:sp>
        <p:nvSpPr>
          <p:cNvPr id="19" name="card-705"/>
          <p:cNvSpPr/>
          <p:nvPr/>
        </p:nvSpPr>
        <p:spPr>
          <a:xfrm>
            <a:off x="6233008" y="4069080"/>
            <a:ext cx="5410048" cy="2194560"/>
          </a:xfrm>
          <a:prstGeom prst="roundRect">
            <a:avLst>
              <a:gd name="adj" fmla="val 3333"/>
            </a:avLst>
          </a:prstGeom>
          <a:solidFill>
            <a:schemeClr val="bg2"/>
          </a:solidFill>
          <a:ln w="12700">
            <a:solidFill>
              <a:schemeClr val="bg2"/>
            </a:solidFill>
            <a:prstDash val="solid"/>
          </a:ln>
        </p:spPr>
      </p:sp>
      <p:sp>
        <p:nvSpPr>
          <p:cNvPr id="20" name="pill-706"/>
          <p:cNvSpPr/>
          <p:nvPr/>
        </p:nvSpPr>
        <p:spPr>
          <a:xfrm>
            <a:off x="6415888" y="4233672"/>
            <a:ext cx="1600200" cy="292608"/>
          </a:xfrm>
          <a:prstGeom prst="roundRect">
            <a:avLst>
              <a:gd name="adj" fmla="val 31250"/>
            </a:avLst>
          </a:prstGeom>
          <a:solidFill>
            <a:schemeClr val="accent2"/>
          </a:solidFill>
          <a:ln w="12700">
            <a:solidFill>
              <a:schemeClr val="accent2"/>
            </a:solidFill>
            <a:prstDash val="solid"/>
          </a:ln>
        </p:spPr>
      </p:sp>
      <p:sp>
        <p:nvSpPr>
          <p:cNvPr id="21" name="pilltxt-707"/>
          <p:cNvSpPr txBox="1"/>
          <p:nvPr/>
        </p:nvSpPr>
        <p:spPr>
          <a:xfrm>
            <a:off x="6415888" y="4233672"/>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Your project</a:t>
            </a:r>
            <a:endParaRPr lang="en-US" sz="1200" dirty="0"/>
          </a:p>
        </p:txBody>
      </p:sp>
      <p:sp>
        <p:nvSpPr>
          <p:cNvPr id="22" name="q-708"/>
          <p:cNvSpPr txBox="1"/>
          <p:nvPr/>
        </p:nvSpPr>
        <p:spPr>
          <a:xfrm>
            <a:off x="6415888" y="4617720"/>
            <a:ext cx="5044288" cy="566928"/>
          </a:xfrm>
          <a:prstGeom prst="rect">
            <a:avLst/>
          </a:prstGeom>
          <a:noFill/>
          <a:ln/>
        </p:spPr>
        <p:txBody>
          <a:bodyPr wrap="square" lIns="0" tIns="0" rIns="0" bIns="0" rtlCol="0" anchor="t"/>
          <a:lstStyle/>
          <a:p>
            <a:pPr indent="0" marL="0">
              <a:buNone/>
            </a:pPr>
            <a:r>
              <a:rPr lang="en-US" sz="1600" b="1" dirty="0">
                <a:solidFill>
                  <a:schemeClr val="tx2"/>
                </a:solidFill>
              </a:rPr>
              <a:t>What would you add next for DR and automation?</a:t>
            </a:r>
            <a:endParaRPr lang="en-US" sz="1600" dirty="0"/>
          </a:p>
        </p:txBody>
      </p:sp>
      <p:sp>
        <p:nvSpPr>
          <p:cNvPr id="23" name="a-709"/>
          <p:cNvSpPr txBox="1"/>
          <p:nvPr/>
        </p:nvSpPr>
        <p:spPr>
          <a:xfrm>
            <a:off x="6415888" y="5212080"/>
            <a:ext cx="5044288" cy="960120"/>
          </a:xfrm>
          <a:prstGeom prst="rect">
            <a:avLst/>
          </a:prstGeom>
          <a:noFill/>
          <a:ln/>
        </p:spPr>
        <p:txBody>
          <a:bodyPr wrap="square" lIns="0" tIns="0" rIns="0" bIns="0" rtlCol="0" anchor="t"/>
          <a:lstStyle/>
          <a:p>
            <a:pPr indent="0" marL="0">
              <a:buNone/>
            </a:pPr>
            <a:r>
              <a:rPr lang="en-US" sz="1500" dirty="0">
                <a:solidFill>
                  <a:schemeClr val="tx1"/>
                </a:solidFill>
              </a:rPr>
              <a:t>A second HA VPN in us-east1, policy-as-code checks in CI (e.g. OPA/conftest or tfsec), plan artifacts reused by apply, and automated monthly drills.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theme/theme1.xml><?xml version="1.0" encoding="utf-8"?>
<a:theme xmlns:a="http://schemas.openxmlformats.org/drawingml/2006/main" name="GCP Network Revision">
  <a:themeElements>
    <a:clrScheme name="GCP Network Revision">
      <a:dk1>
        <a:srgbClr val="14213D"/>
      </a:dk1>
      <a:lt1>
        <a:srgbClr val="FFFFFF"/>
      </a:lt1>
      <a:dk2>
        <a:srgbClr val="102A43"/>
      </a:dk2>
      <a:lt2>
        <a:srgbClr val="EDF2F7"/>
      </a:lt2>
      <a:accent1>
        <a:srgbClr val="0E9AA7"/>
      </a:accent1>
      <a:accent2>
        <a:srgbClr val="F4A621"/>
      </a:accent2>
      <a:accent3>
        <a:srgbClr val="2E6F95"/>
      </a:accent3>
      <a:accent4>
        <a:srgbClr val="6B7C93"/>
      </a:accent4>
      <a:accent5>
        <a:srgbClr val="C8453B"/>
      </a:accent5>
      <a:accent6>
        <a:srgbClr val="3E9E5A"/>
      </a:accent6>
      <a:hlink>
        <a:srgbClr val="0E9AA7"/>
      </a:hlink>
      <a:folHlink>
        <a:srgbClr val="2E6F95"/>
      </a:folHlink>
    </a:clrScheme>
    <a:fontScheme name="GCP Network Re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GCP Multi-Tenant SaaS Network - Interview Questions</dc:title>
  <dc:subject>PptxGenJS Presentation</dc:subject>
  <dc:creator>Daniel Olasupo</dc:creator>
  <cp:lastModifiedBy>Daniel Olasupo</cp:lastModifiedBy>
  <cp:revision>1</cp:revision>
  <dcterms:created xsi:type="dcterms:W3CDTF">2026-10-21T22:21:55Z</dcterms:created>
  <dcterms:modified xsi:type="dcterms:W3CDTF">2026-10-21T22:21:55Z</dcterms:modified>
</cp:coreProperties>
</file>