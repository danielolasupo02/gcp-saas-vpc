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8f28289-f570-f1bd-b5f9-8f16b9c5ced9}">
          <p14:sldIdLst>
            <p14:sldId id="256"/>
            <p14:sldId id="257"/>
          </p14:sldIdLst>
        </p14:section>
        <p14:section name="01. Terraform fundamentals" id="{af26691a-36f0-048e-3159-32e62413632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02. Providers and authentication" id="{41c9f62f-b80e-6cf1-c6ce-32b45f1ab3c2}">
          <p14:sldIdLst>
            <p14:sldId id="264"/>
            <p14:sldId id="265"/>
            <p14:sldId id="266"/>
            <p14:sldId id="267"/>
          </p14:sldIdLst>
        </p14:section>
        <p14:section name="03. State" id="{c959a180-c301-0615-494a-bd0fb938ac6e}">
          <p14:sldIdLst>
            <p14:sldId id="268"/>
            <p14:sldId id="269"/>
            <p14:sldId id="270"/>
            <p14:sldId id="271"/>
            <p14:sldId id="272"/>
          </p14:sldIdLst>
        </p14:section>
        <p14:section name="04. Variables, locals and expressions" id="{53f2abcc-a05c-ee35-bbce-67c8c94a881f}">
          <p14:sldIdLst>
            <p14:sldId id="273"/>
            <p14:sldId id="274"/>
            <p14:sldId id="275"/>
            <p14:sldId id="276"/>
          </p14:sldIdLst>
        </p14:section>
        <p14:section name="05. Modules" id="{9a276f30-3851-217b-a105-b4c47d8cc57c}">
          <p14:sldIdLst>
            <p14:sldId id="277"/>
            <p14:sldId id="278"/>
            <p14:sldId id="279"/>
            <p14:sldId id="280"/>
          </p14:sldIdLst>
        </p14:section>
        <p14:section name="06. Dependencies and lifecycle" id="{e433e2fa-668b-2db1-400f-6dca3a131d74}">
          <p14:sldIdLst>
            <p14:sldId id="281"/>
            <p14:sldId id="282"/>
            <p14:sldId id="283"/>
            <p14:sldId id="284"/>
          </p14:sldIdLst>
        </p14:section>
        <p14:section name="07. Import, refactoring and drift" id="{c8f07496-9351-f318-8445-0898b0921c44}">
          <p14:sldIdLst>
            <p14:sldId id="285"/>
            <p14:sldId id="286"/>
            <p14:sldId id="287"/>
          </p14:sldIdLst>
        </p14:section>
        <p14:section name="08. Terraform in CI/CD" id="{129c7cc3-b058-b314-7b91-d6508c007741}">
          <p14:sldIdLst>
            <p14:sldId id="288"/>
            <p14:sldId id="289"/>
            <p14:sldId id="290"/>
            <p14:sldId id="291"/>
          </p14:sldIdLst>
        </p14:section>
        <p14:section name="Interview questions" id="{a0bcfc3d-5768-001e-8b76-83fa9d01677f}">
          <p14:sldIdLst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Terraform is, the building blocks of a configuration, and the init → plan → apply workflow you ran in every phase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Terraform vs Ansible: Terraform provisions infrastructure declaratively and tracks state; Ansible configures servers procedurally and is mostly stateless. Terraform vs Deployment Manager/CloudFormation: Terraform is multi-cloud and has a huge provider ecosystem.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flags: -parallelism=1 (fewer concurrent API calls; fixed Cloud Shell 'connection refused'), -no-color (clean output for grep), -target (exceptional use only), -refresh-only, -detailed-exitcode (for CI).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Terraform talks to GCP: provider configuration, version pinning, and the keyless impersonation pattern used by both humans and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put credentials in .tf files or tfvars. Google provider credential order: credentials/access_token in the provider block, GOOGLE_CREDENTIALS / GOOGLE_OAUTH_ACCESS_TOKEN env vars, then Application Default Credentials.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and most dangerous part of Terraform: what state is, how it was stored and protected in this project, and the commands used to repair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values flow into the configuration and how the project used for_each, dynamic blocks, conditionals and validation to keep the code data-driven.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for_each keys resources by string, so the address is stable: module.egress["fintech"]. With count, addresses are numeric indexes, and removing an element shifts every later index, causing replacements.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project packaged reusable infrastructure into four local modules, how inputs and outputs connect them, and what makes a module well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Terraform orders operations, when you must step in with depends_on, and how lifecycle rules and pre/postconditions protect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with infrastructure that already exists or changes underneath you: importing, refreshing, removing from state, refactoring addresses, and detecting drift continuously.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the project moved Terraform from a terminal into a reviewed, approved, keyless pipeline, and the practices that make that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48 questions with model answers: fundamentals, state, expressions and modules, lifecycle and operations, CI/CD and security, and questions about your own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Terraform through the gcp-saas-vpc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Terraform, Learned Through a Real Build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Part 1: notes on every Terraform concept used in the gcp-saas-vpc project. Part 2: 48 interview questions with model answers.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OVERVIEW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Terraform in this project at a glance</a:t>
            </a:r>
            <a:endParaRPr lang="en-US" sz="3200" dirty="0"/>
          </a:p>
        </p:txBody>
      </p:sp>
      <p:sp>
        <p:nvSpPr>
          <p:cNvPr id="4" name="stat-2"/>
          <p:cNvSpPr/>
          <p:nvPr/>
        </p:nvSpPr>
        <p:spPr>
          <a:xfrm>
            <a:off x="548640" y="1600200"/>
            <a:ext cx="2567864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atn-3"/>
          <p:cNvSpPr txBox="1"/>
          <p:nvPr/>
        </p:nvSpPr>
        <p:spPr>
          <a:xfrm>
            <a:off x="548640" y="18288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4</a:t>
            </a:r>
            <a:endParaRPr lang="en-US" sz="5400" dirty="0"/>
          </a:p>
        </p:txBody>
      </p:sp>
      <p:sp>
        <p:nvSpPr>
          <p:cNvPr id="6" name="statl-4"/>
          <p:cNvSpPr txBox="1"/>
          <p:nvPr/>
        </p:nvSpPr>
        <p:spPr>
          <a:xfrm>
            <a:off x="731520" y="297180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Reusable modules (vpc, egress, logging, monitoring)</a:t>
            </a:r>
            <a:endParaRPr lang="en-US" sz="1400" dirty="0"/>
          </a:p>
        </p:txBody>
      </p:sp>
      <p:sp>
        <p:nvSpPr>
          <p:cNvPr id="7" name="stat-5"/>
          <p:cNvSpPr/>
          <p:nvPr/>
        </p:nvSpPr>
        <p:spPr>
          <a:xfrm>
            <a:off x="3390824" y="1600200"/>
            <a:ext cx="2567864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atn-6"/>
          <p:cNvSpPr txBox="1"/>
          <p:nvPr/>
        </p:nvSpPr>
        <p:spPr>
          <a:xfrm>
            <a:off x="3390824" y="18288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2</a:t>
            </a:r>
            <a:endParaRPr lang="en-US" sz="5400" dirty="0"/>
          </a:p>
        </p:txBody>
      </p:sp>
      <p:sp>
        <p:nvSpPr>
          <p:cNvPr id="9" name="statl-7"/>
          <p:cNvSpPr txBox="1"/>
          <p:nvPr/>
        </p:nvSpPr>
        <p:spPr>
          <a:xfrm>
            <a:off x="3573704" y="297180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Providers: google and random</a:t>
            </a:r>
            <a:endParaRPr lang="en-US" sz="1400" dirty="0"/>
          </a:p>
        </p:txBody>
      </p:sp>
      <p:sp>
        <p:nvSpPr>
          <p:cNvPr id="10" name="stat-8"/>
          <p:cNvSpPr/>
          <p:nvPr/>
        </p:nvSpPr>
        <p:spPr>
          <a:xfrm>
            <a:off x="6233008" y="1600200"/>
            <a:ext cx="2567864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tatn-9"/>
          <p:cNvSpPr txBox="1"/>
          <p:nvPr/>
        </p:nvSpPr>
        <p:spPr>
          <a:xfrm>
            <a:off x="6233008" y="18288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</a:t>
            </a:r>
            <a:endParaRPr lang="en-US" sz="5400" dirty="0"/>
          </a:p>
        </p:txBody>
      </p:sp>
      <p:sp>
        <p:nvSpPr>
          <p:cNvPr id="12" name="statl-10"/>
          <p:cNvSpPr txBox="1"/>
          <p:nvPr/>
        </p:nvSpPr>
        <p:spPr>
          <a:xfrm>
            <a:off x="6415888" y="297180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Remote state in a versioned GCS bucket</a:t>
            </a:r>
            <a:endParaRPr lang="en-US" sz="1400" dirty="0"/>
          </a:p>
        </p:txBody>
      </p:sp>
      <p:sp>
        <p:nvSpPr>
          <p:cNvPr id="13" name="stat-11"/>
          <p:cNvSpPr/>
          <p:nvPr/>
        </p:nvSpPr>
        <p:spPr>
          <a:xfrm>
            <a:off x="9075191" y="1600200"/>
            <a:ext cx="2567864" cy="2286000"/>
          </a:xfrm>
          <a:prstGeom prst="roundRect">
            <a:avLst>
              <a:gd name="adj" fmla="val 32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4" name="statn-12"/>
          <p:cNvSpPr txBox="1"/>
          <p:nvPr/>
        </p:nvSpPr>
        <p:spPr>
          <a:xfrm>
            <a:off x="9075191" y="1828800"/>
            <a:ext cx="2567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</a:t>
            </a:r>
            <a:endParaRPr lang="en-US" sz="5400" dirty="0"/>
          </a:p>
        </p:txBody>
      </p:sp>
      <p:sp>
        <p:nvSpPr>
          <p:cNvPr id="15" name="statl-13"/>
          <p:cNvSpPr txBox="1"/>
          <p:nvPr/>
        </p:nvSpPr>
        <p:spPr>
          <a:xfrm>
            <a:off x="9258071" y="2971800"/>
            <a:ext cx="2202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Service account keys used</a:t>
            </a:r>
            <a:endParaRPr lang="en-US" sz="1400" dirty="0"/>
          </a:p>
        </p:txBody>
      </p:sp>
      <p:sp>
        <p:nvSpPr>
          <p:cNvPr id="16" name="statpts-14"/>
          <p:cNvSpPr txBox="1"/>
          <p:nvPr/>
        </p:nvSpPr>
        <p:spPr>
          <a:xfrm>
            <a:off x="548640" y="4206240"/>
            <a:ext cx="1109441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Part 1 (8 topics):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fundamentals, providers and auth, state, variables and expressions, modules, lifecycle and guardrails, import and drift, CI/CD.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Part 2: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48 interview questions in 6 groups, ending with questions about your own project.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Tip: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every concept slide has an 'In this project' example; use those as evidence in interviews.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15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01</a:t>
            </a:r>
            <a:endParaRPr lang="en-US" sz="13000" dirty="0"/>
          </a:p>
        </p:txBody>
      </p:sp>
      <p:sp>
        <p:nvSpPr>
          <p:cNvPr id="3" name="sectag-16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1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Terraform fundamentals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What Terraform is, the building blocks of a configuration, and the init → plan → apply workflow you ran in every phase of the project.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1 · TERRAFORM FUNDAMENTALS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Terraform is</a:t>
            </a:r>
            <a:endParaRPr lang="en-US" sz="3200" dirty="0"/>
          </a:p>
        </p:txBody>
      </p:sp>
      <p:sp>
        <p:nvSpPr>
          <p:cNvPr id="5" name="card-18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-19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txt-20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ardh-21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Infrastructure as code</a:t>
            </a:r>
            <a:endParaRPr lang="en-US" sz="1800" dirty="0"/>
          </a:p>
        </p:txBody>
      </p:sp>
      <p:sp>
        <p:nvSpPr>
          <p:cNvPr id="9" name="cardb-22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You describe the desired end state in .tf files; Terraform works out the API calls to reach it. The files live in Git, so every change is reviewed and versioned.</a:t>
            </a:r>
            <a:endParaRPr lang="en-US" sz="1600" dirty="0"/>
          </a:p>
        </p:txBody>
      </p:sp>
      <p:sp>
        <p:nvSpPr>
          <p:cNvPr id="10" name="card-23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-24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txt-25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cardh-26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Declarative</a:t>
            </a:r>
            <a:endParaRPr lang="en-US" sz="1800" dirty="0"/>
          </a:p>
        </p:txBody>
      </p:sp>
      <p:sp>
        <p:nvSpPr>
          <p:cNvPr id="14" name="cardb-27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You say what should exist (a subnet with this CIDR), not the steps. Terraform compares desired state, recorded state and reality, then plans the difference.</a:t>
            </a:r>
            <a:endParaRPr lang="en-US" sz="1600" dirty="0"/>
          </a:p>
        </p:txBody>
      </p:sp>
      <p:sp>
        <p:nvSpPr>
          <p:cNvPr id="15" name="card-28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29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txt-30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cardh-31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Providers</a:t>
            </a:r>
            <a:endParaRPr lang="en-US" sz="1800" dirty="0"/>
          </a:p>
        </p:txBody>
      </p:sp>
      <p:sp>
        <p:nvSpPr>
          <p:cNvPr id="19" name="cardb-32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Plugins that talk to an API. The project used hashicorp/google for GCP and hashicorp/random for the VPN pre-shared key.</a:t>
            </a:r>
            <a:endParaRPr lang="en-US" sz="1600" dirty="0"/>
          </a:p>
        </p:txBody>
      </p:sp>
      <p:sp>
        <p:nvSpPr>
          <p:cNvPr id="20" name="card-33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-34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adgetxt-35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cardh-36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State</a:t>
            </a:r>
            <a:endParaRPr lang="en-US" sz="1800" dirty="0"/>
          </a:p>
        </p:txBody>
      </p:sp>
      <p:sp>
        <p:nvSpPr>
          <p:cNvPr id="24" name="cardb-37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JSON record mapping each resource in your code to the real object (IDs, attributes). It's how Terraform knows what it manages.</a:t>
            </a:r>
            <a:endParaRPr lang="en-US" sz="1600" dirty="0"/>
          </a:p>
        </p:txBody>
      </p:sp>
      <p:sp>
        <p:nvSpPr>
          <p:cNvPr id="25" name="card-38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-39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badgetxt-40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cardh-41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Plan</a:t>
            </a:r>
            <a:endParaRPr lang="en-US" sz="1800" dirty="0"/>
          </a:p>
        </p:txBody>
      </p:sp>
      <p:sp>
        <p:nvSpPr>
          <p:cNvPr id="29" name="cardb-42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preview: + create, ~ update in place, - destroy, -/+ replace. Nothing changes until apply.</a:t>
            </a:r>
            <a:endParaRPr lang="en-US" sz="1600" dirty="0"/>
          </a:p>
        </p:txBody>
      </p:sp>
      <p:sp>
        <p:nvSpPr>
          <p:cNvPr id="30" name="card-43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adge-44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badgetxt-45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cardh-46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Idempotent</a:t>
            </a:r>
            <a:endParaRPr lang="en-US" sz="1800" dirty="0"/>
          </a:p>
        </p:txBody>
      </p:sp>
      <p:sp>
        <p:nvSpPr>
          <p:cNvPr id="34" name="cardb-47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Running apply again with no code change does nothing: 'No changes. Your infrastructure matches the configuration.'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4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1 · TERRAFORM FUNDAMENTALS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Building blocks of a configuration</a:t>
            </a:r>
            <a:endParaRPr lang="en-US" sz="3200" dirty="0"/>
          </a:p>
        </p:txBody>
      </p:sp>
      <p:sp>
        <p:nvSpPr>
          <p:cNvPr id="4" name="card-49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50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51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h-52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resource</a:t>
            </a:r>
            <a:endParaRPr lang="en-US" sz="1800" dirty="0"/>
          </a:p>
        </p:txBody>
      </p:sp>
      <p:sp>
        <p:nvSpPr>
          <p:cNvPr id="8" name="cardb-53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Something Terraform creates and manages: google_compute_subnetwork, google_compute_firewall. Address = type.name, e.g. google_compute_router.bgp.</a:t>
            </a:r>
            <a:endParaRPr lang="en-US" sz="1600" dirty="0"/>
          </a:p>
        </p:txBody>
      </p:sp>
      <p:sp>
        <p:nvSpPr>
          <p:cNvPr id="9" name="card-54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55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txt-56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h-57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</a:t>
            </a:r>
            <a:endParaRPr lang="en-US" sz="1800" dirty="0"/>
          </a:p>
        </p:txBody>
      </p:sp>
      <p:sp>
        <p:nvSpPr>
          <p:cNvPr id="13" name="cardb-58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Reads something that already exists, without managing it: data "google_project" "service" fetched project numbers for the subnet IAM grants.</a:t>
            </a:r>
            <a:endParaRPr lang="en-US" sz="1600" dirty="0"/>
          </a:p>
        </p:txBody>
      </p:sp>
      <p:sp>
        <p:nvSpPr>
          <p:cNvPr id="14" name="card-59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60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txt-61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h-62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variable</a:t>
            </a:r>
            <a:endParaRPr lang="en-US" sz="1800" dirty="0"/>
          </a:p>
        </p:txBody>
      </p:sp>
      <p:sp>
        <p:nvSpPr>
          <p:cNvPr id="18" name="cardb-63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 input: host_project_id, primary_region, enable_hybrid_vpn. Typed, with optional default, description and validation.</a:t>
            </a:r>
            <a:endParaRPr lang="en-US" sz="1600" dirty="0"/>
          </a:p>
        </p:txBody>
      </p:sp>
      <p:sp>
        <p:nvSpPr>
          <p:cNvPr id="19" name="card-64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65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txt-66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h-67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locals</a:t>
            </a:r>
            <a:endParaRPr lang="en-US" sz="1800" dirty="0"/>
          </a:p>
        </p:txBody>
      </p:sp>
      <p:sp>
        <p:nvSpPr>
          <p:cNvPr id="23" name="cardb-68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Named expressions computed once and reused: local.tenants, local.shared_svc_ranges, local.nat_gateways.</a:t>
            </a:r>
            <a:endParaRPr lang="en-US" sz="1600" dirty="0"/>
          </a:p>
        </p:txBody>
      </p:sp>
      <p:sp>
        <p:nvSpPr>
          <p:cNvPr id="24" name="card-69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70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txt-71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cardh-72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output</a:t>
            </a:r>
            <a:endParaRPr lang="en-US" sz="1800" dirty="0"/>
          </a:p>
        </p:txBody>
      </p:sp>
      <p:sp>
        <p:nvSpPr>
          <p:cNvPr id="28" name="cardb-73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Values shown after apply and exported from modules: peering_states, nat_gateways, dr_readiness.</a:t>
            </a:r>
            <a:endParaRPr lang="en-US" sz="1600" dirty="0"/>
          </a:p>
        </p:txBody>
      </p:sp>
      <p:sp>
        <p:nvSpPr>
          <p:cNvPr id="29" name="card-74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-75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txt-76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cardh-77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module</a:t>
            </a:r>
            <a:endParaRPr lang="en-US" sz="1800" dirty="0"/>
          </a:p>
        </p:txBody>
      </p:sp>
      <p:sp>
        <p:nvSpPr>
          <p:cNvPr id="33" name="cardb-78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reusable folder of .tf files with its own inputs and outputs: module "shared_vpc" { source = "./modules/vpc" }.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9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1 · TERRAFORM FUNDAMENTALS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core workflow</a:t>
            </a:r>
            <a:endParaRPr lang="en-US" sz="3200" dirty="0"/>
          </a:p>
        </p:txBody>
      </p:sp>
      <p:sp>
        <p:nvSpPr>
          <p:cNvPr id="5" name="step-80"/>
          <p:cNvSpPr/>
          <p:nvPr/>
        </p:nvSpPr>
        <p:spPr>
          <a:xfrm>
            <a:off x="548640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badge-81"/>
          <p:cNvSpPr/>
          <p:nvPr/>
        </p:nvSpPr>
        <p:spPr>
          <a:xfrm>
            <a:off x="1283178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txt-82"/>
          <p:cNvSpPr txBox="1"/>
          <p:nvPr/>
        </p:nvSpPr>
        <p:spPr>
          <a:xfrm>
            <a:off x="1283178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h-83"/>
          <p:cNvSpPr txBox="1"/>
          <p:nvPr/>
        </p:nvSpPr>
        <p:spPr>
          <a:xfrm>
            <a:off x="658368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terraform init</a:t>
            </a:r>
            <a:endParaRPr lang="en-US" sz="1700" dirty="0"/>
          </a:p>
        </p:txBody>
      </p:sp>
      <p:sp>
        <p:nvSpPr>
          <p:cNvPr id="9" name="stepb-84"/>
          <p:cNvSpPr txBox="1"/>
          <p:nvPr/>
        </p:nvSpPr>
        <p:spPr>
          <a:xfrm>
            <a:off x="685800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Downloads providers and modules, configures the backend (GCS). Re-run after adding a module or changing providers.</a:t>
            </a:r>
            <a:endParaRPr lang="en-US" sz="1500" dirty="0"/>
          </a:p>
        </p:txBody>
      </p:sp>
      <p:sp>
        <p:nvSpPr>
          <p:cNvPr id="10" name="arrow-85"/>
          <p:cNvSpPr/>
          <p:nvPr/>
        </p:nvSpPr>
        <p:spPr>
          <a:xfrm>
            <a:off x="2502347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-86"/>
          <p:cNvSpPr/>
          <p:nvPr/>
        </p:nvSpPr>
        <p:spPr>
          <a:xfrm>
            <a:off x="2849819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badge-87"/>
          <p:cNvSpPr/>
          <p:nvPr/>
        </p:nvSpPr>
        <p:spPr>
          <a:xfrm>
            <a:off x="3584357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txt-88"/>
          <p:cNvSpPr txBox="1"/>
          <p:nvPr/>
        </p:nvSpPr>
        <p:spPr>
          <a:xfrm>
            <a:off x="3584357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teph-89"/>
          <p:cNvSpPr txBox="1"/>
          <p:nvPr/>
        </p:nvSpPr>
        <p:spPr>
          <a:xfrm>
            <a:off x="2959547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fmt and validate</a:t>
            </a:r>
            <a:endParaRPr lang="en-US" sz="1700" dirty="0"/>
          </a:p>
        </p:txBody>
      </p:sp>
      <p:sp>
        <p:nvSpPr>
          <p:cNvPr id="15" name="stepb-90"/>
          <p:cNvSpPr txBox="1"/>
          <p:nvPr/>
        </p:nvSpPr>
        <p:spPr>
          <a:xfrm>
            <a:off x="2986979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fmt rewrites files to the canonical style; validate checks syntax, types and references without calling APIs.</a:t>
            </a:r>
            <a:endParaRPr lang="en-US" sz="1500" dirty="0"/>
          </a:p>
        </p:txBody>
      </p:sp>
      <p:sp>
        <p:nvSpPr>
          <p:cNvPr id="16" name="arrow-91"/>
          <p:cNvSpPr/>
          <p:nvPr/>
        </p:nvSpPr>
        <p:spPr>
          <a:xfrm>
            <a:off x="4803526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-92"/>
          <p:cNvSpPr/>
          <p:nvPr/>
        </p:nvSpPr>
        <p:spPr>
          <a:xfrm>
            <a:off x="5150998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badge-93"/>
          <p:cNvSpPr/>
          <p:nvPr/>
        </p:nvSpPr>
        <p:spPr>
          <a:xfrm>
            <a:off x="5885536" y="17099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badgetxt-94"/>
          <p:cNvSpPr txBox="1"/>
          <p:nvPr/>
        </p:nvSpPr>
        <p:spPr>
          <a:xfrm>
            <a:off x="5885536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teph-95"/>
          <p:cNvSpPr txBox="1"/>
          <p:nvPr/>
        </p:nvSpPr>
        <p:spPr>
          <a:xfrm>
            <a:off x="5260726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plan</a:t>
            </a:r>
            <a:endParaRPr lang="en-US" sz="1700" dirty="0"/>
          </a:p>
        </p:txBody>
      </p:sp>
      <p:sp>
        <p:nvSpPr>
          <p:cNvPr id="21" name="stepb-96"/>
          <p:cNvSpPr txBox="1"/>
          <p:nvPr/>
        </p:nvSpPr>
        <p:spPr>
          <a:xfrm>
            <a:off x="5288158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Refreshes state from the cloud, compares with code, shows the diff. -out=x.tfplan saves it.</a:t>
            </a:r>
            <a:endParaRPr lang="en-US" sz="1500" dirty="0"/>
          </a:p>
        </p:txBody>
      </p:sp>
      <p:sp>
        <p:nvSpPr>
          <p:cNvPr id="22" name="arrow-97"/>
          <p:cNvSpPr/>
          <p:nvPr/>
        </p:nvSpPr>
        <p:spPr>
          <a:xfrm>
            <a:off x="7104705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-98"/>
          <p:cNvSpPr/>
          <p:nvPr/>
        </p:nvSpPr>
        <p:spPr>
          <a:xfrm>
            <a:off x="7452177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badge-99"/>
          <p:cNvSpPr/>
          <p:nvPr/>
        </p:nvSpPr>
        <p:spPr>
          <a:xfrm>
            <a:off x="8186715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txt-100"/>
          <p:cNvSpPr txBox="1"/>
          <p:nvPr/>
        </p:nvSpPr>
        <p:spPr>
          <a:xfrm>
            <a:off x="8186715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teph-101"/>
          <p:cNvSpPr txBox="1"/>
          <p:nvPr/>
        </p:nvSpPr>
        <p:spPr>
          <a:xfrm>
            <a:off x="7561905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apply</a:t>
            </a:r>
            <a:endParaRPr lang="en-US" sz="1700" dirty="0"/>
          </a:p>
        </p:txBody>
      </p:sp>
      <p:sp>
        <p:nvSpPr>
          <p:cNvPr id="27" name="stepb-102"/>
          <p:cNvSpPr txBox="1"/>
          <p:nvPr/>
        </p:nvSpPr>
        <p:spPr>
          <a:xfrm>
            <a:off x="7589337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Executes the plan. Applying a saved plan runs exactly what you reviewed, with no prompt.</a:t>
            </a:r>
            <a:endParaRPr lang="en-US" sz="1500" dirty="0"/>
          </a:p>
        </p:txBody>
      </p:sp>
      <p:sp>
        <p:nvSpPr>
          <p:cNvPr id="28" name="arrow-103"/>
          <p:cNvSpPr/>
          <p:nvPr/>
        </p:nvSpPr>
        <p:spPr>
          <a:xfrm>
            <a:off x="9405884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step-104"/>
          <p:cNvSpPr/>
          <p:nvPr/>
        </p:nvSpPr>
        <p:spPr>
          <a:xfrm>
            <a:off x="9753356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0" name="badge-105"/>
          <p:cNvSpPr/>
          <p:nvPr/>
        </p:nvSpPr>
        <p:spPr>
          <a:xfrm>
            <a:off x="10487894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txt-106"/>
          <p:cNvSpPr txBox="1"/>
          <p:nvPr/>
        </p:nvSpPr>
        <p:spPr>
          <a:xfrm>
            <a:off x="10487894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steph-107"/>
          <p:cNvSpPr txBox="1"/>
          <p:nvPr/>
        </p:nvSpPr>
        <p:spPr>
          <a:xfrm>
            <a:off x="9863084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destroy</a:t>
            </a:r>
            <a:endParaRPr lang="en-US" sz="1700" dirty="0"/>
          </a:p>
        </p:txBody>
      </p:sp>
      <p:sp>
        <p:nvSpPr>
          <p:cNvPr id="33" name="stepb-108"/>
          <p:cNvSpPr txBox="1"/>
          <p:nvPr/>
        </p:nvSpPr>
        <p:spPr>
          <a:xfrm>
            <a:off x="9890516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Plans and deletes everything in state. plan -destroy previews it first.</a:t>
            </a:r>
            <a:endParaRPr lang="en-US" sz="1500" dirty="0"/>
          </a:p>
        </p:txBody>
      </p:sp>
      <p:sp>
        <p:nvSpPr>
          <p:cNvPr id="34" name="belowbox-109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below-110"/>
          <p:cNvSpPr txBox="1"/>
          <p:nvPr/>
        </p:nvSpPr>
        <p:spPr>
          <a:xfrm>
            <a:off x="822960" y="4983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the project: Phase 7 failed at init ('Unreadable module directory') because the new module folders hadn't been uploaded. Init must succeed before validate or plan mean anything, so run steps one at a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1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1 · TERRAFORM FUNDAMENTALS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HCL in practice</a:t>
            </a:r>
            <a:endParaRPr lang="en-US" sz="3200" dirty="0"/>
          </a:p>
        </p:txBody>
      </p:sp>
      <p:sp>
        <p:nvSpPr>
          <p:cNvPr id="4" name="lh-112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Language features the project used</a:t>
            </a:r>
            <a:endParaRPr lang="en-US" sz="1800" dirty="0"/>
          </a:p>
        </p:txBody>
      </p:sp>
      <p:sp>
        <p:nvSpPr>
          <p:cNvPr id="5" name="left-113"/>
          <p:cNvSpPr txBox="1"/>
          <p:nvPr/>
        </p:nvSpPr>
        <p:spPr>
          <a:xfrm>
            <a:off x="54864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Types: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string, number, bool, list, map, object({...}), with optional() attributes for module inputs.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Interpolation: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"nat-${var.name}-ip-${count.index}"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Conditionals: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count = var.enable_hybrid_vpn ? 1 : 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for expressions: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{ for k, v in map : k =&gt; v if v != 0 } to build or filter maps.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Functions: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merge, coalesce, distinct, setsubtract, jsonencode, floor, toset, join.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Splat: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google_compute_address.nat[*].self_link</a:t>
            </a:r>
            <a:endParaRPr lang="en-US" sz="1700" dirty="0"/>
          </a:p>
        </p:txBody>
      </p:sp>
      <p:sp>
        <p:nvSpPr>
          <p:cNvPr id="6" name="panel-114"/>
          <p:cNvSpPr/>
          <p:nvPr/>
        </p:nvSpPr>
        <p:spPr>
          <a:xfrm>
            <a:off x="7315200" y="1600200"/>
            <a:ext cx="4327855" cy="4663440"/>
          </a:xfrm>
          <a:prstGeom prst="roundRect">
            <a:avLst>
              <a:gd name="adj" fmla="val 16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h-115"/>
          <p:cNvSpPr txBox="1"/>
          <p:nvPr/>
        </p:nvSpPr>
        <p:spPr>
          <a:xfrm>
            <a:off x="7589520" y="1828800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this build</a:t>
            </a:r>
            <a:endParaRPr lang="en-US" sz="1800" dirty="0"/>
          </a:p>
        </p:txBody>
      </p:sp>
      <p:sp>
        <p:nvSpPr>
          <p:cNvPr id="8" name="right-116"/>
          <p:cNvSpPr txBox="1"/>
          <p:nvPr/>
        </p:nvSpPr>
        <p:spPr>
          <a:xfrm>
            <a:off x="7589520" y="2377440"/>
            <a:ext cx="377921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jsonencode() built the dashboard JSON from a list of tiles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merge(local.nat_gateways, local.dr_nat_gateways) added DR NAT only when enabled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coalesce() merged per-subnet flow-log overrides onto module defaults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setsubtract() in a precondition checked every required region has a subnet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Heredoc and escaping: "\"" inside LQL filters; [.] instead of \. in regexes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1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1 · TERRAFORM FUNDAMENTALS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fundamentals</a:t>
            </a:r>
            <a:endParaRPr lang="en-US" sz="3200" dirty="0"/>
          </a:p>
        </p:txBody>
      </p:sp>
      <p:sp>
        <p:nvSpPr>
          <p:cNvPr id="4" name="qcard-118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119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120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121"/>
          <p:cNvSpPr txBox="1"/>
          <p:nvPr/>
        </p:nvSpPr>
        <p:spPr>
          <a:xfrm>
            <a:off x="1280160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terraform init do?</a:t>
            </a:r>
            <a:endParaRPr lang="en-US" sz="1600" dirty="0"/>
          </a:p>
        </p:txBody>
      </p:sp>
      <p:sp>
        <p:nvSpPr>
          <p:cNvPr id="8" name="aback-122"/>
          <p:cNvSpPr/>
          <p:nvPr/>
        </p:nvSpPr>
        <p:spPr>
          <a:xfrm>
            <a:off x="685800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123"/>
          <p:cNvSpPr txBox="1"/>
          <p:nvPr/>
        </p:nvSpPr>
        <p:spPr>
          <a:xfrm>
            <a:off x="822960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Installs providers and modules and configures the backend.</a:t>
            </a:r>
            <a:endParaRPr lang="en-US" sz="1500" dirty="0"/>
          </a:p>
        </p:txBody>
      </p:sp>
      <p:sp>
        <p:nvSpPr>
          <p:cNvPr id="10" name="qcard-124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125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126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127"/>
          <p:cNvSpPr txBox="1"/>
          <p:nvPr/>
        </p:nvSpPr>
        <p:spPr>
          <a:xfrm>
            <a:off x="5069738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What's the difference between validate and plan?</a:t>
            </a:r>
            <a:endParaRPr lang="en-US" sz="1600" dirty="0"/>
          </a:p>
        </p:txBody>
      </p:sp>
      <p:sp>
        <p:nvSpPr>
          <p:cNvPr id="14" name="aback-128"/>
          <p:cNvSpPr/>
          <p:nvPr/>
        </p:nvSpPr>
        <p:spPr>
          <a:xfrm>
            <a:off x="4475378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129"/>
          <p:cNvSpPr txBox="1"/>
          <p:nvPr/>
        </p:nvSpPr>
        <p:spPr>
          <a:xfrm>
            <a:off x="4612538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validate checks the code offline; plan also reads real state and shows changes.</a:t>
            </a:r>
            <a:endParaRPr lang="en-US" sz="1500" dirty="0"/>
          </a:p>
        </p:txBody>
      </p:sp>
      <p:sp>
        <p:nvSpPr>
          <p:cNvPr id="16" name="qcard-130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131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132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133"/>
          <p:cNvSpPr txBox="1"/>
          <p:nvPr/>
        </p:nvSpPr>
        <p:spPr>
          <a:xfrm>
            <a:off x="8859317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resource vs data block?</a:t>
            </a:r>
            <a:endParaRPr lang="en-US" sz="1600" dirty="0"/>
          </a:p>
        </p:txBody>
      </p:sp>
      <p:sp>
        <p:nvSpPr>
          <p:cNvPr id="20" name="aback-134"/>
          <p:cNvSpPr/>
          <p:nvPr/>
        </p:nvSpPr>
        <p:spPr>
          <a:xfrm>
            <a:off x="8264957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135"/>
          <p:cNvSpPr txBox="1"/>
          <p:nvPr/>
        </p:nvSpPr>
        <p:spPr>
          <a:xfrm>
            <a:off x="8402117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resource is managed (created/updated/deleted); data only reads existing objects.</a:t>
            </a:r>
            <a:endParaRPr lang="en-US" sz="1500" dirty="0"/>
          </a:p>
        </p:txBody>
      </p:sp>
      <p:sp>
        <p:nvSpPr>
          <p:cNvPr id="22" name="qcard-136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137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138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139"/>
          <p:cNvSpPr txBox="1"/>
          <p:nvPr/>
        </p:nvSpPr>
        <p:spPr>
          <a:xfrm>
            <a:off x="1280160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'-/+' mean in a plan?</a:t>
            </a:r>
            <a:endParaRPr lang="en-US" sz="1600" dirty="0"/>
          </a:p>
        </p:txBody>
      </p:sp>
      <p:sp>
        <p:nvSpPr>
          <p:cNvPr id="26" name="aback-140"/>
          <p:cNvSpPr/>
          <p:nvPr/>
        </p:nvSpPr>
        <p:spPr>
          <a:xfrm>
            <a:off x="685800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141"/>
          <p:cNvSpPr txBox="1"/>
          <p:nvPr/>
        </p:nvSpPr>
        <p:spPr>
          <a:xfrm>
            <a:off x="822960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resource will be replaced: destroyed and recreated, usually because an immutable attribute changed.</a:t>
            </a:r>
            <a:endParaRPr lang="en-US" sz="1500" dirty="0"/>
          </a:p>
        </p:txBody>
      </p:sp>
      <p:sp>
        <p:nvSpPr>
          <p:cNvPr id="28" name="qcard-142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badge-143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badgetxt-144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1" name="q-145"/>
          <p:cNvSpPr txBox="1"/>
          <p:nvPr/>
        </p:nvSpPr>
        <p:spPr>
          <a:xfrm>
            <a:off x="5069738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save a plan with -out?</a:t>
            </a:r>
            <a:endParaRPr lang="en-US" sz="1600" dirty="0"/>
          </a:p>
        </p:txBody>
      </p:sp>
      <p:sp>
        <p:nvSpPr>
          <p:cNvPr id="32" name="aback-146"/>
          <p:cNvSpPr/>
          <p:nvPr/>
        </p:nvSpPr>
        <p:spPr>
          <a:xfrm>
            <a:off x="4475378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-147"/>
          <p:cNvSpPr txBox="1"/>
          <p:nvPr/>
        </p:nvSpPr>
        <p:spPr>
          <a:xfrm>
            <a:off x="4612538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So apply executes exactly what was reviewed, even if code or reality changes in between.</a:t>
            </a:r>
            <a:endParaRPr lang="en-US" sz="1500" dirty="0"/>
          </a:p>
        </p:txBody>
      </p:sp>
      <p:sp>
        <p:nvSpPr>
          <p:cNvPr id="34" name="qcard-148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badge-149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badgetxt-150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7" name="q-151"/>
          <p:cNvSpPr txBox="1"/>
          <p:nvPr/>
        </p:nvSpPr>
        <p:spPr>
          <a:xfrm>
            <a:off x="8859317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makes Terraform declarative?</a:t>
            </a:r>
            <a:endParaRPr lang="en-US" sz="1600" dirty="0"/>
          </a:p>
        </p:txBody>
      </p:sp>
      <p:sp>
        <p:nvSpPr>
          <p:cNvPr id="38" name="aback-152"/>
          <p:cNvSpPr/>
          <p:nvPr/>
        </p:nvSpPr>
        <p:spPr>
          <a:xfrm>
            <a:off x="8264957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a-153"/>
          <p:cNvSpPr txBox="1"/>
          <p:nvPr/>
        </p:nvSpPr>
        <p:spPr>
          <a:xfrm>
            <a:off x="8402117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You describe the end state; Terraform computes the steps.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154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02</a:t>
            </a:r>
            <a:endParaRPr lang="en-US" sz="13000" dirty="0"/>
          </a:p>
        </p:txBody>
      </p:sp>
      <p:sp>
        <p:nvSpPr>
          <p:cNvPr id="3" name="sectag-155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2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Providers and authentication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Terraform talks to GCP: provider configuration, version pinning, and the keyless impersonation pattern used by both humans and CI.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56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2 · PROVIDERS AND AUTHENTICATION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Provider configuration</a:t>
            </a:r>
            <a:endParaRPr lang="en-US" sz="3200" dirty="0"/>
          </a:p>
        </p:txBody>
      </p:sp>
      <p:sp>
        <p:nvSpPr>
          <p:cNvPr id="4" name="lh-157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What each piece does</a:t>
            </a:r>
            <a:endParaRPr lang="en-US" sz="1800" dirty="0"/>
          </a:p>
        </p:txBody>
      </p:sp>
      <p:sp>
        <p:nvSpPr>
          <p:cNvPr id="5" name="left-158"/>
          <p:cNvSpPr txBox="1"/>
          <p:nvPr/>
        </p:nvSpPr>
        <p:spPr>
          <a:xfrm>
            <a:off x="54864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required_providers: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source and version constraints, e.g. google "&gt;= 6.0, &lt; 8.0". Constraints stop surprise major upgrades.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required_version: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minimum Terraform CLI version (&gt;= 1.5.0) because the code uses optional() and check-style features.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provider block: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default project and region, so resources only set project when they differ.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Lock file: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.terraform.lock.hcl records exact provider versions and hashes; commit it so everyone and CI use the same build.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init -upgrade: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picks the newest versions allowed by the constraints.</a:t>
            </a:r>
            <a:endParaRPr lang="en-US" sz="1700" dirty="0"/>
          </a:p>
        </p:txBody>
      </p:sp>
      <p:sp>
        <p:nvSpPr>
          <p:cNvPr id="6" name="panel-159"/>
          <p:cNvSpPr/>
          <p:nvPr/>
        </p:nvSpPr>
        <p:spPr>
          <a:xfrm>
            <a:off x="7315200" y="1600200"/>
            <a:ext cx="4327855" cy="4663440"/>
          </a:xfrm>
          <a:prstGeom prst="roundRect">
            <a:avLst>
              <a:gd name="adj" fmla="val 16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h-160"/>
          <p:cNvSpPr txBox="1"/>
          <p:nvPr/>
        </p:nvSpPr>
        <p:spPr>
          <a:xfrm>
            <a:off x="7589520" y="1828800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this build</a:t>
            </a:r>
            <a:endParaRPr lang="en-US" sz="1800" dirty="0"/>
          </a:p>
        </p:txBody>
      </p:sp>
      <p:sp>
        <p:nvSpPr>
          <p:cNvPr id="8" name="right-161"/>
          <p:cNvSpPr txBox="1"/>
          <p:nvPr/>
        </p:nvSpPr>
        <p:spPr>
          <a:xfrm>
            <a:off x="7589520" y="2377440"/>
            <a:ext cx="377921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versions.tf: google &gt;= 6.0, &lt; 8.0; random &gt;= 3.5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providers.tf: project = var.host_project_id, region = var.primary_region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impersonate_service_account = var.terraform_sa_email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Resources in tenant projects set project = each.value.project_id explicitly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Phase 6 added hashicorp/random for the VPN PSK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62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2 · PROVIDERS AND AUTHENTICATION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Keyless authentication chain</a:t>
            </a:r>
            <a:endParaRPr lang="en-US" sz="3200" dirty="0"/>
          </a:p>
        </p:txBody>
      </p:sp>
      <p:sp>
        <p:nvSpPr>
          <p:cNvPr id="5" name="step-163"/>
          <p:cNvSpPr/>
          <p:nvPr/>
        </p:nvSpPr>
        <p:spPr>
          <a:xfrm>
            <a:off x="548640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badge-164"/>
          <p:cNvSpPr/>
          <p:nvPr/>
        </p:nvSpPr>
        <p:spPr>
          <a:xfrm>
            <a:off x="1570825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txt-165"/>
          <p:cNvSpPr txBox="1"/>
          <p:nvPr/>
        </p:nvSpPr>
        <p:spPr>
          <a:xfrm>
            <a:off x="1570825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steph-166"/>
          <p:cNvSpPr txBox="1"/>
          <p:nvPr/>
        </p:nvSpPr>
        <p:spPr>
          <a:xfrm>
            <a:off x="658368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Your credentials</a:t>
            </a:r>
            <a:endParaRPr lang="en-US" sz="1700" dirty="0"/>
          </a:p>
        </p:txBody>
      </p:sp>
      <p:sp>
        <p:nvSpPr>
          <p:cNvPr id="9" name="stepb-167"/>
          <p:cNvSpPr txBox="1"/>
          <p:nvPr/>
        </p:nvSpPr>
        <p:spPr>
          <a:xfrm>
            <a:off x="685800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 Cloud Shell: your Google login (Application Default Credentials). In CI: a GitHub OIDC token via WIF.</a:t>
            </a:r>
            <a:endParaRPr lang="en-US" sz="1600" dirty="0"/>
          </a:p>
        </p:txBody>
      </p:sp>
      <p:sp>
        <p:nvSpPr>
          <p:cNvPr id="10" name="arrow-168"/>
          <p:cNvSpPr/>
          <p:nvPr/>
        </p:nvSpPr>
        <p:spPr>
          <a:xfrm>
            <a:off x="3077642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-169"/>
          <p:cNvSpPr/>
          <p:nvPr/>
        </p:nvSpPr>
        <p:spPr>
          <a:xfrm>
            <a:off x="3425114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badge-170"/>
          <p:cNvSpPr/>
          <p:nvPr/>
        </p:nvSpPr>
        <p:spPr>
          <a:xfrm>
            <a:off x="4447299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badgetxt-171"/>
          <p:cNvSpPr txBox="1"/>
          <p:nvPr/>
        </p:nvSpPr>
        <p:spPr>
          <a:xfrm>
            <a:off x="4447299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steph-172"/>
          <p:cNvSpPr txBox="1"/>
          <p:nvPr/>
        </p:nvSpPr>
        <p:spPr>
          <a:xfrm>
            <a:off x="3534842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Token Creator</a:t>
            </a:r>
            <a:endParaRPr lang="en-US" sz="1700" dirty="0"/>
          </a:p>
        </p:txBody>
      </p:sp>
      <p:sp>
        <p:nvSpPr>
          <p:cNvPr id="15" name="stepb-173"/>
          <p:cNvSpPr txBox="1"/>
          <p:nvPr/>
        </p:nvSpPr>
        <p:spPr>
          <a:xfrm>
            <a:off x="3562274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You (or github-ci-sa) hold the Token Creator role on network-admin-sa.</a:t>
            </a:r>
            <a:endParaRPr lang="en-US" sz="1600" dirty="0"/>
          </a:p>
        </p:txBody>
      </p:sp>
      <p:sp>
        <p:nvSpPr>
          <p:cNvPr id="16" name="arrow-174"/>
          <p:cNvSpPr/>
          <p:nvPr/>
        </p:nvSpPr>
        <p:spPr>
          <a:xfrm>
            <a:off x="5954116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7" name="step-175"/>
          <p:cNvSpPr/>
          <p:nvPr/>
        </p:nvSpPr>
        <p:spPr>
          <a:xfrm>
            <a:off x="6301588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8" name="badge-176"/>
          <p:cNvSpPr/>
          <p:nvPr/>
        </p:nvSpPr>
        <p:spPr>
          <a:xfrm>
            <a:off x="7323773" y="17099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badgetxt-177"/>
          <p:cNvSpPr txBox="1"/>
          <p:nvPr/>
        </p:nvSpPr>
        <p:spPr>
          <a:xfrm>
            <a:off x="7323773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steph-178"/>
          <p:cNvSpPr txBox="1"/>
          <p:nvPr/>
        </p:nvSpPr>
        <p:spPr>
          <a:xfrm>
            <a:off x="6411316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Impersonation</a:t>
            </a:r>
            <a:endParaRPr lang="en-US" sz="1700" dirty="0"/>
          </a:p>
        </p:txBody>
      </p:sp>
      <p:sp>
        <p:nvSpPr>
          <p:cNvPr id="21" name="stepb-179"/>
          <p:cNvSpPr txBox="1"/>
          <p:nvPr/>
        </p:nvSpPr>
        <p:spPr>
          <a:xfrm>
            <a:off x="6438748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Provider and backend request a short-lived token for network-admin-sa.</a:t>
            </a:r>
            <a:endParaRPr lang="en-US" sz="1600" dirty="0"/>
          </a:p>
        </p:txBody>
      </p:sp>
      <p:sp>
        <p:nvSpPr>
          <p:cNvPr id="22" name="arrow-180"/>
          <p:cNvSpPr/>
          <p:nvPr/>
        </p:nvSpPr>
        <p:spPr>
          <a:xfrm>
            <a:off x="8830589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-181"/>
          <p:cNvSpPr/>
          <p:nvPr/>
        </p:nvSpPr>
        <p:spPr>
          <a:xfrm>
            <a:off x="9178061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4" name="badge-182"/>
          <p:cNvSpPr/>
          <p:nvPr/>
        </p:nvSpPr>
        <p:spPr>
          <a:xfrm>
            <a:off x="10200246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badgetxt-183"/>
          <p:cNvSpPr txBox="1"/>
          <p:nvPr/>
        </p:nvSpPr>
        <p:spPr>
          <a:xfrm>
            <a:off x="10200246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teph-184"/>
          <p:cNvSpPr txBox="1"/>
          <p:nvPr/>
        </p:nvSpPr>
        <p:spPr>
          <a:xfrm>
            <a:off x="9287789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API calls</a:t>
            </a:r>
            <a:endParaRPr lang="en-US" sz="1700" dirty="0"/>
          </a:p>
        </p:txBody>
      </p:sp>
      <p:sp>
        <p:nvSpPr>
          <p:cNvPr id="27" name="stepb-185"/>
          <p:cNvSpPr txBox="1"/>
          <p:nvPr/>
        </p:nvSpPr>
        <p:spPr>
          <a:xfrm>
            <a:off x="9315221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Every create/update runs as network-admin-sa; audit logs show both identities.</a:t>
            </a:r>
            <a:endParaRPr lang="en-US" sz="1600" dirty="0"/>
          </a:p>
        </p:txBody>
      </p:sp>
      <p:sp>
        <p:nvSpPr>
          <p:cNvPr id="28" name="belowbox-186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below-187"/>
          <p:cNvSpPr txBox="1"/>
          <p:nvPr/>
        </p:nvSpPr>
        <p:spPr>
          <a:xfrm>
            <a:off x="822960" y="4983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backend authenticates separately from the provider: backend.tf also sets impersonate_service_account, because state is read before any provider config is evaluated. When Cloud Shell's metadata credentials broke, exporting GOOGLE_OAUTH_ACCESS_TOKEN fixed both.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18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2 · PROVIDERS AND AUTHENTICATION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providers</a:t>
            </a:r>
            <a:endParaRPr lang="en-US" sz="3200" dirty="0"/>
          </a:p>
        </p:txBody>
      </p:sp>
      <p:sp>
        <p:nvSpPr>
          <p:cNvPr id="4" name="qcard-189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190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191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192"/>
          <p:cNvSpPr txBox="1"/>
          <p:nvPr/>
        </p:nvSpPr>
        <p:spPr>
          <a:xfrm>
            <a:off x="1280160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pin provider versions with a range?</a:t>
            </a:r>
            <a:endParaRPr lang="en-US" sz="1600" dirty="0"/>
          </a:p>
        </p:txBody>
      </p:sp>
      <p:sp>
        <p:nvSpPr>
          <p:cNvPr id="8" name="aback-193"/>
          <p:cNvSpPr/>
          <p:nvPr/>
        </p:nvSpPr>
        <p:spPr>
          <a:xfrm>
            <a:off x="685800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194"/>
          <p:cNvSpPr txBox="1"/>
          <p:nvPr/>
        </p:nvSpPr>
        <p:spPr>
          <a:xfrm>
            <a:off x="822960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 get patches without surprise breaking changes from a new major version.</a:t>
            </a:r>
            <a:endParaRPr lang="en-US" sz="1500" dirty="0"/>
          </a:p>
        </p:txBody>
      </p:sp>
      <p:sp>
        <p:nvSpPr>
          <p:cNvPr id="10" name="qcard-195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196"/>
          <p:cNvSpPr/>
          <p:nvPr/>
        </p:nvSpPr>
        <p:spPr>
          <a:xfrm>
            <a:off x="641588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197"/>
          <p:cNvSpPr txBox="1"/>
          <p:nvPr/>
        </p:nvSpPr>
        <p:spPr>
          <a:xfrm>
            <a:off x="641588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198"/>
          <p:cNvSpPr txBox="1"/>
          <p:nvPr/>
        </p:nvSpPr>
        <p:spPr>
          <a:xfrm>
            <a:off x="6964528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.terraform.lock.hcl for?</a:t>
            </a:r>
            <a:endParaRPr lang="en-US" sz="1600" dirty="0"/>
          </a:p>
        </p:txBody>
      </p:sp>
      <p:sp>
        <p:nvSpPr>
          <p:cNvPr id="14" name="aback-199"/>
          <p:cNvSpPr/>
          <p:nvPr/>
        </p:nvSpPr>
        <p:spPr>
          <a:xfrm>
            <a:off x="6370168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200"/>
          <p:cNvSpPr txBox="1"/>
          <p:nvPr/>
        </p:nvSpPr>
        <p:spPr>
          <a:xfrm>
            <a:off x="6507328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Recording exact provider versions and checksums so every run uses the same build.</a:t>
            </a:r>
            <a:endParaRPr lang="en-US" sz="1500" dirty="0"/>
          </a:p>
        </p:txBody>
      </p:sp>
      <p:sp>
        <p:nvSpPr>
          <p:cNvPr id="16" name="qcard-201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202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203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204"/>
          <p:cNvSpPr txBox="1"/>
          <p:nvPr/>
        </p:nvSpPr>
        <p:spPr>
          <a:xfrm>
            <a:off x="1280160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does the backend need its own impersonation setting?</a:t>
            </a:r>
            <a:endParaRPr lang="en-US" sz="1600" dirty="0"/>
          </a:p>
        </p:txBody>
      </p:sp>
      <p:sp>
        <p:nvSpPr>
          <p:cNvPr id="20" name="aback-205"/>
          <p:cNvSpPr/>
          <p:nvPr/>
        </p:nvSpPr>
        <p:spPr>
          <a:xfrm>
            <a:off x="685800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206"/>
          <p:cNvSpPr txBox="1"/>
          <p:nvPr/>
        </p:nvSpPr>
        <p:spPr>
          <a:xfrm>
            <a:off x="822960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State is accessed before provider configuration is used.</a:t>
            </a:r>
            <a:endParaRPr lang="en-US" sz="1500" dirty="0"/>
          </a:p>
        </p:txBody>
      </p:sp>
      <p:sp>
        <p:nvSpPr>
          <p:cNvPr id="22" name="qcard-207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208"/>
          <p:cNvSpPr/>
          <p:nvPr/>
        </p:nvSpPr>
        <p:spPr>
          <a:xfrm>
            <a:off x="641588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209"/>
          <p:cNvSpPr txBox="1"/>
          <p:nvPr/>
        </p:nvSpPr>
        <p:spPr>
          <a:xfrm>
            <a:off x="641588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210"/>
          <p:cNvSpPr txBox="1"/>
          <p:nvPr/>
        </p:nvSpPr>
        <p:spPr>
          <a:xfrm>
            <a:off x="6964528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Where should credentials come from?</a:t>
            </a:r>
            <a:endParaRPr lang="en-US" sz="1600" dirty="0"/>
          </a:p>
        </p:txBody>
      </p:sp>
      <p:sp>
        <p:nvSpPr>
          <p:cNvPr id="26" name="aback-211"/>
          <p:cNvSpPr/>
          <p:nvPr/>
        </p:nvSpPr>
        <p:spPr>
          <a:xfrm>
            <a:off x="6370168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212"/>
          <p:cNvSpPr txBox="1"/>
          <p:nvPr/>
        </p:nvSpPr>
        <p:spPr>
          <a:xfrm>
            <a:off x="6507328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Environment or ADC, impersonation or federation; never hard-coded.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213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03</a:t>
            </a:r>
            <a:endParaRPr lang="en-US" sz="13000" dirty="0"/>
          </a:p>
        </p:txBody>
      </p:sp>
      <p:sp>
        <p:nvSpPr>
          <p:cNvPr id="3" name="sectag-214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3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State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most important and most dangerous part of Terraform: what state is, how it was stored and protected in this project, and the commands used to repair 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215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3 · 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Understanding state</a:t>
            </a:r>
            <a:endParaRPr lang="en-US" sz="3200" dirty="0"/>
          </a:p>
        </p:txBody>
      </p:sp>
      <p:sp>
        <p:nvSpPr>
          <p:cNvPr id="4" name="card-216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217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218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h-219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it records</a:t>
            </a:r>
            <a:endParaRPr lang="en-US" sz="1800" dirty="0"/>
          </a:p>
        </p:txBody>
      </p:sp>
      <p:sp>
        <p:nvSpPr>
          <p:cNvPr id="8" name="cardb-220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Each resource address, its real ID and attributes, dependencies, and metadata (serial, lineage). Terraform's memory of what it manages.</a:t>
            </a:r>
            <a:endParaRPr lang="en-US" sz="1600" dirty="0"/>
          </a:p>
        </p:txBody>
      </p:sp>
      <p:sp>
        <p:nvSpPr>
          <p:cNvPr id="9" name="card-221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222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txt-223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h-224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Remote backend</a:t>
            </a:r>
            <a:endParaRPr lang="en-US" sz="1800" dirty="0"/>
          </a:p>
        </p:txBody>
      </p:sp>
      <p:sp>
        <p:nvSpPr>
          <p:cNvPr id="13" name="cardb-225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backend "gcs" { bucket = saas-vpc-host-2022-tfstate, prefix = network }. One shared copy instead of files on laptops.</a:t>
            </a:r>
            <a:endParaRPr lang="en-US" sz="1600" dirty="0"/>
          </a:p>
        </p:txBody>
      </p:sp>
      <p:sp>
        <p:nvSpPr>
          <p:cNvPr id="14" name="card-226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227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txt-228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h-229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Locking</a:t>
            </a:r>
            <a:endParaRPr lang="en-US" sz="1800" dirty="0"/>
          </a:p>
        </p:txBody>
      </p:sp>
      <p:sp>
        <p:nvSpPr>
          <p:cNvPr id="18" name="cardb-230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GCS backend locks during plan and apply so two runs can't write at once. A crash can leave a lock: terraform force-unlock ID.</a:t>
            </a:r>
            <a:endParaRPr lang="en-US" sz="1600" dirty="0"/>
          </a:p>
        </p:txBody>
      </p:sp>
      <p:sp>
        <p:nvSpPr>
          <p:cNvPr id="19" name="card-231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232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txt-233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h-234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Versioning</a:t>
            </a:r>
            <a:endParaRPr lang="en-US" sz="1800" dirty="0"/>
          </a:p>
        </p:txBody>
      </p:sp>
      <p:sp>
        <p:nvSpPr>
          <p:cNvPr id="23" name="cardb-235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Bucket object versioning keeps every previous state; a corrupted state is restored by copying back an older generation.</a:t>
            </a:r>
            <a:endParaRPr lang="en-US" sz="1600" dirty="0"/>
          </a:p>
        </p:txBody>
      </p:sp>
      <p:sp>
        <p:nvSpPr>
          <p:cNvPr id="24" name="card-236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237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txt-238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cardh-239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Secrets in state</a:t>
            </a:r>
            <a:endParaRPr lang="en-US" sz="1800" dirty="0"/>
          </a:p>
        </p:txBody>
      </p:sp>
      <p:sp>
        <p:nvSpPr>
          <p:cNvPr id="28" name="cardb-240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Attributes are stored in plain text, including the VPN pre-shared key from random_password. Keep the bucket private; never commit state.</a:t>
            </a:r>
            <a:endParaRPr lang="en-US" sz="1600" dirty="0"/>
          </a:p>
        </p:txBody>
      </p:sp>
      <p:sp>
        <p:nvSpPr>
          <p:cNvPr id="29" name="card-241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-242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txt-243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cardh-244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 limits</a:t>
            </a:r>
            <a:endParaRPr lang="en-US" sz="1800" dirty="0"/>
          </a:p>
        </p:txBody>
      </p:sp>
      <p:sp>
        <p:nvSpPr>
          <p:cNvPr id="33" name="cardb-245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Backend blocks can't use variables; values are hard-coded (or passed with -backend-config).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246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3 · 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State commands you used</a:t>
            </a:r>
            <a:endParaRPr lang="en-US" sz="3200" dirty="0"/>
          </a:p>
        </p:txBody>
      </p:sp>
      <p:graphicFrame>
        <p:nvGraphicFramePr>
          <p:cNvPr id="16" name="table-2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657600"/>
                <a:gridCol w="35021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Command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When you used it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import ADDR ID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Adopts an existing object into state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Phase 5: org policy already existed (409)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apply -refresh-only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Updates state to match reality, no infra change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Phase 4: peering outputs showed INACTIVE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state rm ADDR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Stops managing an object without deleting it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Teardown: keep the key-creation org policy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state list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Lists every managed address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Backup script inventory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state pull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Prints the current remote state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Backup recorded serial and lineage only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terraform force-unlock ID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Removes a stuck lock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After an interrupted apply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24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3 · 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Drift: when reality and state disagree</a:t>
            </a:r>
            <a:endParaRPr lang="en-US" sz="3200" dirty="0"/>
          </a:p>
        </p:txBody>
      </p:sp>
      <p:sp>
        <p:nvSpPr>
          <p:cNvPr id="4" name="step-249"/>
          <p:cNvSpPr/>
          <p:nvPr/>
        </p:nvSpPr>
        <p:spPr>
          <a:xfrm>
            <a:off x="548640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250"/>
          <p:cNvSpPr/>
          <p:nvPr/>
        </p:nvSpPr>
        <p:spPr>
          <a:xfrm>
            <a:off x="1570825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251"/>
          <p:cNvSpPr txBox="1"/>
          <p:nvPr/>
        </p:nvSpPr>
        <p:spPr>
          <a:xfrm>
            <a:off x="1570825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h-252"/>
          <p:cNvSpPr txBox="1"/>
          <p:nvPr/>
        </p:nvSpPr>
        <p:spPr>
          <a:xfrm>
            <a:off x="658368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Change outside Terraform</a:t>
            </a:r>
            <a:endParaRPr lang="en-US" sz="1700" dirty="0"/>
          </a:p>
        </p:txBody>
      </p:sp>
      <p:sp>
        <p:nvSpPr>
          <p:cNvPr id="8" name="stepb-253"/>
          <p:cNvSpPr txBox="1"/>
          <p:nvPr/>
        </p:nvSpPr>
        <p:spPr>
          <a:xfrm>
            <a:off x="685800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Someone edits in the console or with gcloud (your drill deleted a firewall rule).</a:t>
            </a:r>
            <a:endParaRPr lang="en-US" sz="1600" dirty="0"/>
          </a:p>
        </p:txBody>
      </p:sp>
      <p:sp>
        <p:nvSpPr>
          <p:cNvPr id="9" name="arrow-254"/>
          <p:cNvSpPr/>
          <p:nvPr/>
        </p:nvSpPr>
        <p:spPr>
          <a:xfrm>
            <a:off x="3077642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-255"/>
          <p:cNvSpPr/>
          <p:nvPr/>
        </p:nvSpPr>
        <p:spPr>
          <a:xfrm>
            <a:off x="3425114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256"/>
          <p:cNvSpPr/>
          <p:nvPr/>
        </p:nvSpPr>
        <p:spPr>
          <a:xfrm>
            <a:off x="4447299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txt-257"/>
          <p:cNvSpPr txBox="1"/>
          <p:nvPr/>
        </p:nvSpPr>
        <p:spPr>
          <a:xfrm>
            <a:off x="4447299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h-258"/>
          <p:cNvSpPr txBox="1"/>
          <p:nvPr/>
        </p:nvSpPr>
        <p:spPr>
          <a:xfrm>
            <a:off x="3534842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Refresh</a:t>
            </a:r>
            <a:endParaRPr lang="en-US" sz="1700" dirty="0"/>
          </a:p>
        </p:txBody>
      </p:sp>
      <p:sp>
        <p:nvSpPr>
          <p:cNvPr id="14" name="stepb-259"/>
          <p:cNvSpPr txBox="1"/>
          <p:nvPr/>
        </p:nvSpPr>
        <p:spPr>
          <a:xfrm>
            <a:off x="3562274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 reads the real object and sees it differs from code and state.</a:t>
            </a:r>
            <a:endParaRPr lang="en-US" sz="1600" dirty="0"/>
          </a:p>
        </p:txBody>
      </p:sp>
      <p:sp>
        <p:nvSpPr>
          <p:cNvPr id="15" name="arrow-260"/>
          <p:cNvSpPr/>
          <p:nvPr/>
        </p:nvSpPr>
        <p:spPr>
          <a:xfrm>
            <a:off x="5954116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-261"/>
          <p:cNvSpPr/>
          <p:nvPr/>
        </p:nvSpPr>
        <p:spPr>
          <a:xfrm>
            <a:off x="6301588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262"/>
          <p:cNvSpPr/>
          <p:nvPr/>
        </p:nvSpPr>
        <p:spPr>
          <a:xfrm>
            <a:off x="7323773" y="17099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263"/>
          <p:cNvSpPr txBox="1"/>
          <p:nvPr/>
        </p:nvSpPr>
        <p:spPr>
          <a:xfrm>
            <a:off x="7323773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h-264"/>
          <p:cNvSpPr txBox="1"/>
          <p:nvPr/>
        </p:nvSpPr>
        <p:spPr>
          <a:xfrm>
            <a:off x="6411316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Plan shows the diff</a:t>
            </a:r>
            <a:endParaRPr lang="en-US" sz="1700" dirty="0"/>
          </a:p>
        </p:txBody>
      </p:sp>
      <p:sp>
        <p:nvSpPr>
          <p:cNvPr id="20" name="stepb-265"/>
          <p:cNvSpPr txBox="1"/>
          <p:nvPr/>
        </p:nvSpPr>
        <p:spPr>
          <a:xfrm>
            <a:off x="6438748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Here: Plan: 1 to add. Earlier: description 'MANUAL CHANGE' → original.</a:t>
            </a:r>
            <a:endParaRPr lang="en-US" sz="1600" dirty="0"/>
          </a:p>
        </p:txBody>
      </p:sp>
      <p:sp>
        <p:nvSpPr>
          <p:cNvPr id="21" name="arrow-266"/>
          <p:cNvSpPr/>
          <p:nvPr/>
        </p:nvSpPr>
        <p:spPr>
          <a:xfrm>
            <a:off x="8830589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tep-267"/>
          <p:cNvSpPr/>
          <p:nvPr/>
        </p:nvSpPr>
        <p:spPr>
          <a:xfrm>
            <a:off x="9178061" y="1920240"/>
            <a:ext cx="2464994" cy="2651760"/>
          </a:xfrm>
          <a:prstGeom prst="roundRect">
            <a:avLst>
              <a:gd name="adj" fmla="val 2968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268"/>
          <p:cNvSpPr/>
          <p:nvPr/>
        </p:nvSpPr>
        <p:spPr>
          <a:xfrm>
            <a:off x="10200246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txt-269"/>
          <p:cNvSpPr txBox="1"/>
          <p:nvPr/>
        </p:nvSpPr>
        <p:spPr>
          <a:xfrm>
            <a:off x="10200246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h-270"/>
          <p:cNvSpPr txBox="1"/>
          <p:nvPr/>
        </p:nvSpPr>
        <p:spPr>
          <a:xfrm>
            <a:off x="9287789" y="2240280"/>
            <a:ext cx="2245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Decide</a:t>
            </a:r>
            <a:endParaRPr lang="en-US" sz="1700" dirty="0"/>
          </a:p>
        </p:txBody>
      </p:sp>
      <p:sp>
        <p:nvSpPr>
          <p:cNvPr id="26" name="stepb-271"/>
          <p:cNvSpPr txBox="1"/>
          <p:nvPr/>
        </p:nvSpPr>
        <p:spPr>
          <a:xfrm>
            <a:off x="9315221" y="2926080"/>
            <a:ext cx="219067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apply to restore code's version, or change the code (or -refresh-only) to accept reality.</a:t>
            </a:r>
            <a:endParaRPr lang="en-US" sz="1600" dirty="0"/>
          </a:p>
        </p:txBody>
      </p:sp>
      <p:sp>
        <p:nvSpPr>
          <p:cNvPr id="27" name="belowbox-272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elow-273"/>
          <p:cNvSpPr txBox="1"/>
          <p:nvPr/>
        </p:nvSpPr>
        <p:spPr>
          <a:xfrm>
            <a:off x="822960" y="4983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project detected drift three ways: the alert on changes made outside Terraform (within minutes), the daily CI plan with -detailed-exitcode (exit 2 = drift), and backup_config.sh diff &lt;id&gt; live.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274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3 · STATE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state</a:t>
            </a:r>
            <a:endParaRPr lang="en-US" sz="3200" dirty="0"/>
          </a:p>
        </p:txBody>
      </p:sp>
      <p:sp>
        <p:nvSpPr>
          <p:cNvPr id="4" name="qcard-275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276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277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278"/>
          <p:cNvSpPr txBox="1"/>
          <p:nvPr/>
        </p:nvSpPr>
        <p:spPr>
          <a:xfrm>
            <a:off x="1280160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use remote state?</a:t>
            </a:r>
            <a:endParaRPr lang="en-US" sz="1600" dirty="0"/>
          </a:p>
        </p:txBody>
      </p:sp>
      <p:sp>
        <p:nvSpPr>
          <p:cNvPr id="8" name="aback-279"/>
          <p:cNvSpPr/>
          <p:nvPr/>
        </p:nvSpPr>
        <p:spPr>
          <a:xfrm>
            <a:off x="685800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280"/>
          <p:cNvSpPr txBox="1"/>
          <p:nvPr/>
        </p:nvSpPr>
        <p:spPr>
          <a:xfrm>
            <a:off x="822960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Shared truth for a team, locking, versioning, and no state on laptops.</a:t>
            </a:r>
            <a:endParaRPr lang="en-US" sz="1500" dirty="0"/>
          </a:p>
        </p:txBody>
      </p:sp>
      <p:sp>
        <p:nvSpPr>
          <p:cNvPr id="10" name="qcard-281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282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283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284"/>
          <p:cNvSpPr txBox="1"/>
          <p:nvPr/>
        </p:nvSpPr>
        <p:spPr>
          <a:xfrm>
            <a:off x="5069738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happens if two people apply at once?</a:t>
            </a:r>
            <a:endParaRPr lang="en-US" sz="1600" dirty="0"/>
          </a:p>
        </p:txBody>
      </p:sp>
      <p:sp>
        <p:nvSpPr>
          <p:cNvPr id="14" name="aback-285"/>
          <p:cNvSpPr/>
          <p:nvPr/>
        </p:nvSpPr>
        <p:spPr>
          <a:xfrm>
            <a:off x="4475378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286"/>
          <p:cNvSpPr txBox="1"/>
          <p:nvPr/>
        </p:nvSpPr>
        <p:spPr>
          <a:xfrm>
            <a:off x="4612538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With locking, the second waits or fails to acquire the lock.</a:t>
            </a:r>
            <a:endParaRPr lang="en-US" sz="1500" dirty="0"/>
          </a:p>
        </p:txBody>
      </p:sp>
      <p:sp>
        <p:nvSpPr>
          <p:cNvPr id="16" name="qcard-287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288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289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290"/>
          <p:cNvSpPr txBox="1"/>
          <p:nvPr/>
        </p:nvSpPr>
        <p:spPr>
          <a:xfrm>
            <a:off x="8859317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bring an existing resource under Terraform?</a:t>
            </a:r>
            <a:endParaRPr lang="en-US" sz="1600" dirty="0"/>
          </a:p>
        </p:txBody>
      </p:sp>
      <p:sp>
        <p:nvSpPr>
          <p:cNvPr id="20" name="aback-291"/>
          <p:cNvSpPr/>
          <p:nvPr/>
        </p:nvSpPr>
        <p:spPr>
          <a:xfrm>
            <a:off x="8264957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292"/>
          <p:cNvSpPr txBox="1"/>
          <p:nvPr/>
        </p:nvSpPr>
        <p:spPr>
          <a:xfrm>
            <a:off x="8402117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the resource block, then terraform import (or an import block in 1.5+).</a:t>
            </a:r>
            <a:endParaRPr lang="en-US" sz="1500" dirty="0"/>
          </a:p>
        </p:txBody>
      </p:sp>
      <p:sp>
        <p:nvSpPr>
          <p:cNvPr id="22" name="qcard-293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294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295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296"/>
          <p:cNvSpPr txBox="1"/>
          <p:nvPr/>
        </p:nvSpPr>
        <p:spPr>
          <a:xfrm>
            <a:off x="1280160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stop managing a resource without deleting it?</a:t>
            </a:r>
            <a:endParaRPr lang="en-US" sz="1600" dirty="0"/>
          </a:p>
        </p:txBody>
      </p:sp>
      <p:sp>
        <p:nvSpPr>
          <p:cNvPr id="26" name="aback-297"/>
          <p:cNvSpPr/>
          <p:nvPr/>
        </p:nvSpPr>
        <p:spPr>
          <a:xfrm>
            <a:off x="685800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298"/>
          <p:cNvSpPr txBox="1"/>
          <p:nvPr/>
        </p:nvSpPr>
        <p:spPr>
          <a:xfrm>
            <a:off x="822960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state rm ADDR.</a:t>
            </a:r>
            <a:endParaRPr lang="en-US" sz="1500" dirty="0"/>
          </a:p>
        </p:txBody>
      </p:sp>
      <p:sp>
        <p:nvSpPr>
          <p:cNvPr id="28" name="qcard-299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badge-300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badgetxt-301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1" name="q-302"/>
          <p:cNvSpPr txBox="1"/>
          <p:nvPr/>
        </p:nvSpPr>
        <p:spPr>
          <a:xfrm>
            <a:off x="5069738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 state safe to commit to Git?</a:t>
            </a:r>
            <a:endParaRPr lang="en-US" sz="1600" dirty="0"/>
          </a:p>
        </p:txBody>
      </p:sp>
      <p:sp>
        <p:nvSpPr>
          <p:cNvPr id="32" name="aback-303"/>
          <p:cNvSpPr/>
          <p:nvPr/>
        </p:nvSpPr>
        <p:spPr>
          <a:xfrm>
            <a:off x="4475378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-304"/>
          <p:cNvSpPr txBox="1"/>
          <p:nvPr/>
        </p:nvSpPr>
        <p:spPr>
          <a:xfrm>
            <a:off x="4612538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No. It can hold secrets in plain text and causes conflicts.</a:t>
            </a:r>
            <a:endParaRPr lang="en-US" sz="1500" dirty="0"/>
          </a:p>
        </p:txBody>
      </p:sp>
      <p:sp>
        <p:nvSpPr>
          <p:cNvPr id="34" name="qcard-305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badge-306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badgetxt-307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7" name="q-308"/>
          <p:cNvSpPr txBox="1"/>
          <p:nvPr/>
        </p:nvSpPr>
        <p:spPr>
          <a:xfrm>
            <a:off x="8859317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-refresh-only do?</a:t>
            </a:r>
            <a:endParaRPr lang="en-US" sz="1600" dirty="0"/>
          </a:p>
        </p:txBody>
      </p:sp>
      <p:sp>
        <p:nvSpPr>
          <p:cNvPr id="38" name="aback-309"/>
          <p:cNvSpPr/>
          <p:nvPr/>
        </p:nvSpPr>
        <p:spPr>
          <a:xfrm>
            <a:off x="8264957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a-310"/>
          <p:cNvSpPr txBox="1"/>
          <p:nvPr/>
        </p:nvSpPr>
        <p:spPr>
          <a:xfrm>
            <a:off x="8402117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Updates state from reality without changing infrastructure.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311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04</a:t>
            </a:r>
            <a:endParaRPr lang="en-US" sz="13000" dirty="0"/>
          </a:p>
        </p:txBody>
      </p:sp>
      <p:sp>
        <p:nvSpPr>
          <p:cNvPr id="3" name="sectag-312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4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Variables, locals and expressions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values flow into the configuration and how the project used for_each, dynamic blocks, conditionals and validation to keep the code data-driven.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13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4 · VARIABLES, LOCALS AND EXPRESSIONS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variable values come from</a:t>
            </a:r>
            <a:endParaRPr lang="en-US" sz="3200" dirty="0"/>
          </a:p>
        </p:txBody>
      </p:sp>
      <p:sp>
        <p:nvSpPr>
          <p:cNvPr id="4" name="lead-314"/>
          <p:cNvSpPr txBox="1"/>
          <p:nvPr/>
        </p:nvSpPr>
        <p:spPr>
          <a:xfrm>
            <a:off x="548640" y="15087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3"/>
                </a:solidFill>
              </a:rPr>
              <a:t>Later sources override earlier ones.</a:t>
            </a:r>
            <a:endParaRPr lang="en-US" sz="1500" dirty="0"/>
          </a:p>
        </p:txBody>
      </p:sp>
      <p:graphicFrame>
        <p:nvGraphicFramePr>
          <p:cNvPr id="20" name="table-3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7548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Order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In this project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default in the variable block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primary_region = us-central1, bgp_asn = 64512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Environment variables TF_VAR_name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used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terraform.tfvars (auto-loaded)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Project IDs, org_id, alert_email; gitignored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*.auto.tfvars files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Not used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-var and -var-file on the command line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CI: -var="alert_email=${{ secrets.ALERT_EMAIL }}"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foot-316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 variable with no default and no value makes Terraform prompt (you saw this with org_id), or fail when TF_INPUT=false in CI.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1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4 · VARIABLES, LOCALS AND EXPRESSIONS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Patterns that kept the code data-driven</a:t>
            </a:r>
            <a:endParaRPr lang="en-US" sz="3200" dirty="0"/>
          </a:p>
        </p:txBody>
      </p:sp>
      <p:sp>
        <p:nvSpPr>
          <p:cNvPr id="5" name="card-318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adge-319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badgetxt-320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cardh-321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for_each over maps</a:t>
            </a:r>
            <a:endParaRPr lang="en-US" sz="1800" dirty="0"/>
          </a:p>
        </p:txBody>
      </p:sp>
      <p:sp>
        <p:nvSpPr>
          <p:cNvPr id="9" name="cardb-322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local.tenants drives VPCs, peerings, firewall rules and NAT. Onboarding a tenant = one new map entry.</a:t>
            </a:r>
            <a:endParaRPr lang="en-US" sz="1600" dirty="0"/>
          </a:p>
        </p:txBody>
      </p:sp>
      <p:sp>
        <p:nvSpPr>
          <p:cNvPr id="10" name="card-323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badge-324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txt-325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cardh-326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count for toggles</a:t>
            </a:r>
            <a:endParaRPr lang="en-US" sz="1800" dirty="0"/>
          </a:p>
        </p:txBody>
      </p:sp>
      <p:sp>
        <p:nvSpPr>
          <p:cNvPr id="14" name="cardb-327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count = var.enable_hybrid_vpn ? 1 : 0 creates or removes the whole VPN without touching other code.</a:t>
            </a:r>
            <a:endParaRPr lang="en-US" sz="1600" dirty="0"/>
          </a:p>
        </p:txBody>
      </p:sp>
      <p:sp>
        <p:nvSpPr>
          <p:cNvPr id="15" name="card-328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-329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badgetxt-330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cardh-331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dynamic blocks</a:t>
            </a:r>
            <a:endParaRPr lang="en-US" sz="1800" dirty="0"/>
          </a:p>
        </p:txBody>
      </p:sp>
      <p:sp>
        <p:nvSpPr>
          <p:cNvPr id="19" name="cardb-332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Repeat nested blocks from data: log_config per subnet, subnetwork in NAT, advertised_ip_ranges on the router.</a:t>
            </a:r>
            <a:endParaRPr lang="en-US" sz="1600" dirty="0"/>
          </a:p>
        </p:txBody>
      </p:sp>
      <p:sp>
        <p:nvSpPr>
          <p:cNvPr id="20" name="card-333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-334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badgetxt-335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cardh-336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Conditional maps</a:t>
            </a:r>
            <a:endParaRPr lang="en-US" sz="1800" dirty="0"/>
          </a:p>
        </p:txBody>
      </p:sp>
      <p:sp>
        <p:nvSpPr>
          <p:cNvPr id="24" name="cardb-337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local.dr_nat_gateways = var.enable_dr_egress ? {...} : {} and merge() into the main map.</a:t>
            </a:r>
            <a:endParaRPr lang="en-US" sz="1600" dirty="0"/>
          </a:p>
        </p:txBody>
      </p:sp>
      <p:sp>
        <p:nvSpPr>
          <p:cNvPr id="25" name="card-338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badge-339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badgetxt-340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cardh-341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Validation</a:t>
            </a:r>
            <a:endParaRPr lang="en-US" sz="1800" dirty="0"/>
          </a:p>
        </p:txBody>
      </p:sp>
      <p:sp>
        <p:nvSpPr>
          <p:cNvPr id="29" name="cardb-342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validation blocks reject bad input at plan time: routing_mode must be REGIONAL or GLOBAL; alert_email must look like an email.</a:t>
            </a:r>
            <a:endParaRPr lang="en-US" sz="1600" dirty="0"/>
          </a:p>
        </p:txBody>
      </p:sp>
      <p:sp>
        <p:nvSpPr>
          <p:cNvPr id="30" name="card-343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badge-344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badgetxt-345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cardh-346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optional() attributes</a:t>
            </a:r>
            <a:endParaRPr lang="en-US" sz="1800" dirty="0"/>
          </a:p>
        </p:txBody>
      </p:sp>
      <p:sp>
        <p:nvSpPr>
          <p:cNvPr id="34" name="cardb-347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Module inputs like flow_logs = optional(object({...}), {}) let callers set only what differs from defaults.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4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4 · VARIABLES, LOCALS AND EXPRESSIONS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variables and expressions</a:t>
            </a:r>
            <a:endParaRPr lang="en-US" sz="3200" dirty="0"/>
          </a:p>
        </p:txBody>
      </p:sp>
      <p:sp>
        <p:nvSpPr>
          <p:cNvPr id="4" name="qcard-349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350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351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352"/>
          <p:cNvSpPr txBox="1"/>
          <p:nvPr/>
        </p:nvSpPr>
        <p:spPr>
          <a:xfrm>
            <a:off x="1280160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count vs for_each?</a:t>
            </a:r>
            <a:endParaRPr lang="en-US" sz="1600" dirty="0"/>
          </a:p>
        </p:txBody>
      </p:sp>
      <p:sp>
        <p:nvSpPr>
          <p:cNvPr id="8" name="aback-353"/>
          <p:cNvSpPr/>
          <p:nvPr/>
        </p:nvSpPr>
        <p:spPr>
          <a:xfrm>
            <a:off x="685800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354"/>
          <p:cNvSpPr txBox="1"/>
          <p:nvPr/>
        </p:nvSpPr>
        <p:spPr>
          <a:xfrm>
            <a:off x="822960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for_each keys by name (stable); count by index (removing one shifts the rest).</a:t>
            </a:r>
            <a:endParaRPr lang="en-US" sz="1500" dirty="0"/>
          </a:p>
        </p:txBody>
      </p:sp>
      <p:sp>
        <p:nvSpPr>
          <p:cNvPr id="10" name="qcard-355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356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357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358"/>
          <p:cNvSpPr txBox="1"/>
          <p:nvPr/>
        </p:nvSpPr>
        <p:spPr>
          <a:xfrm>
            <a:off x="5069738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a dynamic block?</a:t>
            </a:r>
            <a:endParaRPr lang="en-US" sz="1600" dirty="0"/>
          </a:p>
        </p:txBody>
      </p:sp>
      <p:sp>
        <p:nvSpPr>
          <p:cNvPr id="14" name="aback-359"/>
          <p:cNvSpPr/>
          <p:nvPr/>
        </p:nvSpPr>
        <p:spPr>
          <a:xfrm>
            <a:off x="4475378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360"/>
          <p:cNvSpPr txBox="1"/>
          <p:nvPr/>
        </p:nvSpPr>
        <p:spPr>
          <a:xfrm>
            <a:off x="4612538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generator for repeated nested blocks inside a resource, driven by a collection.</a:t>
            </a:r>
            <a:endParaRPr lang="en-US" sz="1500" dirty="0"/>
          </a:p>
        </p:txBody>
      </p:sp>
      <p:sp>
        <p:nvSpPr>
          <p:cNvPr id="16" name="qcard-361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362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363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364"/>
          <p:cNvSpPr txBox="1"/>
          <p:nvPr/>
        </p:nvSpPr>
        <p:spPr>
          <a:xfrm>
            <a:off x="8859317" y="173736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locals vs variables?</a:t>
            </a:r>
            <a:endParaRPr lang="en-US" sz="1600" dirty="0"/>
          </a:p>
        </p:txBody>
      </p:sp>
      <p:sp>
        <p:nvSpPr>
          <p:cNvPr id="20" name="aback-365"/>
          <p:cNvSpPr/>
          <p:nvPr/>
        </p:nvSpPr>
        <p:spPr>
          <a:xfrm>
            <a:off x="8264957" y="265176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366"/>
          <p:cNvSpPr txBox="1"/>
          <p:nvPr/>
        </p:nvSpPr>
        <p:spPr>
          <a:xfrm>
            <a:off x="8402117" y="271576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Variables are inputs from outside; locals are internal computed values.</a:t>
            </a:r>
            <a:endParaRPr lang="en-US" sz="1500" dirty="0"/>
          </a:p>
        </p:txBody>
      </p:sp>
      <p:sp>
        <p:nvSpPr>
          <p:cNvPr id="22" name="qcard-367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368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369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370"/>
          <p:cNvSpPr txBox="1"/>
          <p:nvPr/>
        </p:nvSpPr>
        <p:spPr>
          <a:xfrm>
            <a:off x="1280160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Highest-precedence way to set a variable?</a:t>
            </a:r>
            <a:endParaRPr lang="en-US" sz="1600" dirty="0"/>
          </a:p>
        </p:txBody>
      </p:sp>
      <p:sp>
        <p:nvSpPr>
          <p:cNvPr id="26" name="aback-371"/>
          <p:cNvSpPr/>
          <p:nvPr/>
        </p:nvSpPr>
        <p:spPr>
          <a:xfrm>
            <a:off x="685800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372"/>
          <p:cNvSpPr txBox="1"/>
          <p:nvPr/>
        </p:nvSpPr>
        <p:spPr>
          <a:xfrm>
            <a:off x="822960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-var or -var-file on the command line.</a:t>
            </a:r>
            <a:endParaRPr lang="en-US" sz="1500" dirty="0"/>
          </a:p>
        </p:txBody>
      </p:sp>
      <p:sp>
        <p:nvSpPr>
          <p:cNvPr id="28" name="qcard-373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badge-374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badgetxt-375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1" name="q-376"/>
          <p:cNvSpPr txBox="1"/>
          <p:nvPr/>
        </p:nvSpPr>
        <p:spPr>
          <a:xfrm>
            <a:off x="5069738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make a variable optional in an object type?</a:t>
            </a:r>
            <a:endParaRPr lang="en-US" sz="1600" dirty="0"/>
          </a:p>
        </p:txBody>
      </p:sp>
      <p:sp>
        <p:nvSpPr>
          <p:cNvPr id="32" name="aback-377"/>
          <p:cNvSpPr/>
          <p:nvPr/>
        </p:nvSpPr>
        <p:spPr>
          <a:xfrm>
            <a:off x="4475378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-378"/>
          <p:cNvSpPr txBox="1"/>
          <p:nvPr/>
        </p:nvSpPr>
        <p:spPr>
          <a:xfrm>
            <a:off x="4612538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optional(type, default) inside object({...}).</a:t>
            </a:r>
            <a:endParaRPr lang="en-US" sz="1500" dirty="0"/>
          </a:p>
        </p:txBody>
      </p:sp>
      <p:sp>
        <p:nvSpPr>
          <p:cNvPr id="34" name="qcard-379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35" name="badge-380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badgetxt-381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7" name="q-382"/>
          <p:cNvSpPr txBox="1"/>
          <p:nvPr/>
        </p:nvSpPr>
        <p:spPr>
          <a:xfrm>
            <a:off x="8859317" y="4206240"/>
            <a:ext cx="260085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reject bad input early?</a:t>
            </a:r>
            <a:endParaRPr lang="en-US" sz="1600" dirty="0"/>
          </a:p>
        </p:txBody>
      </p:sp>
      <p:sp>
        <p:nvSpPr>
          <p:cNvPr id="38" name="aback-383"/>
          <p:cNvSpPr/>
          <p:nvPr/>
        </p:nvSpPr>
        <p:spPr>
          <a:xfrm>
            <a:off x="8264957" y="5120640"/>
            <a:ext cx="324093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a-384"/>
          <p:cNvSpPr txBox="1"/>
          <p:nvPr/>
        </p:nvSpPr>
        <p:spPr>
          <a:xfrm>
            <a:off x="8402117" y="5184648"/>
            <a:ext cx="296661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validation block with condition and error_message.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385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05</a:t>
            </a:r>
            <a:endParaRPr lang="en-US" sz="13000" dirty="0"/>
          </a:p>
        </p:txBody>
      </p:sp>
      <p:sp>
        <p:nvSpPr>
          <p:cNvPr id="3" name="sectag-386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5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Modules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the project packaged reusable infrastructure into four local modules, how inputs and outputs connect them, and what makes a module well designed.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8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5 · MODULES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project's modules</a:t>
            </a:r>
            <a:endParaRPr lang="en-US" sz="3200" dirty="0"/>
          </a:p>
        </p:txBody>
      </p:sp>
      <p:graphicFrame>
        <p:nvGraphicFramePr>
          <p:cNvPr id="24" name="table-3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Module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Creates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Used by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modules/vpc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Network, subnets (flow logs, per-subnet overrides), routes, DR preconditions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shared_vpc, tenant_vpc (for_each), onprem_vpc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modules/egress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Cloud Router, static IPs, Cloud NAT with logging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egress (for_each over 5–7 gateways)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modules/logging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Sinks, BigQuery dataset, GCS archive, log-based metrics, Log Analytics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logging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modules/monitoring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Email channel, alert policies, dashboard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monitoring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89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5 · MODULES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Module design</a:t>
            </a:r>
            <a:endParaRPr lang="en-US" sz="3200" dirty="0"/>
          </a:p>
        </p:txBody>
      </p:sp>
      <p:sp>
        <p:nvSpPr>
          <p:cNvPr id="4" name="lh-390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Principles</a:t>
            </a:r>
            <a:endParaRPr lang="en-US" sz="1800" dirty="0"/>
          </a:p>
        </p:txBody>
      </p:sp>
      <p:sp>
        <p:nvSpPr>
          <p:cNvPr id="5" name="left-391"/>
          <p:cNvSpPr txBox="1"/>
          <p:nvPr/>
        </p:nvSpPr>
        <p:spPr>
          <a:xfrm>
            <a:off x="54864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Standard layout: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main.tf, variables.tf, outputs.tf (plus README in larger teams).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Inputs are the contract: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typed variables with descriptions, defaults and validation.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Outputs expose what callers need: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network_self_link, subnets, flow_logs, metric_types.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One purpose per module: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the vpc module doesn't create NAT or firewall rules.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Call many times: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for_each on a module block creates one instance per map entry.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Sources: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local path, Git URL with ?ref=tag, or a registry with version pinning.</a:t>
            </a:r>
            <a:endParaRPr lang="en-US" sz="1700" dirty="0"/>
          </a:p>
        </p:txBody>
      </p:sp>
      <p:sp>
        <p:nvSpPr>
          <p:cNvPr id="6" name="panel-392"/>
          <p:cNvSpPr/>
          <p:nvPr/>
        </p:nvSpPr>
        <p:spPr>
          <a:xfrm>
            <a:off x="7315200" y="1600200"/>
            <a:ext cx="4327855" cy="4663440"/>
          </a:xfrm>
          <a:prstGeom prst="roundRect">
            <a:avLst>
              <a:gd name="adj" fmla="val 16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h-393"/>
          <p:cNvSpPr txBox="1"/>
          <p:nvPr/>
        </p:nvSpPr>
        <p:spPr>
          <a:xfrm>
            <a:off x="7589520" y="1828800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this build</a:t>
            </a:r>
            <a:endParaRPr lang="en-US" sz="1800" dirty="0"/>
          </a:p>
        </p:txBody>
      </p:sp>
      <p:sp>
        <p:nvSpPr>
          <p:cNvPr id="8" name="right-394"/>
          <p:cNvSpPr txBox="1"/>
          <p:nvPr/>
        </p:nvSpPr>
        <p:spPr>
          <a:xfrm>
            <a:off x="7589520" y="2377440"/>
            <a:ext cx="377921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same vpc module built 4 networks with different settings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Outputs became inputs: module.logging.metric_types → module.monitoring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Module-level depends_on: monitoring waits for the metrics scope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New module folder → terraform init again (Phase 7 failure)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Changing a module's outputs requires updating callers too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395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5 · MODULES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modules</a:t>
            </a:r>
            <a:endParaRPr lang="en-US" sz="3200" dirty="0"/>
          </a:p>
        </p:txBody>
      </p:sp>
      <p:sp>
        <p:nvSpPr>
          <p:cNvPr id="4" name="qcard-396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397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398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399"/>
          <p:cNvSpPr txBox="1"/>
          <p:nvPr/>
        </p:nvSpPr>
        <p:spPr>
          <a:xfrm>
            <a:off x="1280160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use modules?</a:t>
            </a:r>
            <a:endParaRPr lang="en-US" sz="1600" dirty="0"/>
          </a:p>
        </p:txBody>
      </p:sp>
      <p:sp>
        <p:nvSpPr>
          <p:cNvPr id="8" name="aback-400"/>
          <p:cNvSpPr/>
          <p:nvPr/>
        </p:nvSpPr>
        <p:spPr>
          <a:xfrm>
            <a:off x="685800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401"/>
          <p:cNvSpPr txBox="1"/>
          <p:nvPr/>
        </p:nvSpPr>
        <p:spPr>
          <a:xfrm>
            <a:off x="822960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Reuse, consistency, encapsulation and smaller review surface.</a:t>
            </a:r>
            <a:endParaRPr lang="en-US" sz="1500" dirty="0"/>
          </a:p>
        </p:txBody>
      </p:sp>
      <p:sp>
        <p:nvSpPr>
          <p:cNvPr id="10" name="qcard-402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403"/>
          <p:cNvSpPr/>
          <p:nvPr/>
        </p:nvSpPr>
        <p:spPr>
          <a:xfrm>
            <a:off x="641588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404"/>
          <p:cNvSpPr txBox="1"/>
          <p:nvPr/>
        </p:nvSpPr>
        <p:spPr>
          <a:xfrm>
            <a:off x="641588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405"/>
          <p:cNvSpPr txBox="1"/>
          <p:nvPr/>
        </p:nvSpPr>
        <p:spPr>
          <a:xfrm>
            <a:off x="6964528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modules pass data to each other?</a:t>
            </a:r>
            <a:endParaRPr lang="en-US" sz="1600" dirty="0"/>
          </a:p>
        </p:txBody>
      </p:sp>
      <p:sp>
        <p:nvSpPr>
          <p:cNvPr id="14" name="aback-406"/>
          <p:cNvSpPr/>
          <p:nvPr/>
        </p:nvSpPr>
        <p:spPr>
          <a:xfrm>
            <a:off x="6370168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407"/>
          <p:cNvSpPr txBox="1"/>
          <p:nvPr/>
        </p:nvSpPr>
        <p:spPr>
          <a:xfrm>
            <a:off x="6507328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Through outputs of one used as inputs of another, wired in the root module.</a:t>
            </a:r>
            <a:endParaRPr lang="en-US" sz="1500" dirty="0"/>
          </a:p>
        </p:txBody>
      </p:sp>
      <p:sp>
        <p:nvSpPr>
          <p:cNvPr id="16" name="qcard-408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409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410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411"/>
          <p:cNvSpPr txBox="1"/>
          <p:nvPr/>
        </p:nvSpPr>
        <p:spPr>
          <a:xfrm>
            <a:off x="1280160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must you run after adding a module?</a:t>
            </a:r>
            <a:endParaRPr lang="en-US" sz="1600" dirty="0"/>
          </a:p>
        </p:txBody>
      </p:sp>
      <p:sp>
        <p:nvSpPr>
          <p:cNvPr id="20" name="aback-412"/>
          <p:cNvSpPr/>
          <p:nvPr/>
        </p:nvSpPr>
        <p:spPr>
          <a:xfrm>
            <a:off x="685800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413"/>
          <p:cNvSpPr txBox="1"/>
          <p:nvPr/>
        </p:nvSpPr>
        <p:spPr>
          <a:xfrm>
            <a:off x="822960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init.</a:t>
            </a:r>
            <a:endParaRPr lang="en-US" sz="1500" dirty="0"/>
          </a:p>
        </p:txBody>
      </p:sp>
      <p:sp>
        <p:nvSpPr>
          <p:cNvPr id="22" name="qcard-414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415"/>
          <p:cNvSpPr/>
          <p:nvPr/>
        </p:nvSpPr>
        <p:spPr>
          <a:xfrm>
            <a:off x="641588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416"/>
          <p:cNvSpPr txBox="1"/>
          <p:nvPr/>
        </p:nvSpPr>
        <p:spPr>
          <a:xfrm>
            <a:off x="641588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417"/>
          <p:cNvSpPr txBox="1"/>
          <p:nvPr/>
        </p:nvSpPr>
        <p:spPr>
          <a:xfrm>
            <a:off x="6964528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version a shared module?</a:t>
            </a:r>
            <a:endParaRPr lang="en-US" sz="1600" dirty="0"/>
          </a:p>
        </p:txBody>
      </p:sp>
      <p:sp>
        <p:nvSpPr>
          <p:cNvPr id="26" name="aback-418"/>
          <p:cNvSpPr/>
          <p:nvPr/>
        </p:nvSpPr>
        <p:spPr>
          <a:xfrm>
            <a:off x="6370168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419"/>
          <p:cNvSpPr txBox="1"/>
          <p:nvPr/>
        </p:nvSpPr>
        <p:spPr>
          <a:xfrm>
            <a:off x="6507328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Git tags (?ref=v1.2.0) or a registry with a version constraint.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420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06</a:t>
            </a:r>
            <a:endParaRPr lang="en-US" sz="13000" dirty="0"/>
          </a:p>
        </p:txBody>
      </p:sp>
      <p:sp>
        <p:nvSpPr>
          <p:cNvPr id="3" name="sectag-421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6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Dependencies and lifecycle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Terraform orders operations, when you must step in with depends_on, and how lifecycle rules and pre/postconditions protect infrastructure.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422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6 · DEPENDENCIES AND LIFECYCLE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Ordering and lifecycle</a:t>
            </a:r>
            <a:endParaRPr lang="en-US" sz="3200" dirty="0"/>
          </a:p>
        </p:txBody>
      </p:sp>
      <p:sp>
        <p:nvSpPr>
          <p:cNvPr id="4" name="card-423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24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425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h-426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Implicit dependencies</a:t>
            </a:r>
            <a:endParaRPr lang="en-US" sz="1800" dirty="0"/>
          </a:p>
        </p:txBody>
      </p:sp>
      <p:sp>
        <p:nvSpPr>
          <p:cNvPr id="8" name="cardb-427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Referencing another resource's attribute (for example the shared VPC's self link) builds the dependency graph automatically.</a:t>
            </a:r>
            <a:endParaRPr lang="en-US" sz="1600" dirty="0"/>
          </a:p>
        </p:txBody>
      </p:sp>
      <p:sp>
        <p:nvSpPr>
          <p:cNvPr id="9" name="card-428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429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txt-430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h-431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depends_on</a:t>
            </a:r>
            <a:endParaRPr lang="en-US" sz="1800" dirty="0"/>
          </a:p>
        </p:txBody>
      </p:sp>
      <p:sp>
        <p:nvSpPr>
          <p:cNvPr id="13" name="cardb-432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For hidden dependencies: peerings chained one after another (GCP rejects concurrent peering ops); monitoring after the metrics scope.</a:t>
            </a:r>
            <a:endParaRPr lang="en-US" sz="1600" dirty="0"/>
          </a:p>
        </p:txBody>
      </p:sp>
      <p:sp>
        <p:nvSpPr>
          <p:cNvPr id="14" name="card-433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434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txt-435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h-436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Parallelism</a:t>
            </a:r>
            <a:endParaRPr lang="en-US" sz="1800" dirty="0"/>
          </a:p>
        </p:txBody>
      </p:sp>
      <p:sp>
        <p:nvSpPr>
          <p:cNvPr id="18" name="cardb-437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Independent resources are created concurrently (default 10). Setting parallelism to 1 trades speed for reliability on a flaky client.</a:t>
            </a:r>
            <a:endParaRPr lang="en-US" sz="1600" dirty="0"/>
          </a:p>
        </p:txBody>
      </p:sp>
      <p:sp>
        <p:nvSpPr>
          <p:cNvPr id="19" name="card-438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439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txt-440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h-441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create_before_destroy</a:t>
            </a:r>
            <a:endParaRPr lang="en-US" sz="1800" dirty="0"/>
          </a:p>
        </p:txBody>
      </p:sp>
      <p:sp>
        <p:nvSpPr>
          <p:cNvPr id="23" name="cardb-442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Builds the replacement before deleting the old one, avoiding downtime when a resource must be replaced.</a:t>
            </a:r>
            <a:endParaRPr lang="en-US" sz="1600" dirty="0"/>
          </a:p>
        </p:txBody>
      </p:sp>
      <p:sp>
        <p:nvSpPr>
          <p:cNvPr id="24" name="card-443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444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txt-445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cardh-446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prevent_destroy</a:t>
            </a:r>
            <a:endParaRPr lang="en-US" sz="1800" dirty="0"/>
          </a:p>
        </p:txBody>
      </p:sp>
      <p:sp>
        <p:nvSpPr>
          <p:cNvPr id="28" name="cardb-447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Plan fails if the resource would be destroyed. It must be a literal, so it can't be toggled by a variable.</a:t>
            </a:r>
            <a:endParaRPr lang="en-US" sz="1600" dirty="0"/>
          </a:p>
        </p:txBody>
      </p:sp>
      <p:sp>
        <p:nvSpPr>
          <p:cNvPr id="29" name="card-448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-449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txt-450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cardh-451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ignore_changes</a:t>
            </a:r>
            <a:endParaRPr lang="en-US" sz="1800" dirty="0"/>
          </a:p>
        </p:txBody>
      </p:sp>
      <p:sp>
        <p:nvSpPr>
          <p:cNvPr id="33" name="cardb-452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Ignore attributes changed outside Terraform on purpose (e.g. autoscaled sizes). Use sparingly: it hides drift.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453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6 · DEPENDENCIES AND LIFECYCLE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Preconditions as guardrails</a:t>
            </a:r>
            <a:endParaRPr lang="en-US" sz="3200" dirty="0"/>
          </a:p>
        </p:txBody>
      </p:sp>
      <p:sp>
        <p:nvSpPr>
          <p:cNvPr id="4" name="lh-454"/>
          <p:cNvSpPr txBox="1"/>
          <p:nvPr/>
        </p:nvSpPr>
        <p:spPr>
          <a:xfrm>
            <a:off x="54864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How Phase 8 used them</a:t>
            </a:r>
            <a:endParaRPr lang="en-US" sz="1800" dirty="0"/>
          </a:p>
        </p:txBody>
      </p:sp>
      <p:sp>
        <p:nvSpPr>
          <p:cNvPr id="5" name="left-455"/>
          <p:cNvSpPr txBox="1"/>
          <p:nvPr/>
        </p:nvSpPr>
        <p:spPr>
          <a:xfrm>
            <a:off x="548640" y="2057400"/>
            <a:ext cx="6400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precondition: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checked during plan, before anything changes. The vpc module fails if any required region has no subnet.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Second precondition: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fails if two subnets share a CIDR.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postcondition: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checks a resource's result after it's known (e.g. an ID format).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check blocks (1.5+):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assertions that warn rather than fail, good for health checks.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Why: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turns architecture rules (a DR region must exist) into code that blocks bad changes in review.</a:t>
            </a:r>
            <a:endParaRPr lang="en-US" sz="1700" dirty="0"/>
          </a:p>
        </p:txBody>
      </p:sp>
      <p:sp>
        <p:nvSpPr>
          <p:cNvPr id="6" name="panel-456"/>
          <p:cNvSpPr/>
          <p:nvPr/>
        </p:nvSpPr>
        <p:spPr>
          <a:xfrm>
            <a:off x="7315200" y="1600200"/>
            <a:ext cx="4327855" cy="4663440"/>
          </a:xfrm>
          <a:prstGeom prst="roundRect">
            <a:avLst>
              <a:gd name="adj" fmla="val 169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rh-457"/>
          <p:cNvSpPr txBox="1"/>
          <p:nvPr/>
        </p:nvSpPr>
        <p:spPr>
          <a:xfrm>
            <a:off x="7589520" y="1828800"/>
            <a:ext cx="3779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 this build</a:t>
            </a:r>
            <a:endParaRPr lang="en-US" sz="1800" dirty="0"/>
          </a:p>
        </p:txBody>
      </p:sp>
      <p:sp>
        <p:nvSpPr>
          <p:cNvPr id="8" name="right-458"/>
          <p:cNvSpPr txBox="1"/>
          <p:nvPr/>
        </p:nvSpPr>
        <p:spPr>
          <a:xfrm>
            <a:off x="7589520" y="2377440"/>
            <a:ext cx="3779215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Condition: setsubtract(required regions, regions of all subnets) must be empty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Shared VPC and tenant VPCs pass required_regions = [primary, secondary]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Combined with CI, a PR that drops the DR subnet fails at plan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459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6 · DEPENDENCIES AND LIFECYCLE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dependencies</a:t>
            </a:r>
            <a:endParaRPr lang="en-US" sz="3200" dirty="0"/>
          </a:p>
        </p:txBody>
      </p:sp>
      <p:sp>
        <p:nvSpPr>
          <p:cNvPr id="4" name="qcard-460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461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462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463"/>
          <p:cNvSpPr txBox="1"/>
          <p:nvPr/>
        </p:nvSpPr>
        <p:spPr>
          <a:xfrm>
            <a:off x="1280160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do you need depends_on?</a:t>
            </a:r>
            <a:endParaRPr lang="en-US" sz="1600" dirty="0"/>
          </a:p>
        </p:txBody>
      </p:sp>
      <p:sp>
        <p:nvSpPr>
          <p:cNvPr id="8" name="aback-464"/>
          <p:cNvSpPr/>
          <p:nvPr/>
        </p:nvSpPr>
        <p:spPr>
          <a:xfrm>
            <a:off x="685800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465"/>
          <p:cNvSpPr txBox="1"/>
          <p:nvPr/>
        </p:nvSpPr>
        <p:spPr>
          <a:xfrm>
            <a:off x="822960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a dependency exists that Terraform can't see through references.</a:t>
            </a:r>
            <a:endParaRPr lang="en-US" sz="1500" dirty="0"/>
          </a:p>
        </p:txBody>
      </p:sp>
      <p:sp>
        <p:nvSpPr>
          <p:cNvPr id="10" name="qcard-466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467"/>
          <p:cNvSpPr/>
          <p:nvPr/>
        </p:nvSpPr>
        <p:spPr>
          <a:xfrm>
            <a:off x="641588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468"/>
          <p:cNvSpPr txBox="1"/>
          <p:nvPr/>
        </p:nvSpPr>
        <p:spPr>
          <a:xfrm>
            <a:off x="641588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469"/>
          <p:cNvSpPr txBox="1"/>
          <p:nvPr/>
        </p:nvSpPr>
        <p:spPr>
          <a:xfrm>
            <a:off x="6964528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create_before_destroy solve?</a:t>
            </a:r>
            <a:endParaRPr lang="en-US" sz="1600" dirty="0"/>
          </a:p>
        </p:txBody>
      </p:sp>
      <p:sp>
        <p:nvSpPr>
          <p:cNvPr id="14" name="aback-470"/>
          <p:cNvSpPr/>
          <p:nvPr/>
        </p:nvSpPr>
        <p:spPr>
          <a:xfrm>
            <a:off x="6370168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471"/>
          <p:cNvSpPr txBox="1"/>
          <p:nvPr/>
        </p:nvSpPr>
        <p:spPr>
          <a:xfrm>
            <a:off x="6507328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Downtime when a resource has to be replaced.</a:t>
            </a:r>
            <a:endParaRPr lang="en-US" sz="1500" dirty="0"/>
          </a:p>
        </p:txBody>
      </p:sp>
      <p:sp>
        <p:nvSpPr>
          <p:cNvPr id="16" name="qcard-472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473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474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475"/>
          <p:cNvSpPr txBox="1"/>
          <p:nvPr/>
        </p:nvSpPr>
        <p:spPr>
          <a:xfrm>
            <a:off x="1280160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Can prevent_destroy use a variable?</a:t>
            </a:r>
            <a:endParaRPr lang="en-US" sz="1600" dirty="0"/>
          </a:p>
        </p:txBody>
      </p:sp>
      <p:sp>
        <p:nvSpPr>
          <p:cNvPr id="20" name="aback-476"/>
          <p:cNvSpPr/>
          <p:nvPr/>
        </p:nvSpPr>
        <p:spPr>
          <a:xfrm>
            <a:off x="685800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477"/>
          <p:cNvSpPr txBox="1"/>
          <p:nvPr/>
        </p:nvSpPr>
        <p:spPr>
          <a:xfrm>
            <a:off x="822960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No. Lifecycle arguments must be literals.</a:t>
            </a:r>
            <a:endParaRPr lang="en-US" sz="1500" dirty="0"/>
          </a:p>
        </p:txBody>
      </p:sp>
      <p:sp>
        <p:nvSpPr>
          <p:cNvPr id="22" name="qcard-478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479"/>
          <p:cNvSpPr/>
          <p:nvPr/>
        </p:nvSpPr>
        <p:spPr>
          <a:xfrm>
            <a:off x="641588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480"/>
          <p:cNvSpPr txBox="1"/>
          <p:nvPr/>
        </p:nvSpPr>
        <p:spPr>
          <a:xfrm>
            <a:off x="641588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481"/>
          <p:cNvSpPr txBox="1"/>
          <p:nvPr/>
        </p:nvSpPr>
        <p:spPr>
          <a:xfrm>
            <a:off x="6964528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Precondition vs validation block?</a:t>
            </a:r>
            <a:endParaRPr lang="en-US" sz="1600" dirty="0"/>
          </a:p>
        </p:txBody>
      </p:sp>
      <p:sp>
        <p:nvSpPr>
          <p:cNvPr id="26" name="aback-482"/>
          <p:cNvSpPr/>
          <p:nvPr/>
        </p:nvSpPr>
        <p:spPr>
          <a:xfrm>
            <a:off x="6370168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483"/>
          <p:cNvSpPr txBox="1"/>
          <p:nvPr/>
        </p:nvSpPr>
        <p:spPr>
          <a:xfrm>
            <a:off x="6507328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Validation checks one input variable; preconditions can check any expression across resources.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484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07</a:t>
            </a:r>
            <a:endParaRPr lang="en-US" sz="13000" dirty="0"/>
          </a:p>
        </p:txBody>
      </p:sp>
      <p:sp>
        <p:nvSpPr>
          <p:cNvPr id="3" name="sectag-485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Import, refactoring and drift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Working with infrastructure that already exists or changes underneath you: importing, refreshing, removing from state, refactoring addresses, and detecting drift continuously.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486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7 · IMPORT, REFACTORING AND DRIFT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Real situations and the right tool</a:t>
            </a:r>
            <a:endParaRPr lang="en-US" sz="3200" dirty="0"/>
          </a:p>
        </p:txBody>
      </p:sp>
      <p:sp>
        <p:nvSpPr>
          <p:cNvPr id="4" name="card-487"/>
          <p:cNvSpPr/>
          <p:nvPr/>
        </p:nvSpPr>
        <p:spPr>
          <a:xfrm>
            <a:off x="548640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-488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489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cardh-490"/>
          <p:cNvSpPr txBox="1"/>
          <p:nvPr/>
        </p:nvSpPr>
        <p:spPr>
          <a:xfrm>
            <a:off x="1280160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Object already exists (409)</a:t>
            </a:r>
            <a:endParaRPr lang="en-US" sz="1800" dirty="0"/>
          </a:p>
        </p:txBody>
      </p:sp>
      <p:sp>
        <p:nvSpPr>
          <p:cNvPr id="8" name="cardb-491"/>
          <p:cNvSpPr txBox="1"/>
          <p:nvPr/>
        </p:nvSpPr>
        <p:spPr>
          <a:xfrm>
            <a:off x="777240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terraform import, or an import { to, id } block in 1.5+ that's reviewed in the plan. Used for the key-creation org policy.</a:t>
            </a:r>
            <a:endParaRPr lang="en-US" sz="1600" dirty="0"/>
          </a:p>
        </p:txBody>
      </p:sp>
      <p:sp>
        <p:nvSpPr>
          <p:cNvPr id="9" name="card-492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-493"/>
          <p:cNvSpPr/>
          <p:nvPr/>
        </p:nvSpPr>
        <p:spPr>
          <a:xfrm>
            <a:off x="4521098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badgetxt-494"/>
          <p:cNvSpPr txBox="1"/>
          <p:nvPr/>
        </p:nvSpPr>
        <p:spPr>
          <a:xfrm>
            <a:off x="452109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cardh-495"/>
          <p:cNvSpPr txBox="1"/>
          <p:nvPr/>
        </p:nvSpPr>
        <p:spPr>
          <a:xfrm>
            <a:off x="5069738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State out of date</a:t>
            </a:r>
            <a:endParaRPr lang="en-US" sz="1800" dirty="0"/>
          </a:p>
        </p:txBody>
      </p:sp>
      <p:sp>
        <p:nvSpPr>
          <p:cNvPr id="13" name="cardb-496"/>
          <p:cNvSpPr txBox="1"/>
          <p:nvPr/>
        </p:nvSpPr>
        <p:spPr>
          <a:xfrm>
            <a:off x="4566818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terraform apply -refresh-only: peerings showed INACTIVE because state was recorded before the second side existed.</a:t>
            </a:r>
            <a:endParaRPr lang="en-US" sz="1600" dirty="0"/>
          </a:p>
        </p:txBody>
      </p:sp>
      <p:sp>
        <p:nvSpPr>
          <p:cNvPr id="14" name="card-497"/>
          <p:cNvSpPr/>
          <p:nvPr/>
        </p:nvSpPr>
        <p:spPr>
          <a:xfrm>
            <a:off x="8127797" y="160020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badge-498"/>
          <p:cNvSpPr/>
          <p:nvPr/>
        </p:nvSpPr>
        <p:spPr>
          <a:xfrm>
            <a:off x="8310677" y="178308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badgetxt-499"/>
          <p:cNvSpPr txBox="1"/>
          <p:nvPr/>
        </p:nvSpPr>
        <p:spPr>
          <a:xfrm>
            <a:off x="8310677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cardh-500"/>
          <p:cNvSpPr txBox="1"/>
          <p:nvPr/>
        </p:nvSpPr>
        <p:spPr>
          <a:xfrm>
            <a:off x="8859317" y="175564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Keep but stop managing</a:t>
            </a:r>
            <a:endParaRPr lang="en-US" sz="1800" dirty="0"/>
          </a:p>
        </p:txBody>
      </p:sp>
      <p:sp>
        <p:nvSpPr>
          <p:cNvPr id="18" name="cardb-501"/>
          <p:cNvSpPr txBox="1"/>
          <p:nvPr/>
        </p:nvSpPr>
        <p:spPr>
          <a:xfrm>
            <a:off x="8356397" y="235000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terraform state rm before destroy, so the org's built-in key policy survives a teardown.</a:t>
            </a:r>
            <a:endParaRPr lang="en-US" sz="1600" dirty="0"/>
          </a:p>
        </p:txBody>
      </p:sp>
      <p:sp>
        <p:nvSpPr>
          <p:cNvPr id="19" name="card-502"/>
          <p:cNvSpPr/>
          <p:nvPr/>
        </p:nvSpPr>
        <p:spPr>
          <a:xfrm>
            <a:off x="548640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badge-503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badgetxt-504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cardh-505"/>
          <p:cNvSpPr txBox="1"/>
          <p:nvPr/>
        </p:nvSpPr>
        <p:spPr>
          <a:xfrm>
            <a:off x="1280160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Rename or move code</a:t>
            </a:r>
            <a:endParaRPr lang="en-US" sz="1800" dirty="0"/>
          </a:p>
        </p:txBody>
      </p:sp>
      <p:sp>
        <p:nvSpPr>
          <p:cNvPr id="23" name="cardb-506"/>
          <p:cNvSpPr txBox="1"/>
          <p:nvPr/>
        </p:nvSpPr>
        <p:spPr>
          <a:xfrm>
            <a:off x="777240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moved { from, to } block (or terraform state mv) changes the address without destroying the object.</a:t>
            </a:r>
            <a:endParaRPr lang="en-US" sz="1600" dirty="0"/>
          </a:p>
        </p:txBody>
      </p:sp>
      <p:sp>
        <p:nvSpPr>
          <p:cNvPr id="24" name="card-507"/>
          <p:cNvSpPr/>
          <p:nvPr/>
        </p:nvSpPr>
        <p:spPr>
          <a:xfrm>
            <a:off x="4338218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badge-508"/>
          <p:cNvSpPr/>
          <p:nvPr/>
        </p:nvSpPr>
        <p:spPr>
          <a:xfrm>
            <a:off x="4521098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badgetxt-509"/>
          <p:cNvSpPr txBox="1"/>
          <p:nvPr/>
        </p:nvSpPr>
        <p:spPr>
          <a:xfrm>
            <a:off x="452109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cardh-510"/>
          <p:cNvSpPr txBox="1"/>
          <p:nvPr/>
        </p:nvSpPr>
        <p:spPr>
          <a:xfrm>
            <a:off x="5069738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API normalises values</a:t>
            </a:r>
            <a:endParaRPr lang="en-US" sz="1800" dirty="0"/>
          </a:p>
        </p:txBody>
      </p:sp>
      <p:sp>
        <p:nvSpPr>
          <p:cNvPr id="28" name="cardb-511"/>
          <p:cNvSpPr txBox="1"/>
          <p:nvPr/>
        </p:nvSpPr>
        <p:spPr>
          <a:xfrm>
            <a:off x="4566818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dashboard showed a diff every plan because the API reshapes JSON. Fix: send the stored shape, not ignore_changes.</a:t>
            </a:r>
            <a:endParaRPr lang="en-US" sz="1600" dirty="0"/>
          </a:p>
        </p:txBody>
      </p:sp>
      <p:sp>
        <p:nvSpPr>
          <p:cNvPr id="29" name="card-512"/>
          <p:cNvSpPr/>
          <p:nvPr/>
        </p:nvSpPr>
        <p:spPr>
          <a:xfrm>
            <a:off x="8127797" y="4069080"/>
            <a:ext cx="351525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badge-513"/>
          <p:cNvSpPr/>
          <p:nvPr/>
        </p:nvSpPr>
        <p:spPr>
          <a:xfrm>
            <a:off x="8310677" y="4251960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badgetxt-514"/>
          <p:cNvSpPr txBox="1"/>
          <p:nvPr/>
        </p:nvSpPr>
        <p:spPr>
          <a:xfrm>
            <a:off x="8310677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cardh-515"/>
          <p:cNvSpPr txBox="1"/>
          <p:nvPr/>
        </p:nvSpPr>
        <p:spPr>
          <a:xfrm>
            <a:off x="8859317" y="4224528"/>
            <a:ext cx="26008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Stale saved plan</a:t>
            </a:r>
            <a:endParaRPr lang="en-US" sz="1800" dirty="0"/>
          </a:p>
        </p:txBody>
      </p:sp>
      <p:sp>
        <p:nvSpPr>
          <p:cNvPr id="33" name="cardb-516"/>
          <p:cNvSpPr txBox="1"/>
          <p:nvPr/>
        </p:nvSpPr>
        <p:spPr>
          <a:xfrm>
            <a:off x="8356397" y="4818888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 saved plan is tied to the state it was made from; delete old *.tfplan files (phase6.tfplan was removed).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51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7 · IMPORT, REFACTORING AND DRIFT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Check yourself: import and drift</a:t>
            </a:r>
            <a:endParaRPr lang="en-US" sz="3200" dirty="0"/>
          </a:p>
        </p:txBody>
      </p:sp>
      <p:sp>
        <p:nvSpPr>
          <p:cNvPr id="4" name="qcard-518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519"/>
          <p:cNvSpPr/>
          <p:nvPr/>
        </p:nvSpPr>
        <p:spPr>
          <a:xfrm>
            <a:off x="731520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badgetxt-520"/>
          <p:cNvSpPr txBox="1"/>
          <p:nvPr/>
        </p:nvSpPr>
        <p:spPr>
          <a:xfrm>
            <a:off x="731520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7" name="q-521"/>
          <p:cNvSpPr txBox="1"/>
          <p:nvPr/>
        </p:nvSpPr>
        <p:spPr>
          <a:xfrm>
            <a:off x="1280160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import with code review?</a:t>
            </a:r>
            <a:endParaRPr lang="en-US" sz="1600" dirty="0"/>
          </a:p>
        </p:txBody>
      </p:sp>
      <p:sp>
        <p:nvSpPr>
          <p:cNvPr id="8" name="aback-522"/>
          <p:cNvSpPr/>
          <p:nvPr/>
        </p:nvSpPr>
        <p:spPr>
          <a:xfrm>
            <a:off x="685800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-523"/>
          <p:cNvSpPr txBox="1"/>
          <p:nvPr/>
        </p:nvSpPr>
        <p:spPr>
          <a:xfrm>
            <a:off x="822960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import block in configuration, shown in plan, applied normally.</a:t>
            </a:r>
            <a:endParaRPr lang="en-US" sz="1500" dirty="0"/>
          </a:p>
        </p:txBody>
      </p:sp>
      <p:sp>
        <p:nvSpPr>
          <p:cNvPr id="10" name="qcard-524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525"/>
          <p:cNvSpPr/>
          <p:nvPr/>
        </p:nvSpPr>
        <p:spPr>
          <a:xfrm>
            <a:off x="6415888" y="178308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badgetxt-526"/>
          <p:cNvSpPr txBox="1"/>
          <p:nvPr/>
        </p:nvSpPr>
        <p:spPr>
          <a:xfrm>
            <a:off x="6415888" y="1783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3" name="q-527"/>
          <p:cNvSpPr txBox="1"/>
          <p:nvPr/>
        </p:nvSpPr>
        <p:spPr>
          <a:xfrm>
            <a:off x="6964528" y="173736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You renamed a resource. How do you avoid recreation?</a:t>
            </a:r>
            <a:endParaRPr lang="en-US" sz="1600" dirty="0"/>
          </a:p>
        </p:txBody>
      </p:sp>
      <p:sp>
        <p:nvSpPr>
          <p:cNvPr id="14" name="aback-528"/>
          <p:cNvSpPr/>
          <p:nvPr/>
        </p:nvSpPr>
        <p:spPr>
          <a:xfrm>
            <a:off x="6370168" y="265176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a-529"/>
          <p:cNvSpPr txBox="1"/>
          <p:nvPr/>
        </p:nvSpPr>
        <p:spPr>
          <a:xfrm>
            <a:off x="6507328" y="271576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Add a moved block from old to new address.</a:t>
            </a:r>
            <a:endParaRPr lang="en-US" sz="1500" dirty="0"/>
          </a:p>
        </p:txBody>
      </p:sp>
      <p:sp>
        <p:nvSpPr>
          <p:cNvPr id="16" name="qcard-530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531"/>
          <p:cNvSpPr/>
          <p:nvPr/>
        </p:nvSpPr>
        <p:spPr>
          <a:xfrm>
            <a:off x="731520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532"/>
          <p:cNvSpPr txBox="1"/>
          <p:nvPr/>
        </p:nvSpPr>
        <p:spPr>
          <a:xfrm>
            <a:off x="731520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19" name="q-533"/>
          <p:cNvSpPr txBox="1"/>
          <p:nvPr/>
        </p:nvSpPr>
        <p:spPr>
          <a:xfrm>
            <a:off x="1280160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plan shows a change every time with no code change. Why?</a:t>
            </a:r>
            <a:endParaRPr lang="en-US" sz="1600" dirty="0"/>
          </a:p>
        </p:txBody>
      </p:sp>
      <p:sp>
        <p:nvSpPr>
          <p:cNvPr id="20" name="aback-534"/>
          <p:cNvSpPr/>
          <p:nvPr/>
        </p:nvSpPr>
        <p:spPr>
          <a:xfrm>
            <a:off x="685800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a-535"/>
          <p:cNvSpPr txBox="1"/>
          <p:nvPr/>
        </p:nvSpPr>
        <p:spPr>
          <a:xfrm>
            <a:off x="822960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provider or API normalises the value; match its format (or as a last resort ignore_changes).</a:t>
            </a:r>
            <a:endParaRPr lang="en-US" sz="1500" dirty="0"/>
          </a:p>
        </p:txBody>
      </p:sp>
      <p:sp>
        <p:nvSpPr>
          <p:cNvPr id="22" name="qcard-536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537"/>
          <p:cNvSpPr/>
          <p:nvPr/>
        </p:nvSpPr>
        <p:spPr>
          <a:xfrm>
            <a:off x="6415888" y="42519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badgetxt-538"/>
          <p:cNvSpPr txBox="1"/>
          <p:nvPr/>
        </p:nvSpPr>
        <p:spPr>
          <a:xfrm>
            <a:off x="6415888" y="4251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25" name="q-539"/>
          <p:cNvSpPr txBox="1"/>
          <p:nvPr/>
        </p:nvSpPr>
        <p:spPr>
          <a:xfrm>
            <a:off x="6964528" y="4206240"/>
            <a:ext cx="449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did you detect drift continuously?</a:t>
            </a:r>
            <a:endParaRPr lang="en-US" sz="1600" dirty="0"/>
          </a:p>
        </p:txBody>
      </p:sp>
      <p:sp>
        <p:nvSpPr>
          <p:cNvPr id="26" name="aback-540"/>
          <p:cNvSpPr/>
          <p:nvPr/>
        </p:nvSpPr>
        <p:spPr>
          <a:xfrm>
            <a:off x="6370168" y="5120640"/>
            <a:ext cx="5135728" cy="100584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a-541"/>
          <p:cNvSpPr txBox="1"/>
          <p:nvPr/>
        </p:nvSpPr>
        <p:spPr>
          <a:xfrm>
            <a:off x="6507328" y="5184648"/>
            <a:ext cx="486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Daily CI plan with -detailed-exitcode, plus an alert on changes not made by the Terraform 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542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08</a:t>
            </a:r>
            <a:endParaRPr lang="en-US" sz="13000" dirty="0"/>
          </a:p>
        </p:txBody>
      </p:sp>
      <p:sp>
        <p:nvSpPr>
          <p:cNvPr id="3" name="sectag-543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1 · TOPIC 8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Terraform in CI/CD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the project moved Terraform from a terminal into a reviewed, approved, keyless pipeline, and the practices that make that safe.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544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8 · TERRAFORM IN CI/CD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pipeline</a:t>
            </a:r>
            <a:endParaRPr lang="en-US" sz="3200" dirty="0"/>
          </a:p>
        </p:txBody>
      </p:sp>
      <p:sp>
        <p:nvSpPr>
          <p:cNvPr id="4" name="step-545"/>
          <p:cNvSpPr/>
          <p:nvPr/>
        </p:nvSpPr>
        <p:spPr>
          <a:xfrm>
            <a:off x="548640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badge-546"/>
          <p:cNvSpPr/>
          <p:nvPr/>
        </p:nvSpPr>
        <p:spPr>
          <a:xfrm>
            <a:off x="1283178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badgetxt-547"/>
          <p:cNvSpPr txBox="1"/>
          <p:nvPr/>
        </p:nvSpPr>
        <p:spPr>
          <a:xfrm>
            <a:off x="1283178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h-548"/>
          <p:cNvSpPr txBox="1"/>
          <p:nvPr/>
        </p:nvSpPr>
        <p:spPr>
          <a:xfrm>
            <a:off x="658368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Pull request</a:t>
            </a:r>
            <a:endParaRPr lang="en-US" sz="1700" dirty="0"/>
          </a:p>
        </p:txBody>
      </p:sp>
      <p:sp>
        <p:nvSpPr>
          <p:cNvPr id="8" name="stepb-549"/>
          <p:cNvSpPr txBox="1"/>
          <p:nvPr/>
        </p:nvSpPr>
        <p:spPr>
          <a:xfrm>
            <a:off x="685800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fmt -check, init, validate, plan; plan posted as a PR comment.</a:t>
            </a:r>
            <a:endParaRPr lang="en-US" sz="1500" dirty="0"/>
          </a:p>
        </p:txBody>
      </p:sp>
      <p:sp>
        <p:nvSpPr>
          <p:cNvPr id="9" name="arrow-550"/>
          <p:cNvSpPr/>
          <p:nvPr/>
        </p:nvSpPr>
        <p:spPr>
          <a:xfrm>
            <a:off x="2502347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step-551"/>
          <p:cNvSpPr/>
          <p:nvPr/>
        </p:nvSpPr>
        <p:spPr>
          <a:xfrm>
            <a:off x="2849819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badge-552"/>
          <p:cNvSpPr/>
          <p:nvPr/>
        </p:nvSpPr>
        <p:spPr>
          <a:xfrm>
            <a:off x="3584357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badgetxt-553"/>
          <p:cNvSpPr txBox="1"/>
          <p:nvPr/>
        </p:nvSpPr>
        <p:spPr>
          <a:xfrm>
            <a:off x="3584357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steph-554"/>
          <p:cNvSpPr txBox="1"/>
          <p:nvPr/>
        </p:nvSpPr>
        <p:spPr>
          <a:xfrm>
            <a:off x="2959547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Review</a:t>
            </a:r>
            <a:endParaRPr lang="en-US" sz="1700" dirty="0"/>
          </a:p>
        </p:txBody>
      </p:sp>
      <p:sp>
        <p:nvSpPr>
          <p:cNvPr id="14" name="stepb-555"/>
          <p:cNvSpPr txBox="1"/>
          <p:nvPr/>
        </p:nvSpPr>
        <p:spPr>
          <a:xfrm>
            <a:off x="2986979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human reads the diff; nothing changes yet.</a:t>
            </a:r>
            <a:endParaRPr lang="en-US" sz="1500" dirty="0"/>
          </a:p>
        </p:txBody>
      </p:sp>
      <p:sp>
        <p:nvSpPr>
          <p:cNvPr id="15" name="arrow-556"/>
          <p:cNvSpPr/>
          <p:nvPr/>
        </p:nvSpPr>
        <p:spPr>
          <a:xfrm>
            <a:off x="4803526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step-557"/>
          <p:cNvSpPr/>
          <p:nvPr/>
        </p:nvSpPr>
        <p:spPr>
          <a:xfrm>
            <a:off x="5150998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7" name="badge-558"/>
          <p:cNvSpPr/>
          <p:nvPr/>
        </p:nvSpPr>
        <p:spPr>
          <a:xfrm>
            <a:off x="5885536" y="17099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adgetxt-559"/>
          <p:cNvSpPr txBox="1"/>
          <p:nvPr/>
        </p:nvSpPr>
        <p:spPr>
          <a:xfrm>
            <a:off x="5885536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teph-560"/>
          <p:cNvSpPr txBox="1"/>
          <p:nvPr/>
        </p:nvSpPr>
        <p:spPr>
          <a:xfrm>
            <a:off x="5260726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Approval gate</a:t>
            </a:r>
            <a:endParaRPr lang="en-US" sz="1700" dirty="0"/>
          </a:p>
        </p:txBody>
      </p:sp>
      <p:sp>
        <p:nvSpPr>
          <p:cNvPr id="20" name="stepb-561"/>
          <p:cNvSpPr txBox="1"/>
          <p:nvPr/>
        </p:nvSpPr>
        <p:spPr>
          <a:xfrm>
            <a:off x="5288158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After merge, apply waits for the 'production' environment reviewer.</a:t>
            </a:r>
            <a:endParaRPr lang="en-US" sz="1500" dirty="0"/>
          </a:p>
        </p:txBody>
      </p:sp>
      <p:sp>
        <p:nvSpPr>
          <p:cNvPr id="21" name="arrow-562"/>
          <p:cNvSpPr/>
          <p:nvPr/>
        </p:nvSpPr>
        <p:spPr>
          <a:xfrm>
            <a:off x="7104705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step-563"/>
          <p:cNvSpPr/>
          <p:nvPr/>
        </p:nvSpPr>
        <p:spPr>
          <a:xfrm>
            <a:off x="7452177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3" name="badge-564"/>
          <p:cNvSpPr/>
          <p:nvPr/>
        </p:nvSpPr>
        <p:spPr>
          <a:xfrm>
            <a:off x="8186715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badgetxt-565"/>
          <p:cNvSpPr txBox="1"/>
          <p:nvPr/>
        </p:nvSpPr>
        <p:spPr>
          <a:xfrm>
            <a:off x="8186715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steph-566"/>
          <p:cNvSpPr txBox="1"/>
          <p:nvPr/>
        </p:nvSpPr>
        <p:spPr>
          <a:xfrm>
            <a:off x="7561905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Apply</a:t>
            </a:r>
            <a:endParaRPr lang="en-US" sz="1700" dirty="0"/>
          </a:p>
        </p:txBody>
      </p:sp>
      <p:sp>
        <p:nvSpPr>
          <p:cNvPr id="26" name="stepb-567"/>
          <p:cNvSpPr txBox="1"/>
          <p:nvPr/>
        </p:nvSpPr>
        <p:spPr>
          <a:xfrm>
            <a:off x="7589337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Runs as network-admin-sa via WIF; no keys anywhere.</a:t>
            </a:r>
            <a:endParaRPr lang="en-US" sz="1500" dirty="0"/>
          </a:p>
        </p:txBody>
      </p:sp>
      <p:sp>
        <p:nvSpPr>
          <p:cNvPr id="27" name="arrow-568"/>
          <p:cNvSpPr/>
          <p:nvPr/>
        </p:nvSpPr>
        <p:spPr>
          <a:xfrm>
            <a:off x="9405884" y="3108960"/>
            <a:ext cx="283464" cy="27432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8" name="step-569"/>
          <p:cNvSpPr/>
          <p:nvPr/>
        </p:nvSpPr>
        <p:spPr>
          <a:xfrm>
            <a:off x="9753356" y="1920240"/>
            <a:ext cx="1889699" cy="26517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9" name="badge-570"/>
          <p:cNvSpPr/>
          <p:nvPr/>
        </p:nvSpPr>
        <p:spPr>
          <a:xfrm>
            <a:off x="10487894" y="17099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badgetxt-571"/>
          <p:cNvSpPr txBox="1"/>
          <p:nvPr/>
        </p:nvSpPr>
        <p:spPr>
          <a:xfrm>
            <a:off x="10487894" y="1709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1" name="steph-572"/>
          <p:cNvSpPr txBox="1"/>
          <p:nvPr/>
        </p:nvSpPr>
        <p:spPr>
          <a:xfrm>
            <a:off x="9863084" y="2240280"/>
            <a:ext cx="16702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Schedule</a:t>
            </a:r>
            <a:endParaRPr lang="en-US" sz="1700" dirty="0"/>
          </a:p>
        </p:txBody>
      </p:sp>
      <p:sp>
        <p:nvSpPr>
          <p:cNvPr id="32" name="stepb-573"/>
          <p:cNvSpPr txBox="1"/>
          <p:nvPr/>
        </p:nvSpPr>
        <p:spPr>
          <a:xfrm>
            <a:off x="9890516" y="2926080"/>
            <a:ext cx="16153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Daily plan: exit code 2 fails the job as drift. Plus a config backup.</a:t>
            </a:r>
            <a:endParaRPr lang="en-US" sz="1500" dirty="0"/>
          </a:p>
        </p:txBody>
      </p:sp>
      <p:sp>
        <p:nvSpPr>
          <p:cNvPr id="33" name="belowbox-574"/>
          <p:cNvSpPr/>
          <p:nvPr/>
        </p:nvSpPr>
        <p:spPr>
          <a:xfrm>
            <a:off x="548640" y="4892040"/>
            <a:ext cx="11094415" cy="13716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elow-575"/>
          <p:cNvSpPr txBox="1"/>
          <p:nvPr/>
        </p:nvSpPr>
        <p:spPr>
          <a:xfrm>
            <a:off x="822960" y="498348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 needs every variable without prompts: TF_INPUT=false, values from terraform.tfvars.example plus -var for the secret. TF_IN_AUTOMATION=true trims advice text from the output.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576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8 · TERRAFORM IN CI/CD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Best practices, and how the project applied them</a:t>
            </a:r>
            <a:endParaRPr lang="en-US" sz="3200" dirty="0"/>
          </a:p>
        </p:txBody>
      </p:sp>
      <p:graphicFrame>
        <p:nvGraphicFramePr>
          <p:cNvPr id="36" name="table-5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Practice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In this project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Pin versions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required_version and provider ranges; TF 1.16.5 in CI matching Cloud Shell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Remote, locked, versioned state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GCS backend with versioning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 secrets in code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tfvars gitignored; PSK generated by random_password; email via CI secret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Plan before apply, review every plan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 comment + approval gate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Least-privilege runner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CI identity can only impersonate the Terraform SA; IAM grants stay outside Terraform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Format and validate in CI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fmt -check fails unformatted code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Detect drift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Scheduled plan with -detailed-exitcode</a:t>
                      </a:r>
                      <a:endParaRPr lang="en-US" sz="1600" dirty="0"/>
                    </a:p>
                  </a:txBody>
                  <a:tcPr marL="91440" marR="91440" marT="73152" marB="73152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57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TOPIC 8 · TERRAFORM IN CI/CD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Lessons learned with Terraform in this project</a:t>
            </a:r>
            <a:endParaRPr lang="en-US" sz="3200" dirty="0"/>
          </a:p>
        </p:txBody>
      </p:sp>
      <p:graphicFrame>
        <p:nvGraphicFramePr>
          <p:cNvPr id="37" name="table-5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40480"/>
                <a:gridCol w="3959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Problem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Cause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Fix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Unreadable module directory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Module folder not uploaded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Upload, then init again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Unsupported attribute flow_logs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Old module version on disk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Sync files; verify with grep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409 POLICY_ALREADY_EXISTS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Object existed before Terraform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terraform import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Diff on every plan (dashboard)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API normalises JSON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Generate the stored shape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400 resource.type required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Monitoring API rule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Name the type the metric is written under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Failed to open state: invalid token JSON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Broken ADC in Cloud Shell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export GOOGLE_OAUTH_ACCESS_TOKEN</a:t>
                      </a:r>
                      <a:endParaRPr lang="en-US" sz="1700" dirty="0"/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num-580"/>
          <p:cNvSpPr txBox="1"/>
          <p:nvPr/>
        </p:nvSpPr>
        <p:spPr>
          <a:xfrm>
            <a:off x="9052560" y="17373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chemeClr val="accent1"/>
                </a:solidFill>
              </a:rPr>
              <a:t>Q</a:t>
            </a:r>
            <a:endParaRPr lang="en-US" sz="13000" dirty="0"/>
          </a:p>
        </p:txBody>
      </p:sp>
      <p:sp>
        <p:nvSpPr>
          <p:cNvPr id="3" name="sectag-581"/>
          <p:cNvSpPr txBox="1"/>
          <p:nvPr/>
        </p:nvSpPr>
        <p:spPr>
          <a:xfrm>
            <a:off x="548640" y="2240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PART 2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26517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Terraform interview questions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8862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48 questions with model answers: fundamentals, state, expressions and modules, lifecycle and operations, CI/CD and security, and questions about your own project.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582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FUNDAMENTALS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Fundamentals</a:t>
            </a:r>
            <a:endParaRPr lang="en-US" sz="3200" dirty="0"/>
          </a:p>
        </p:txBody>
      </p:sp>
      <p:sp>
        <p:nvSpPr>
          <p:cNvPr id="4" name="card-583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584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585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586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Terraform and why use it?</a:t>
            </a:r>
            <a:endParaRPr lang="en-US" sz="1600" dirty="0"/>
          </a:p>
        </p:txBody>
      </p:sp>
      <p:sp>
        <p:nvSpPr>
          <p:cNvPr id="8" name="a-587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open-source IaC tool that provisions infrastructure declaratively across many providers. Benefits: versioned, reviewable, repeatable environments and a plan before every change.</a:t>
            </a:r>
            <a:endParaRPr lang="en-US" sz="1500" dirty="0"/>
          </a:p>
        </p:txBody>
      </p:sp>
      <p:sp>
        <p:nvSpPr>
          <p:cNvPr id="9" name="card-588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589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590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591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 the Terraform workflow.</a:t>
            </a:r>
            <a:endParaRPr lang="en-US" sz="1600" dirty="0"/>
          </a:p>
        </p:txBody>
      </p:sp>
      <p:sp>
        <p:nvSpPr>
          <p:cNvPr id="13" name="a-592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Write code → init (providers, modules, backend) → plan (diff against state and reality) → apply (execute) → destroy when finished.</a:t>
            </a:r>
            <a:endParaRPr lang="en-US" sz="1500" dirty="0"/>
          </a:p>
        </p:txBody>
      </p:sp>
      <p:sp>
        <p:nvSpPr>
          <p:cNvPr id="14" name="card-593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594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595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596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a provider?</a:t>
            </a:r>
            <a:endParaRPr lang="en-US" sz="1600" dirty="0"/>
          </a:p>
        </p:txBody>
      </p:sp>
      <p:sp>
        <p:nvSpPr>
          <p:cNvPr id="18" name="a-597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plugin that maps resources to a platform's API (google, aws, kubernetes, random). Configured with credentials and defaults, versioned via required_providers.</a:t>
            </a:r>
            <a:endParaRPr lang="en-US" sz="1500" dirty="0"/>
          </a:p>
        </p:txBody>
      </p:sp>
      <p:sp>
        <p:nvSpPr>
          <p:cNvPr id="19" name="card-598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599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600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601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resource vs data source?</a:t>
            </a:r>
            <a:endParaRPr lang="en-US" sz="1600" dirty="0"/>
          </a:p>
        </p:txBody>
      </p:sp>
      <p:sp>
        <p:nvSpPr>
          <p:cNvPr id="23" name="a-602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resource is created and managed by Terraform. A data source reads existing information without managing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603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FUNDAMENTALS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Fundamentals</a:t>
            </a:r>
            <a:endParaRPr lang="en-US" sz="3200" dirty="0"/>
          </a:p>
        </p:txBody>
      </p:sp>
      <p:sp>
        <p:nvSpPr>
          <p:cNvPr id="4" name="card-604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605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606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607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terraform plan actually do?</a:t>
            </a:r>
            <a:endParaRPr lang="en-US" sz="1600" dirty="0"/>
          </a:p>
        </p:txBody>
      </p:sp>
      <p:sp>
        <p:nvSpPr>
          <p:cNvPr id="8" name="a-608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Refreshes state from the real infrastructure, compares it with the configuration, and outputs the actions needed: create, update in place, replace or destroy.</a:t>
            </a:r>
            <a:endParaRPr lang="en-US" sz="1500" dirty="0"/>
          </a:p>
        </p:txBody>
      </p:sp>
      <p:sp>
        <p:nvSpPr>
          <p:cNvPr id="9" name="card-609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610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611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612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the difference between Terraform and Ansible?</a:t>
            </a:r>
            <a:endParaRPr lang="en-US" sz="1600" dirty="0"/>
          </a:p>
        </p:txBody>
      </p:sp>
      <p:sp>
        <p:nvSpPr>
          <p:cNvPr id="13" name="a-613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provisions infrastructure declaratively and tracks state. Ansible configures software procedurally and is mostly stateless. They're often used together.</a:t>
            </a:r>
            <a:endParaRPr lang="en-US" sz="1500" dirty="0"/>
          </a:p>
        </p:txBody>
      </p:sp>
      <p:sp>
        <p:nvSpPr>
          <p:cNvPr id="14" name="card-614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615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616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617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happens on apply if nothing changed?</a:t>
            </a:r>
            <a:endParaRPr lang="en-US" sz="1600" dirty="0"/>
          </a:p>
        </p:txBody>
      </p:sp>
      <p:sp>
        <p:nvSpPr>
          <p:cNvPr id="18" name="a-618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Nothing. Terraform is idempotent and reports no changes.</a:t>
            </a:r>
            <a:endParaRPr lang="en-US" sz="1500" dirty="0"/>
          </a:p>
        </p:txBody>
      </p:sp>
      <p:sp>
        <p:nvSpPr>
          <p:cNvPr id="19" name="card-619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620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621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622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HCL?</a:t>
            </a:r>
            <a:endParaRPr lang="en-US" sz="1600" dirty="0"/>
          </a:p>
        </p:txBody>
      </p:sp>
      <p:sp>
        <p:nvSpPr>
          <p:cNvPr id="23" name="a-623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HashiCorp Configuration Language: declarative blocks, arguments and expressions, with types, functions and for expressions. JSON is also accepted.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624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STATE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State</a:t>
            </a:r>
            <a:endParaRPr lang="en-US" sz="3200" dirty="0"/>
          </a:p>
        </p:txBody>
      </p:sp>
      <p:sp>
        <p:nvSpPr>
          <p:cNvPr id="4" name="card-625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626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627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628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Terraform state and why is it needed?</a:t>
            </a:r>
            <a:endParaRPr lang="en-US" sz="1600" dirty="0"/>
          </a:p>
        </p:txBody>
      </p:sp>
      <p:sp>
        <p:nvSpPr>
          <p:cNvPr id="8" name="a-629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mapping from resource addresses in code to real objects and their attributes. It enables diffs, dependency tracking and performance (no full discovery every run).</a:t>
            </a:r>
            <a:endParaRPr lang="en-US" sz="1500" dirty="0"/>
          </a:p>
        </p:txBody>
      </p:sp>
      <p:sp>
        <p:nvSpPr>
          <p:cNvPr id="9" name="card-630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631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632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633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use a remote backend?</a:t>
            </a:r>
            <a:endParaRPr lang="en-US" sz="1600" dirty="0"/>
          </a:p>
        </p:txBody>
      </p:sp>
      <p:sp>
        <p:nvSpPr>
          <p:cNvPr id="13" name="a-634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Shared access for teams, state locking to prevent concurrent writes, versioning for recovery, and keeping secrets off laptops.</a:t>
            </a:r>
            <a:endParaRPr lang="en-US" sz="1500" dirty="0"/>
          </a:p>
        </p:txBody>
      </p:sp>
      <p:sp>
        <p:nvSpPr>
          <p:cNvPr id="14" name="card-635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636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637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638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does state locking work?</a:t>
            </a:r>
            <a:endParaRPr lang="en-US" sz="1600" dirty="0"/>
          </a:p>
        </p:txBody>
      </p:sp>
      <p:sp>
        <p:nvSpPr>
          <p:cNvPr id="18" name="a-639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backend takes a lock at the start of plan/apply and releases it at the end. Others wait or fail. A crash can leave a lock; remove it with force-unlock.</a:t>
            </a:r>
            <a:endParaRPr lang="en-US" sz="1500" dirty="0"/>
          </a:p>
        </p:txBody>
      </p:sp>
      <p:sp>
        <p:nvSpPr>
          <p:cNvPr id="19" name="card-640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641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pilltxt-642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Troubleshooting</a:t>
            </a:r>
            <a:endParaRPr lang="en-US" sz="1200" dirty="0"/>
          </a:p>
        </p:txBody>
      </p:sp>
      <p:sp>
        <p:nvSpPr>
          <p:cNvPr id="22" name="q-643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Someone deleted a resource manually. What happens on the next plan?</a:t>
            </a:r>
            <a:endParaRPr lang="en-US" sz="1600" dirty="0"/>
          </a:p>
        </p:txBody>
      </p:sp>
      <p:sp>
        <p:nvSpPr>
          <p:cNvPr id="23" name="a-644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Refresh finds it missing, so the plan shows it will be created again. Apply restores it (as in the DR drill).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645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STATE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State</a:t>
            </a:r>
            <a:endParaRPr lang="en-US" sz="3200" dirty="0"/>
          </a:p>
        </p:txBody>
      </p:sp>
      <p:sp>
        <p:nvSpPr>
          <p:cNvPr id="4" name="card-646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647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pilltxt-648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Troubleshooting</a:t>
            </a:r>
            <a:endParaRPr lang="en-US" sz="1200" dirty="0"/>
          </a:p>
        </p:txBody>
      </p:sp>
      <p:sp>
        <p:nvSpPr>
          <p:cNvPr id="7" name="q-649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State file is corrupted. What do you do?</a:t>
            </a:r>
            <a:endParaRPr lang="en-US" sz="1600" dirty="0"/>
          </a:p>
        </p:txBody>
      </p:sp>
      <p:sp>
        <p:nvSpPr>
          <p:cNvPr id="8" name="a-650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Restore a previous version from the versioned backend, then run plan to confirm no unexpected changes. Rebuild with import if no good copy exists.</a:t>
            </a:r>
            <a:endParaRPr lang="en-US" sz="1500" dirty="0"/>
          </a:p>
        </p:txBody>
      </p:sp>
      <p:sp>
        <p:nvSpPr>
          <p:cNvPr id="9" name="card-651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652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653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654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handle secrets in state?</a:t>
            </a:r>
            <a:endParaRPr lang="en-US" sz="1600" dirty="0"/>
          </a:p>
        </p:txBody>
      </p:sp>
      <p:sp>
        <p:nvSpPr>
          <p:cNvPr id="13" name="a-655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Assume state is sensitive: encrypted, private backend, least-privilege access. Mark outputs sensitive, prefer secret managers, never commit state.</a:t>
            </a:r>
            <a:endParaRPr lang="en-US" sz="1500" dirty="0"/>
          </a:p>
        </p:txBody>
      </p:sp>
      <p:sp>
        <p:nvSpPr>
          <p:cNvPr id="14" name="card-656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657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658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659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terraform import vs import block?</a:t>
            </a:r>
            <a:endParaRPr lang="en-US" sz="1600" dirty="0"/>
          </a:p>
        </p:txBody>
      </p:sp>
      <p:sp>
        <p:nvSpPr>
          <p:cNvPr id="18" name="a-660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CLI command edits state directly. The import block (1.5+) is declared in code and shown in plan, so it's reviewable in CI.</a:t>
            </a:r>
            <a:endParaRPr lang="en-US" sz="1500" dirty="0"/>
          </a:p>
        </p:txBody>
      </p:sp>
      <p:sp>
        <p:nvSpPr>
          <p:cNvPr id="19" name="card-661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662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663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664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would you use terraform state mv or a moved block?</a:t>
            </a:r>
            <a:endParaRPr lang="en-US" sz="1600" dirty="0"/>
          </a:p>
        </p:txBody>
      </p:sp>
      <p:sp>
        <p:nvSpPr>
          <p:cNvPr id="23" name="a-665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refactoring: renaming a resource or moving it into a module, so Terraform updates the address instead of destroying and recreating.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666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VARIABLES, EXPRESSIONS AND MODULES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Variables, expressions and modules</a:t>
            </a:r>
            <a:endParaRPr lang="en-US" sz="3200" dirty="0"/>
          </a:p>
        </p:txBody>
      </p:sp>
      <p:sp>
        <p:nvSpPr>
          <p:cNvPr id="4" name="card-667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668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669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670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count vs for_each?</a:t>
            </a:r>
            <a:endParaRPr lang="en-US" sz="1600" dirty="0"/>
          </a:p>
        </p:txBody>
      </p:sp>
      <p:sp>
        <p:nvSpPr>
          <p:cNvPr id="8" name="a-671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for_each creates instances keyed by map keys or set strings, so addresses are stable. count uses indexes; removing an item shifts later ones and causes replacements.</a:t>
            </a:r>
            <a:endParaRPr lang="en-US" sz="1500" dirty="0"/>
          </a:p>
        </p:txBody>
      </p:sp>
      <p:sp>
        <p:nvSpPr>
          <p:cNvPr id="9" name="card-672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673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674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675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are locals for?</a:t>
            </a:r>
            <a:endParaRPr lang="en-US" sz="1600" dirty="0"/>
          </a:p>
        </p:txBody>
      </p:sp>
      <p:sp>
        <p:nvSpPr>
          <p:cNvPr id="13" name="a-676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Naming computed expressions once to avoid repetition and make intent clear, e.g. a map of tenants that drives many resources.</a:t>
            </a:r>
            <a:endParaRPr lang="en-US" sz="1500" dirty="0"/>
          </a:p>
        </p:txBody>
      </p:sp>
      <p:sp>
        <p:nvSpPr>
          <p:cNvPr id="14" name="card-677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678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679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680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What's variable precedence?</a:t>
            </a:r>
            <a:endParaRPr lang="en-US" sz="1600" dirty="0"/>
          </a:p>
        </p:txBody>
      </p:sp>
      <p:sp>
        <p:nvSpPr>
          <p:cNvPr id="18" name="a-681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default &lt; TF_VAR_ env vars &lt; terraform.tfvars &lt; *.auto.tfvars (alphabetical) &lt; -var/-var-file (last wins).</a:t>
            </a:r>
            <a:endParaRPr lang="en-US" sz="1500" dirty="0"/>
          </a:p>
        </p:txBody>
      </p:sp>
      <p:sp>
        <p:nvSpPr>
          <p:cNvPr id="19" name="card-682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683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684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685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a dynamic block?</a:t>
            </a:r>
            <a:endParaRPr lang="en-US" sz="1600" dirty="0"/>
          </a:p>
        </p:txBody>
      </p:sp>
      <p:sp>
        <p:nvSpPr>
          <p:cNvPr id="23" name="a-686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Generates repeated nested blocks from a collection, e.g. one log_config or advertised range per item.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687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VARIABLES, EXPRESSIONS AND MODULES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Variables, expressions and modules</a:t>
            </a:r>
            <a:endParaRPr lang="en-US" sz="3200" dirty="0"/>
          </a:p>
        </p:txBody>
      </p:sp>
      <p:sp>
        <p:nvSpPr>
          <p:cNvPr id="4" name="card-688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689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690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691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makes a good module?</a:t>
            </a:r>
            <a:endParaRPr lang="en-US" sz="1600" dirty="0"/>
          </a:p>
        </p:txBody>
      </p:sp>
      <p:sp>
        <p:nvSpPr>
          <p:cNvPr id="8" name="a-692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single purpose, typed and documented inputs with validation, useful outputs, no hard-coded environment values, and versioned releases.</a:t>
            </a:r>
            <a:endParaRPr lang="en-US" sz="1500" dirty="0"/>
          </a:p>
        </p:txBody>
      </p:sp>
      <p:sp>
        <p:nvSpPr>
          <p:cNvPr id="9" name="card-693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694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695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696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share data between modules?</a:t>
            </a:r>
            <a:endParaRPr lang="en-US" sz="1600" dirty="0"/>
          </a:p>
        </p:txBody>
      </p:sp>
      <p:sp>
        <p:nvSpPr>
          <p:cNvPr id="13" name="a-697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Outputs of one module wired as inputs of another in the root module, or read via data sources or terraform_remote_state across states.</a:t>
            </a:r>
            <a:endParaRPr lang="en-US" sz="1500" dirty="0"/>
          </a:p>
        </p:txBody>
      </p:sp>
      <p:sp>
        <p:nvSpPr>
          <p:cNvPr id="14" name="card-698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699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700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701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make a resource conditional?</a:t>
            </a:r>
            <a:endParaRPr lang="en-US" sz="1600" dirty="0"/>
          </a:p>
        </p:txBody>
      </p:sp>
      <p:sp>
        <p:nvSpPr>
          <p:cNvPr id="18" name="a-702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count = var.enabled ? 1 : 0, or for_each over an empty map when disabled.</a:t>
            </a:r>
            <a:endParaRPr lang="en-US" sz="1500" dirty="0"/>
          </a:p>
        </p:txBody>
      </p:sp>
      <p:sp>
        <p:nvSpPr>
          <p:cNvPr id="19" name="card-703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704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705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706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validate inputs?</a:t>
            </a:r>
            <a:endParaRPr lang="en-US" sz="1600" dirty="0"/>
          </a:p>
        </p:txBody>
      </p:sp>
      <p:sp>
        <p:nvSpPr>
          <p:cNvPr id="23" name="a-707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validation blocks on variables (condition + error_message), and preconditions for cross-resource rules.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08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LIFECYCLE, DEPENDENCIES AND OPERATIONS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Lifecycle, dependencies and operations</a:t>
            </a:r>
            <a:endParaRPr lang="en-US" sz="3200" dirty="0"/>
          </a:p>
        </p:txBody>
      </p:sp>
      <p:sp>
        <p:nvSpPr>
          <p:cNvPr id="4" name="card-709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710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711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712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does Terraform determine order of operations?</a:t>
            </a:r>
            <a:endParaRPr lang="en-US" sz="1600" dirty="0"/>
          </a:p>
        </p:txBody>
      </p:sp>
      <p:sp>
        <p:nvSpPr>
          <p:cNvPr id="8" name="a-713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dependency graph built from references between resources; independent resources run in parallel.</a:t>
            </a:r>
            <a:endParaRPr lang="en-US" sz="1500" dirty="0"/>
          </a:p>
        </p:txBody>
      </p:sp>
      <p:sp>
        <p:nvSpPr>
          <p:cNvPr id="9" name="card-714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715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716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717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When do you use depends_on?</a:t>
            </a:r>
            <a:endParaRPr lang="en-US" sz="1600" dirty="0"/>
          </a:p>
        </p:txBody>
      </p:sp>
      <p:sp>
        <p:nvSpPr>
          <p:cNvPr id="13" name="a-718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When there's a dependency Terraform can't infer from references, such as API ordering constraints or IAM that must exist before use.</a:t>
            </a:r>
            <a:endParaRPr lang="en-US" sz="1500" dirty="0"/>
          </a:p>
        </p:txBody>
      </p:sp>
      <p:sp>
        <p:nvSpPr>
          <p:cNvPr id="14" name="card-719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720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721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722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Explain create_before_destroy, prevent_destroy and ignore_changes.</a:t>
            </a:r>
            <a:endParaRPr lang="en-US" sz="1600" dirty="0"/>
          </a:p>
        </p:txBody>
      </p:sp>
      <p:sp>
        <p:nvSpPr>
          <p:cNvPr id="18" name="a-723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the replacement first to avoid downtime; block plans that would destroy; ignore listed attributes changed outside Terraform.</a:t>
            </a:r>
            <a:endParaRPr lang="en-US" sz="1500" dirty="0"/>
          </a:p>
        </p:txBody>
      </p:sp>
      <p:sp>
        <p:nvSpPr>
          <p:cNvPr id="19" name="card-724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725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726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727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-target for, and why avoid it?</a:t>
            </a:r>
            <a:endParaRPr lang="en-US" sz="1600" dirty="0"/>
          </a:p>
        </p:txBody>
      </p:sp>
      <p:sp>
        <p:nvSpPr>
          <p:cNvPr id="23" name="a-728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It limits a plan to specific resources. It's for recovery situations; routine use leaves the rest of the configuration unapplied and state inconsistent.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29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LIFECYCLE, DEPENDENCIES AND OPERATIONS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Lifecycle, dependencies and operations</a:t>
            </a:r>
            <a:endParaRPr lang="en-US" sz="3200" dirty="0"/>
          </a:p>
        </p:txBody>
      </p:sp>
      <p:sp>
        <p:nvSpPr>
          <p:cNvPr id="4" name="card-730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731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illtxt-732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7" name="q-733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does -detailed-exitcode return?</a:t>
            </a:r>
            <a:endParaRPr lang="en-US" sz="1600" dirty="0"/>
          </a:p>
        </p:txBody>
      </p:sp>
      <p:sp>
        <p:nvSpPr>
          <p:cNvPr id="8" name="a-734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0 no changes, 1 error, 2 changes present. Used in CI for drift detection.</a:t>
            </a:r>
            <a:endParaRPr lang="en-US" sz="1500" dirty="0"/>
          </a:p>
        </p:txBody>
      </p:sp>
      <p:sp>
        <p:nvSpPr>
          <p:cNvPr id="9" name="card-735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736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pilltxt-737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2" name="q-738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is terraform refresh / -refresh-only?</a:t>
            </a:r>
            <a:endParaRPr lang="en-US" sz="1600" dirty="0"/>
          </a:p>
        </p:txBody>
      </p:sp>
      <p:sp>
        <p:nvSpPr>
          <p:cNvPr id="13" name="a-739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Updates state to match real infrastructure without changing resources. refresh-only shows the state changes as a plan first.</a:t>
            </a:r>
            <a:endParaRPr lang="en-US" sz="1500" dirty="0"/>
          </a:p>
        </p:txBody>
      </p:sp>
      <p:sp>
        <p:nvSpPr>
          <p:cNvPr id="14" name="card-740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741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pilltxt-742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17" name="q-743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upgrade a provider safely?</a:t>
            </a:r>
            <a:endParaRPr lang="en-US" sz="1600" dirty="0"/>
          </a:p>
        </p:txBody>
      </p:sp>
      <p:sp>
        <p:nvSpPr>
          <p:cNvPr id="18" name="a-744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Change the constraint, run init -upgrade, read the changelog, plan in a non-prod workspace, and commit the updated lock file.</a:t>
            </a:r>
            <a:endParaRPr lang="en-US" sz="1500" dirty="0"/>
          </a:p>
        </p:txBody>
      </p:sp>
      <p:sp>
        <p:nvSpPr>
          <p:cNvPr id="19" name="card-745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746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pilltxt-747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Concept</a:t>
            </a:r>
            <a:endParaRPr lang="en-US" sz="1200" dirty="0"/>
          </a:p>
        </p:txBody>
      </p:sp>
      <p:sp>
        <p:nvSpPr>
          <p:cNvPr id="22" name="q-748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Workspaces vs separate directories for environments?</a:t>
            </a:r>
            <a:endParaRPr lang="en-US" sz="1600" dirty="0"/>
          </a:p>
        </p:txBody>
      </p:sp>
      <p:sp>
        <p:nvSpPr>
          <p:cNvPr id="23" name="a-749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Workspaces share code with separate state; good for identical copies. Separate directories or stacks give clearer isolation and different settings; usually preferred for prod.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50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CI/CD AND SECURITY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CI/CD and security</a:t>
            </a:r>
            <a:endParaRPr lang="en-US" sz="3200" dirty="0"/>
          </a:p>
        </p:txBody>
      </p:sp>
      <p:sp>
        <p:nvSpPr>
          <p:cNvPr id="4" name="card-751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752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illtxt-753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7" name="q-754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Design a Terraform CI/CD pipeline.</a:t>
            </a:r>
            <a:endParaRPr lang="en-US" sz="1600" dirty="0"/>
          </a:p>
        </p:txBody>
      </p:sp>
      <p:sp>
        <p:nvSpPr>
          <p:cNvPr id="8" name="a-755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PR: fmt, validate, lint/security scan, plan posted for review. Merge: plan and apply with an approval gate. Remote locked state, pinned versions, keyless auth, scheduled drift detection.</a:t>
            </a:r>
            <a:endParaRPr lang="en-US" sz="1500" dirty="0"/>
          </a:p>
        </p:txBody>
      </p:sp>
      <p:sp>
        <p:nvSpPr>
          <p:cNvPr id="9" name="card-756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757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illtxt-758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12" name="q-759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should CI authenticate to the cloud?</a:t>
            </a:r>
            <a:endParaRPr lang="en-US" sz="1600" dirty="0"/>
          </a:p>
        </p:txBody>
      </p:sp>
      <p:sp>
        <p:nvSpPr>
          <p:cNvPr id="13" name="a-760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With short-lived federated credentials (OIDC/Workload Identity Federation), not stored keys, scoped to the repo and branch.</a:t>
            </a:r>
            <a:endParaRPr lang="en-US" sz="1500" dirty="0"/>
          </a:p>
        </p:txBody>
      </p:sp>
      <p:sp>
        <p:nvSpPr>
          <p:cNvPr id="14" name="card-761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762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pilltxt-763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17" name="q-764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make sure what's applied is what was reviewed?</a:t>
            </a:r>
            <a:endParaRPr lang="en-US" sz="1600" dirty="0"/>
          </a:p>
        </p:txBody>
      </p:sp>
      <p:sp>
        <p:nvSpPr>
          <p:cNvPr id="18" name="a-765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Save the plan in the plan job and apply that artifact, or re-plan and require no difference; protect the branch and require approval.</a:t>
            </a:r>
            <a:endParaRPr lang="en-US" sz="1500" dirty="0"/>
          </a:p>
        </p:txBody>
      </p:sp>
      <p:sp>
        <p:nvSpPr>
          <p:cNvPr id="19" name="card-766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767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pilltxt-768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22" name="q-769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prevent secrets in Terraform code?</a:t>
            </a:r>
            <a:endParaRPr lang="en-US" sz="1600" dirty="0"/>
          </a:p>
        </p:txBody>
      </p:sp>
      <p:sp>
        <p:nvSpPr>
          <p:cNvPr id="23" name="a-770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Secret managers or CI secrets passed as variables, sensitive = true on variables and outputs, gitignored tfvars, and pre-commit secret scanning.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71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CI/CD AND SECURITY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CI/CD and security</a:t>
            </a:r>
            <a:endParaRPr lang="en-US" sz="3200" dirty="0"/>
          </a:p>
        </p:txBody>
      </p:sp>
      <p:sp>
        <p:nvSpPr>
          <p:cNvPr id="4" name="card-772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773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pilltxt-774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7" name="q-775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static checks would you add?</a:t>
            </a:r>
            <a:endParaRPr lang="en-US" sz="1600" dirty="0"/>
          </a:p>
        </p:txBody>
      </p:sp>
      <p:sp>
        <p:nvSpPr>
          <p:cNvPr id="8" name="a-776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terraform fmt and validate, tflint, tfsec/Checkov/Trivy for misconfigurations, and policy as code (OPA/Sentinel) for org rules.</a:t>
            </a:r>
            <a:endParaRPr lang="en-US" sz="1500" dirty="0"/>
          </a:p>
        </p:txBody>
      </p:sp>
      <p:sp>
        <p:nvSpPr>
          <p:cNvPr id="9" name="card-777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778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pilltxt-779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12" name="q-780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limit blast radius?</a:t>
            </a:r>
            <a:endParaRPr lang="en-US" sz="1600" dirty="0"/>
          </a:p>
        </p:txBody>
      </p:sp>
      <p:sp>
        <p:nvSpPr>
          <p:cNvPr id="13" name="a-781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Split state by domain or environment, least-privilege runner identities, approval gates, prevent_destroy on critical resources, and small, frequent changes.</a:t>
            </a:r>
            <a:endParaRPr lang="en-US" sz="1500" dirty="0"/>
          </a:p>
        </p:txBody>
      </p:sp>
      <p:sp>
        <p:nvSpPr>
          <p:cNvPr id="14" name="card-782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783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pilltxt-784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17" name="q-785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manage drift in a team?</a:t>
            </a:r>
            <a:endParaRPr lang="en-US" sz="1600" dirty="0"/>
          </a:p>
        </p:txBody>
      </p:sp>
      <p:sp>
        <p:nvSpPr>
          <p:cNvPr id="18" name="a-786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Make Terraform the only change path (restrict console IAM), alert on out-of-band changes, and run scheduled plans that fail on drift.</a:t>
            </a:r>
            <a:endParaRPr lang="en-US" sz="1500" dirty="0"/>
          </a:p>
        </p:txBody>
      </p:sp>
      <p:sp>
        <p:nvSpPr>
          <p:cNvPr id="19" name="card-787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788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pilltxt-789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Design</a:t>
            </a:r>
            <a:endParaRPr lang="en-US" sz="1200" dirty="0"/>
          </a:p>
        </p:txBody>
      </p:sp>
      <p:sp>
        <p:nvSpPr>
          <p:cNvPr id="22" name="q-790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do you roll back a bad Terraform change?</a:t>
            </a:r>
            <a:endParaRPr lang="en-US" sz="1600" dirty="0"/>
          </a:p>
        </p:txBody>
      </p:sp>
      <p:sp>
        <p:nvSpPr>
          <p:cNvPr id="23" name="a-791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Revert the commit and apply; restore state from a version if it was damaged. Some changes (deleted data) need backups, which is why plans are reviewed.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792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SCENARIOS FROM YOUR PROJECT · 1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Scenarios from your project</a:t>
            </a:r>
            <a:endParaRPr lang="en-US" sz="3200" dirty="0"/>
          </a:p>
        </p:txBody>
      </p:sp>
      <p:sp>
        <p:nvSpPr>
          <p:cNvPr id="4" name="card-793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794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illtxt-795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7" name="q-796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Tell me about a time a Terraform resource already existed.</a:t>
            </a:r>
            <a:endParaRPr lang="en-US" sz="1600" dirty="0"/>
          </a:p>
        </p:txBody>
      </p:sp>
      <p:sp>
        <p:nvSpPr>
          <p:cNvPr id="8" name="a-797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org policy was pre-enforced by Google, so apply failed with 409. I imported it into state; the next plan showed no changes.</a:t>
            </a:r>
            <a:endParaRPr lang="en-US" sz="1500" dirty="0"/>
          </a:p>
        </p:txBody>
      </p:sp>
      <p:sp>
        <p:nvSpPr>
          <p:cNvPr id="9" name="card-798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799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pilltxt-800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12" name="q-801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Tell me about drift you detected and fixed.</a:t>
            </a:r>
            <a:endParaRPr lang="en-US" sz="1600" dirty="0"/>
          </a:p>
        </p:txBody>
      </p:sp>
      <p:sp>
        <p:nvSpPr>
          <p:cNvPr id="13" name="a-802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 a drill I deleted a firewall rule. The alert fired, the backup diff showed what was missing, terraform plan showed 1 to add, and apply restored it in 249 s.</a:t>
            </a:r>
            <a:endParaRPr lang="en-US" sz="1500" dirty="0"/>
          </a:p>
        </p:txBody>
      </p:sp>
      <p:sp>
        <p:nvSpPr>
          <p:cNvPr id="14" name="card-803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804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illtxt-805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17" name="q-806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Tell me about a perpetual diff.</a:t>
            </a:r>
            <a:endParaRPr lang="en-US" sz="1600" dirty="0"/>
          </a:p>
        </p:txBody>
      </p:sp>
      <p:sp>
        <p:nvSpPr>
          <p:cNvPr id="18" name="a-807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Monitoring dashboard showed changes every plan because the API normalises JSON. I generated JSON in the stored shape instead of hiding it with ignore_changes.</a:t>
            </a:r>
            <a:endParaRPr lang="en-US" sz="1500" dirty="0"/>
          </a:p>
        </p:txBody>
      </p:sp>
      <p:sp>
        <p:nvSpPr>
          <p:cNvPr id="19" name="card-808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809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illtxt-810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22" name="q-811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did you structure your Terraform?</a:t>
            </a:r>
            <a:endParaRPr lang="en-US" sz="1600" dirty="0"/>
          </a:p>
        </p:txBody>
      </p:sp>
      <p:sp>
        <p:nvSpPr>
          <p:cNvPr id="23" name="a-812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Root files per phase (main, vpc_peering, security, egress, observability, dr) with four reusable modules, map-driven for_each, and feature toggles for VPN and DR egress.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-813"/>
          <p:cNvSpPr txBox="1"/>
          <p:nvPr/>
        </p:nvSpPr>
        <p:spPr>
          <a:xfrm>
            <a:off x="548640" y="2743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INTERVIEW QUESTIONS · SCENARIOS FROM YOUR PROJECT · 2 OF 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566928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Scenarios from your project</a:t>
            </a:r>
            <a:endParaRPr lang="en-US" sz="3200" dirty="0"/>
          </a:p>
        </p:txBody>
      </p:sp>
      <p:sp>
        <p:nvSpPr>
          <p:cNvPr id="4" name="card-814"/>
          <p:cNvSpPr/>
          <p:nvPr/>
        </p:nvSpPr>
        <p:spPr>
          <a:xfrm>
            <a:off x="548640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ill-815"/>
          <p:cNvSpPr/>
          <p:nvPr/>
        </p:nvSpPr>
        <p:spPr>
          <a:xfrm>
            <a:off x="731520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illtxt-816"/>
          <p:cNvSpPr txBox="1"/>
          <p:nvPr/>
        </p:nvSpPr>
        <p:spPr>
          <a:xfrm>
            <a:off x="731520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7" name="q-817"/>
          <p:cNvSpPr txBox="1"/>
          <p:nvPr/>
        </p:nvSpPr>
        <p:spPr>
          <a:xfrm>
            <a:off x="731520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did you handle authentication?</a:t>
            </a:r>
            <a:endParaRPr lang="en-US" sz="1600" dirty="0"/>
          </a:p>
        </p:txBody>
      </p:sp>
      <p:sp>
        <p:nvSpPr>
          <p:cNvPr id="8" name="a-818"/>
          <p:cNvSpPr txBox="1"/>
          <p:nvPr/>
        </p:nvSpPr>
        <p:spPr>
          <a:xfrm>
            <a:off x="731520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keys: humans and CI impersonate one Terraform SA; CI reaches it via Workload Identity Federation limited to my repo.</a:t>
            </a:r>
            <a:endParaRPr lang="en-US" sz="1500" dirty="0"/>
          </a:p>
        </p:txBody>
      </p:sp>
      <p:sp>
        <p:nvSpPr>
          <p:cNvPr id="9" name="card-819"/>
          <p:cNvSpPr/>
          <p:nvPr/>
        </p:nvSpPr>
        <p:spPr>
          <a:xfrm>
            <a:off x="6233008" y="160020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ill-820"/>
          <p:cNvSpPr/>
          <p:nvPr/>
        </p:nvSpPr>
        <p:spPr>
          <a:xfrm>
            <a:off x="6415888" y="176479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pilltxt-821"/>
          <p:cNvSpPr txBox="1"/>
          <p:nvPr/>
        </p:nvSpPr>
        <p:spPr>
          <a:xfrm>
            <a:off x="6415888" y="176479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12" name="q-822"/>
          <p:cNvSpPr txBox="1"/>
          <p:nvPr/>
        </p:nvSpPr>
        <p:spPr>
          <a:xfrm>
            <a:off x="6415888" y="214884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went wrong in CI and how did you fix it?</a:t>
            </a:r>
            <a:endParaRPr lang="en-US" sz="1600" dirty="0"/>
          </a:p>
        </p:txBody>
      </p:sp>
      <p:sp>
        <p:nvSpPr>
          <p:cNvPr id="13" name="a-823"/>
          <p:cNvSpPr txBox="1"/>
          <p:nvPr/>
        </p:nvSpPr>
        <p:spPr>
          <a:xfrm>
            <a:off x="6415888" y="274320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 failed because WIF values were environment variables only visible to the apply job. Moved them to repository variables; the next run planned 'No changes'.</a:t>
            </a:r>
            <a:endParaRPr lang="en-US" sz="1500" dirty="0"/>
          </a:p>
        </p:txBody>
      </p:sp>
      <p:sp>
        <p:nvSpPr>
          <p:cNvPr id="14" name="card-824"/>
          <p:cNvSpPr/>
          <p:nvPr/>
        </p:nvSpPr>
        <p:spPr>
          <a:xfrm>
            <a:off x="548640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ill-825"/>
          <p:cNvSpPr/>
          <p:nvPr/>
        </p:nvSpPr>
        <p:spPr>
          <a:xfrm>
            <a:off x="731520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pilltxt-826"/>
          <p:cNvSpPr txBox="1"/>
          <p:nvPr/>
        </p:nvSpPr>
        <p:spPr>
          <a:xfrm>
            <a:off x="731520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17" name="q-827"/>
          <p:cNvSpPr txBox="1"/>
          <p:nvPr/>
        </p:nvSpPr>
        <p:spPr>
          <a:xfrm>
            <a:off x="731520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did you protect the DR design in code?</a:t>
            </a:r>
            <a:endParaRPr lang="en-US" sz="1600" dirty="0"/>
          </a:p>
        </p:txBody>
      </p:sp>
      <p:sp>
        <p:nvSpPr>
          <p:cNvPr id="18" name="a-828"/>
          <p:cNvSpPr txBox="1"/>
          <p:nvPr/>
        </p:nvSpPr>
        <p:spPr>
          <a:xfrm>
            <a:off x="731520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Preconditions in the vpc module fail the plan if a network lacks a DR-region subnet or has duplicate CIDRs.</a:t>
            </a:r>
            <a:endParaRPr lang="en-US" sz="1500" dirty="0"/>
          </a:p>
        </p:txBody>
      </p:sp>
      <p:sp>
        <p:nvSpPr>
          <p:cNvPr id="19" name="card-829"/>
          <p:cNvSpPr/>
          <p:nvPr/>
        </p:nvSpPr>
        <p:spPr>
          <a:xfrm>
            <a:off x="6233008" y="4069080"/>
            <a:ext cx="5410048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ill-830"/>
          <p:cNvSpPr/>
          <p:nvPr/>
        </p:nvSpPr>
        <p:spPr>
          <a:xfrm>
            <a:off x="6415888" y="4233672"/>
            <a:ext cx="1600200" cy="292608"/>
          </a:xfrm>
          <a:prstGeom prst="roundRect">
            <a:avLst>
              <a:gd name="adj" fmla="val 3125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pilltxt-831"/>
          <p:cNvSpPr txBox="1"/>
          <p:nvPr/>
        </p:nvSpPr>
        <p:spPr>
          <a:xfrm>
            <a:off x="6415888" y="42336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Your project</a:t>
            </a:r>
            <a:endParaRPr lang="en-US" sz="1200" dirty="0"/>
          </a:p>
        </p:txBody>
      </p:sp>
      <p:sp>
        <p:nvSpPr>
          <p:cNvPr id="22" name="q-832"/>
          <p:cNvSpPr txBox="1"/>
          <p:nvPr/>
        </p:nvSpPr>
        <p:spPr>
          <a:xfrm>
            <a:off x="6415888" y="4617720"/>
            <a:ext cx="504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would you improve?</a:t>
            </a:r>
            <a:endParaRPr lang="en-US" sz="1600" dirty="0"/>
          </a:p>
        </p:txBody>
      </p:sp>
      <p:sp>
        <p:nvSpPr>
          <p:cNvPr id="23" name="a-833"/>
          <p:cNvSpPr txBox="1"/>
          <p:nvPr/>
        </p:nvSpPr>
        <p:spPr>
          <a:xfrm>
            <a:off x="6415888" y="5212080"/>
            <a:ext cx="50442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Commit the lock file, apply saved plan artifacts in CI, add tflint and policy checks, and split state per domain to reduce blast radius.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CP Network Revision">
  <a:themeElements>
    <a:clrScheme name="GCP Network Revision">
      <a:dk1>
        <a:srgbClr val="14213D"/>
      </a:dk1>
      <a:lt1>
        <a:srgbClr val="FFFFFF"/>
      </a:lt1>
      <a:dk2>
        <a:srgbClr val="102A43"/>
      </a:dk2>
      <a:lt2>
        <a:srgbClr val="EDF2F7"/>
      </a:lt2>
      <a:accent1>
        <a:srgbClr val="0E9AA7"/>
      </a:accent1>
      <a:accent2>
        <a:srgbClr val="F4A621"/>
      </a:accent2>
      <a:accent3>
        <a:srgbClr val="2E6F95"/>
      </a:accent3>
      <a:accent4>
        <a:srgbClr val="6B7C93"/>
      </a:accent4>
      <a:accent5>
        <a:srgbClr val="C8453B"/>
      </a:accent5>
      <a:accent6>
        <a:srgbClr val="3E9E5A"/>
      </a:accent6>
      <a:hlink>
        <a:srgbClr val="0E9AA7"/>
      </a:hlink>
      <a:folHlink>
        <a:srgbClr val="2E6F95"/>
      </a:folHlink>
    </a:clrScheme>
    <a:fontScheme name="GCP Network Re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Terraform - Learning Notes and Interview Questions</dc:title>
  <dc:subject>PptxGenJS Presentation</dc:subject>
  <dc:creator>Daniel Olasupo</dc:creator>
  <cp:lastModifiedBy>Daniel Olasupo</cp:lastModifiedBy>
  <cp:revision>1</cp:revision>
  <dcterms:created xsi:type="dcterms:W3CDTF">2026-10-21T22:28:29Z</dcterms:created>
  <dcterms:modified xsi:type="dcterms:W3CDTF">2026-10-21T22:28:29Z</dcterms:modified>
</cp:coreProperties>
</file>