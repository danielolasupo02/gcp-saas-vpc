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113bdcf-a5d3-dcab-0924-a16c2a7954e7}">
          <p14:sldIdLst>
            <p14:sldId id="256"/>
            <p14:sldId id="257"/>
            <p14:sldId id="258"/>
            <p14:sldId id="259"/>
          </p14:sldIdLst>
        </p14:section>
        <p14:section name="Phase 1: Project setup and IAM" id="{535fb3ad-3801-67b4-7b21-ec9d3ec6a232}">
          <p14:sldIdLst>
            <p14:sldId id="260"/>
            <p14:sldId id="261"/>
            <p14:sldId id="262"/>
            <p14:sldId id="263"/>
            <p14:sldId id="264"/>
            <p14:sldId id="265"/>
          </p14:sldIdLst>
        </p14:section>
        <p14:section name="Phase 2: Architecture and IP plan" id="{cbb2f63f-534b-f6ad-15d6-3805fbdfa6d1}">
          <p14:sldIdLst>
            <p14:sldId id="266"/>
            <p14:sldId id="267"/>
            <p14:sldId id="268"/>
            <p14:sldId id="269"/>
            <p14:sldId id="270"/>
            <p14:sldId id="271"/>
          </p14:sldIdLst>
        </p14:section>
        <p14:section name="Phase 3: Shared VPC" id="{70d317b4-4d6c-c659-c01a-75deec542554}">
          <p14:sldIdLst>
            <p14:sldId id="272"/>
            <p14:sldId id="273"/>
            <p14:sldId id="274"/>
            <p14:sldId id="275"/>
            <p14:sldId id="276"/>
            <p14:sldId id="277"/>
            <p14:sldId id="278"/>
          </p14:sldIdLst>
        </p14:section>
        <p14:section name="Phase 4: Network peering" id="{46404abd-a6c4-d385-3f90-a6caa058618a}">
          <p14:sldIdLst>
            <p14:sldId id="279"/>
            <p14:sldId id="280"/>
            <p14:sldId id="281"/>
            <p14:sldId id="282"/>
            <p14:sldId id="283"/>
            <p14:sldId id="284"/>
          </p14:sldIdLst>
        </p14:section>
        <p14:section name="Phase 5: Security controls" id="{33b64bdc-9c95-ed8c-1123-a68aa418cce0}">
          <p14:sldIdLst>
            <p14:sldId id="285"/>
            <p14:sldId id="286"/>
            <p14:sldId id="287"/>
            <p14:sldId id="288"/>
            <p14:sldId id="289"/>
            <p14:sldId id="290"/>
            <p14:sldId id="291"/>
          </p14:sldIdLst>
        </p14:section>
        <p14:section name="Phase 6: Egress and hybrid connectivity" id="{eb213092-c641-ac76-1a15-75e5ecc80dd2}">
          <p14:sldIdLst>
            <p14:sldId id="292"/>
            <p14:sldId id="293"/>
            <p14:sldId id="294"/>
            <p14:sldId id="295"/>
            <p14:sldId id="296"/>
            <p14:sldId id="297"/>
          </p14:sldIdLst>
        </p14:section>
        <p14:section name="Phase 7: Monitoring and logging" id="{d97f8e4a-c10b-2390-5041-c315470a2c33}">
          <p14:sldIdLst>
            <p14:sldId id="298"/>
            <p14:sldId id="299"/>
            <p14:sldId id="300"/>
            <p14:sldId id="301"/>
            <p14:sldId id="302"/>
            <p14:sldId id="303"/>
            <p14:sldId id="304"/>
            <p14:sldId id="305"/>
          </p14:sldIdLst>
        </p14:section>
        <p14:section name="Phase 8: Automation, backup and DR" id="{858ac36b-9b50-fc5d-6f01-bc6802405e25}">
          <p14:sldIdLst>
            <p14:sldId id="306"/>
            <p14:sldId id="307"/>
            <p14:sldId id="308"/>
            <p14:sldId id="309"/>
            <p14:sldId id="310"/>
            <p14:sldId id="311"/>
            <p14:sldId id="312"/>
            <p14:sldId id="313"/>
          </p14:sldIdLst>
        </p14:section>
        <p14:section name="Quick reference" id="{0f12bc20-7f53-6665-6185-2ee2447fb9c9}">
          <p14:sldIdLst>
            <p14:sldId id="314"/>
            <p14:sldId id="315"/>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deck for the gcp-saas-vpc portfolio project (github.com/danielolasupo02/gcp-saas-vpc).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Revise one phase per sitting. For each slide, try to explain it in your own words before reading the cards. The 'Lessons learned' slides map directly onto STAR-format interview answers: Situation (what you were building), Task, Action (the fix),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to describe the project in 60 seconds: a Shared VPC hub for internal environments, tenant VPCs peered as spokes, zero-trust firewalling with defence in depth at org and VPC level, controlled egress through per-tenant NAT with fixed IPs, hybrid over HA VPN with BGP, full logging with alerting on drift, a pilot-light DR region, and keyless CI/CD.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the projects, billing, APIs and a Terraform service account that humans impersonate instead of using keys. Every later phase depends on getting identity and the resource hierarchy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Interviewers often ask how you'd isolate customers. The strongest answer layers isolation: project boundary (IAM, billing, quota), network boundary (own VPC), and policy boundary (org policies and hierarchical firewall). Remember: IAM allow policies only add access; to block, you use deny policies or org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phrase: 'keyless by design'. Token lifetime defaults to 1 hour. The two hops (user -&gt; SA) mean you can revoke a person by removing one IAM binding without rotating anything. Roles: basic (owner/editor/viewer, too broad), predefined (service-specific, preferred), custom (when predefined is still too 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lab costs: HA VPN tunnels (~$0.05/h each), static external IPs (~$0.005/h when in use, more when idle), VMs. Free: VPCs, subnets, routes, firewall rules, peering itself (egress traffic across peering is billed).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 the topology and address plan before writing any code: which environments share a network, how tenants are isolated, and how every range fits without overlap, including room for DR and hybrid.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choice to articulate: internal environments share a network because one team owns them and wants central control; tenants get peered VPCs because they're separate trust and admin domains, and non-transitive peering gives tenant isolation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GCP subnet reserves 4 addresses: network, default gateway (.1), second-to-last (reserved), broadcast. A /20 therefore gives 4,092 usable. Subnets can be expanded later (gcloud compute networks subnets expand-ip-range) but never shrunk.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is the security requirement; the rules are the implementation. In an interview, say you designed the matrix first and derived rules from it, so every rule is traceable to a business need, which is what auditors in fintech and healthcare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hub network in the host project, attach prod and nonprod service projects, delegate subnets per environment, replace default routing with explicit routes, and start Terraform with remote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VPC is also called XPN in the API (cross-project networking), which is why the role is roles/compute.xpnAdmin. A service project can attach to only one host. Firewall rules and routes live in the host, so firewall logs for service-project VMs appear in the host project; you'll see this again in Phase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Google Access (PGA) is a per-subnet setting that lets VMs with only internal IPs reach Google APIs. Combined with the 199.36.153.8/30 route and private DNS (Phase 5), API traffic never needs public IPs. 199.36.153.8/30 is private.googleapis.com; 199.36.153.4/30 is restricted.googleapis.com, which you'd use with VPC Service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Router isn't a packet-forwarding device; it only exchanges routes (control plane). Traffic flows directly over the VPN tunnels or Interconnect. The router ASN here is 64512 (private range 64512–65534).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for_each vs count: for_each keys resources by name, so removing one entry deletes only that resource; count keys by index, so removing item 0 shifts and recreates everything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tenant its own VPC in its own project, peer them hub-and-spoke with the shared VPC, and allow only tenant to shared-services traffic, proven with a 7-test connectivity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custom route exchange off is a security choice: tenants never learn the hub's 0.0.0.0/0 (they use their own NAT) and never learn on-prem routes learned via BGP. If you needed tenants to reach on-prem, you'd enable export on the hub and import on the tenant,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 trap: 'deny wins' is only true at the same priority. A priority-1000 allow beats a priority-2000 deny. Also, firewall rules don't apply to certain Google traffic, such as the metadata server 169.254.169.254.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the firewall matrix into zero trust: org-level guardrails no project can bypass, identity-targeted VPC rules in priority bands, default deny in both directions, private DNS for Google APIs, IAP + OS Login for admins, and Security Command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goto_next is the key concept: the org policy doesn't allow IAP traffic outright, it delegates the decision to the VPC rules. That way the org blocks everything dangerous but lets VPC owners make normal decisions. Policies attach to the org or folders; a folder policy is evaluated after the org's.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Boolean constraints are on/off; list constraints allow or deny values (like restrictVpcPeering's allowed networks). iam.disableServiceAccountKeyCreation was already enforced by Google's secure-by-default policies on new orgs, which is why Terraform got 409 POLICY_ALREADY_EXISTS and we had to import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Restricted.googleapis.com (199.36.153.4/30) is the variant for VPC Service Controls; it only serves services that support VPC-SC. DNS query logs help detect malware beaconing and data exfiltration over DNS.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every environment and tenant a controlled, auditable internet path through Cloud NAT with fixed IPs, connect a simulated on-prem network with HA VPN and BGP, and make NAT failover a tested runbook.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maths: VMs per NAT IP = 64,512 ÷ min_ports_per_vm. With a minimum of 64 that's 1,008 VMs per IP. Each port slice limits concurrent connections to one destination IP:port; heavy clients (many connections to one API) need more ports, hence dynamic allocation. Endpoint-independent mapping off keeps port usage efficient with dynamic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Draining lets existing connections finish on the old IP while new connections use the remaining ones, which is why it's used for IP rotation and when an IP lands on a blocklist.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VPN is single-interface, static or dynamic, 99.9% SLA, and largely deprecated for dynamic routing. HA VPN requires BGP. Advertised route priority (MED) lets you prefer one tunnel (active/passive) or keep both equal (active/active, ECMP).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every network decision observable: flow logs sampled by risk, logs exported for analytics and retention, security events turned into metrics, and alerts for NAT problems, firewall-deny spikes and changes made outside 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Retention defaults: _Required bucket (Admin Activity, System Event) 400 days, free, unchangeable. _Default bucket 30 days (configurable). Anything longer or analytical needs a sink.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drift metric excludes the Terraform SA: Terraform is the only identity expected to change the network, so any other identity is either break-glass or an incident. The alert then tells you exactly who and what (labels principal and method), and terraform plan shows the 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Connectivity Tests are excellent for change review: before applying a firewall change, run a test to confirm intended paths stay reachable and forbidden ones stay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network recoverable and hands-off: a pilot-light DR region, checksummed config backups stored away from the primary region, a measured recovery drill, and keyless CI/CD with review and approval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DR tests showed the DR region working with no config changes: prod-east egressed via the east NAT, tenants reached shared-svc-east over peering, and isolation still held. Accepted risk: no second HA VPN in us-east1, so on-prem connectivity is down during a us-central1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attribute condition is mandatory for GitHub providers now, because the GitHub issuer is shared by every repository on GitHub; without a condition, any repo could present a valid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answers with a trade-off you made deliberately (pilot light vs warm standby, no DR VPN for cost, Terraform SA can't grant IAM). Showing you know what you didn't build, and why, signals seniority.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86200"/>
            <a:ext cx="8686800" cy="17373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4"/>
                </a:solidFill>
              </a:rPr>
              <a:t>GCP Multi-Tenant SaaS Network  ·  Revision notes</a:t>
            </a:r>
            <a:endParaRPr lang="en-US" sz="1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400" b="1" dirty="0">
                <a:solidFill>
                  <a:schemeClr val="bg1"/>
                </a:solidFill>
              </a:rPr>
              <a:t>Multi-Tenant SaaS Network on GCP</a:t>
            </a: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lIns="0" tIns="0" rIns="0" bIns="0" rtlCol="0" anchor="t"/>
          <a:lstStyle/>
          <a:p>
            <a:pPr algn="l" indent="0" marL="0">
              <a:buNone/>
            </a:pPr>
            <a:r>
              <a:rPr lang="en-US" sz="2000" dirty="0">
                <a:solidFill>
                  <a:schemeClr val="bg2"/>
                </a:solidFill>
              </a:rPr>
              <a:t>Revision notes for all 8 phases: Shared VPC, peering, zero trust, egress, hybrid, observability, DR and CI/CD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1"/>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OVERVIEW</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How to use this deck</a:t>
            </a:r>
            <a:endParaRPr lang="en-US" sz="3200" dirty="0"/>
          </a:p>
        </p:txBody>
      </p:sp>
      <p:sp>
        <p:nvSpPr>
          <p:cNvPr id="5" name="lead-2"/>
          <p:cNvSpPr txBox="1"/>
          <p:nvPr/>
        </p:nvSpPr>
        <p:spPr>
          <a:xfrm>
            <a:off x="548640" y="1508760"/>
            <a:ext cx="11094415" cy="457200"/>
          </a:xfrm>
          <a:prstGeom prst="rect">
            <a:avLst/>
          </a:prstGeom>
          <a:noFill/>
          <a:ln/>
        </p:spPr>
        <p:txBody>
          <a:bodyPr wrap="square" lIns="0" tIns="0" rIns="0" bIns="0" rtlCol="0" anchor="ctr"/>
          <a:lstStyle/>
          <a:p>
            <a:pPr indent="0" marL="0">
              <a:buNone/>
            </a:pPr>
            <a:r>
              <a:rPr lang="en-US" sz="1500" i="1" dirty="0">
                <a:solidFill>
                  <a:schemeClr val="accent3"/>
                </a:solidFill>
              </a:rPr>
              <a:t>Each phase follows the same order, so you can revise one phase or the whole build.</a:t>
            </a:r>
            <a:endParaRPr lang="en-US" sz="1500" dirty="0"/>
          </a:p>
        </p:txBody>
      </p:sp>
      <p:sp>
        <p:nvSpPr>
          <p:cNvPr id="6" name="card-3"/>
          <p:cNvSpPr/>
          <p:nvPr/>
        </p:nvSpPr>
        <p:spPr>
          <a:xfrm>
            <a:off x="548640" y="2103120"/>
            <a:ext cx="3515258" cy="1943100"/>
          </a:xfrm>
          <a:prstGeom prst="roundRect">
            <a:avLst>
              <a:gd name="adj" fmla="val 3765"/>
            </a:avLst>
          </a:prstGeom>
          <a:solidFill>
            <a:schemeClr val="bg2"/>
          </a:solidFill>
          <a:ln w="12700">
            <a:solidFill>
              <a:schemeClr val="bg2"/>
            </a:solidFill>
            <a:prstDash val="solid"/>
          </a:ln>
        </p:spPr>
      </p:sp>
      <p:sp>
        <p:nvSpPr>
          <p:cNvPr id="7" name="badge-4"/>
          <p:cNvSpPr/>
          <p:nvPr/>
        </p:nvSpPr>
        <p:spPr>
          <a:xfrm>
            <a:off x="731520" y="2286000"/>
            <a:ext cx="420624" cy="420624"/>
          </a:xfrm>
          <a:prstGeom prst="ellipse">
            <a:avLst/>
          </a:prstGeom>
          <a:solidFill>
            <a:schemeClr val="accent1"/>
          </a:solidFill>
          <a:ln w="12700">
            <a:solidFill>
              <a:schemeClr val="accent1"/>
            </a:solidFill>
            <a:prstDash val="solid"/>
          </a:ln>
        </p:spPr>
      </p:sp>
      <p:sp>
        <p:nvSpPr>
          <p:cNvPr id="8" name="badgetxt-5"/>
          <p:cNvSpPr txBox="1"/>
          <p:nvPr/>
        </p:nvSpPr>
        <p:spPr>
          <a:xfrm>
            <a:off x="731520" y="22860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cardh-6"/>
          <p:cNvSpPr txBox="1"/>
          <p:nvPr/>
        </p:nvSpPr>
        <p:spPr>
          <a:xfrm>
            <a:off x="1280160" y="225856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Section divider</a:t>
            </a:r>
            <a:endParaRPr lang="en-US" sz="1800" dirty="0"/>
          </a:p>
        </p:txBody>
      </p:sp>
      <p:sp>
        <p:nvSpPr>
          <p:cNvPr id="10" name="cardb-7"/>
          <p:cNvSpPr txBox="1"/>
          <p:nvPr/>
        </p:nvSpPr>
        <p:spPr>
          <a:xfrm>
            <a:off x="777240" y="2852928"/>
            <a:ext cx="3058058" cy="107442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The goal of the phase in one paragraph. Read it first and try to explain the phase out loud before going further.</a:t>
            </a:r>
            <a:endParaRPr lang="en-US" sz="1600" dirty="0"/>
          </a:p>
        </p:txBody>
      </p:sp>
      <p:sp>
        <p:nvSpPr>
          <p:cNvPr id="11" name="card-8"/>
          <p:cNvSpPr/>
          <p:nvPr/>
        </p:nvSpPr>
        <p:spPr>
          <a:xfrm>
            <a:off x="4338218" y="2103120"/>
            <a:ext cx="3515258" cy="1943100"/>
          </a:xfrm>
          <a:prstGeom prst="roundRect">
            <a:avLst>
              <a:gd name="adj" fmla="val 3765"/>
            </a:avLst>
          </a:prstGeom>
          <a:solidFill>
            <a:schemeClr val="bg2"/>
          </a:solidFill>
          <a:ln w="12700">
            <a:solidFill>
              <a:schemeClr val="bg2"/>
            </a:solidFill>
            <a:prstDash val="solid"/>
          </a:ln>
        </p:spPr>
      </p:sp>
      <p:sp>
        <p:nvSpPr>
          <p:cNvPr id="12" name="badge-9"/>
          <p:cNvSpPr/>
          <p:nvPr/>
        </p:nvSpPr>
        <p:spPr>
          <a:xfrm>
            <a:off x="4521098" y="2286000"/>
            <a:ext cx="420624" cy="420624"/>
          </a:xfrm>
          <a:prstGeom prst="ellipse">
            <a:avLst/>
          </a:prstGeom>
          <a:solidFill>
            <a:schemeClr val="accent1"/>
          </a:solidFill>
          <a:ln w="12700">
            <a:solidFill>
              <a:schemeClr val="accent1"/>
            </a:solidFill>
            <a:prstDash val="solid"/>
          </a:ln>
        </p:spPr>
      </p:sp>
      <p:sp>
        <p:nvSpPr>
          <p:cNvPr id="13" name="badgetxt-10"/>
          <p:cNvSpPr txBox="1"/>
          <p:nvPr/>
        </p:nvSpPr>
        <p:spPr>
          <a:xfrm>
            <a:off x="4521098" y="22860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cardh-11"/>
          <p:cNvSpPr txBox="1"/>
          <p:nvPr/>
        </p:nvSpPr>
        <p:spPr>
          <a:xfrm>
            <a:off x="5069738" y="225856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Concept slides</a:t>
            </a:r>
            <a:endParaRPr lang="en-US" sz="1800" dirty="0"/>
          </a:p>
        </p:txBody>
      </p:sp>
      <p:sp>
        <p:nvSpPr>
          <p:cNvPr id="15" name="cardb-12"/>
          <p:cNvSpPr txBox="1"/>
          <p:nvPr/>
        </p:nvSpPr>
        <p:spPr>
          <a:xfrm>
            <a:off x="4566818" y="2852928"/>
            <a:ext cx="3058058" cy="107442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The GCP and networking ideas behind the phase, explained from first principles, with the detail interviews probe.</a:t>
            </a:r>
            <a:endParaRPr lang="en-US" sz="1600" dirty="0"/>
          </a:p>
        </p:txBody>
      </p:sp>
      <p:sp>
        <p:nvSpPr>
          <p:cNvPr id="16" name="card-13"/>
          <p:cNvSpPr/>
          <p:nvPr/>
        </p:nvSpPr>
        <p:spPr>
          <a:xfrm>
            <a:off x="8127797" y="2103120"/>
            <a:ext cx="3515258" cy="1943100"/>
          </a:xfrm>
          <a:prstGeom prst="roundRect">
            <a:avLst>
              <a:gd name="adj" fmla="val 3765"/>
            </a:avLst>
          </a:prstGeom>
          <a:solidFill>
            <a:schemeClr val="bg2"/>
          </a:solidFill>
          <a:ln w="12700">
            <a:solidFill>
              <a:schemeClr val="bg2"/>
            </a:solidFill>
            <a:prstDash val="solid"/>
          </a:ln>
        </p:spPr>
      </p:sp>
      <p:sp>
        <p:nvSpPr>
          <p:cNvPr id="17" name="badge-14"/>
          <p:cNvSpPr/>
          <p:nvPr/>
        </p:nvSpPr>
        <p:spPr>
          <a:xfrm>
            <a:off x="8310677" y="2286000"/>
            <a:ext cx="420624" cy="420624"/>
          </a:xfrm>
          <a:prstGeom prst="ellipse">
            <a:avLst/>
          </a:prstGeom>
          <a:solidFill>
            <a:schemeClr val="accent1"/>
          </a:solidFill>
          <a:ln w="12700">
            <a:solidFill>
              <a:schemeClr val="accent1"/>
            </a:solidFill>
            <a:prstDash val="solid"/>
          </a:ln>
        </p:spPr>
      </p:sp>
      <p:sp>
        <p:nvSpPr>
          <p:cNvPr id="18" name="badgetxt-15"/>
          <p:cNvSpPr txBox="1"/>
          <p:nvPr/>
        </p:nvSpPr>
        <p:spPr>
          <a:xfrm>
            <a:off x="8310677" y="22860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cardh-16"/>
          <p:cNvSpPr txBox="1"/>
          <p:nvPr/>
        </p:nvSpPr>
        <p:spPr>
          <a:xfrm>
            <a:off x="8859317" y="225856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Diagrams and tables</a:t>
            </a:r>
            <a:endParaRPr lang="en-US" sz="1800" dirty="0"/>
          </a:p>
        </p:txBody>
      </p:sp>
      <p:sp>
        <p:nvSpPr>
          <p:cNvPr id="20" name="cardb-17"/>
          <p:cNvSpPr txBox="1"/>
          <p:nvPr/>
        </p:nvSpPr>
        <p:spPr>
          <a:xfrm>
            <a:off x="8356397" y="2852928"/>
            <a:ext cx="3058058" cy="107442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How the pieces connect: traffic paths, evaluation order, comparisons and the exact values used in this build.</a:t>
            </a:r>
            <a:endParaRPr lang="en-US" sz="1600" dirty="0"/>
          </a:p>
        </p:txBody>
      </p:sp>
      <p:sp>
        <p:nvSpPr>
          <p:cNvPr id="21" name="card-18"/>
          <p:cNvSpPr/>
          <p:nvPr/>
        </p:nvSpPr>
        <p:spPr>
          <a:xfrm>
            <a:off x="548640" y="4320540"/>
            <a:ext cx="3515258" cy="1943100"/>
          </a:xfrm>
          <a:prstGeom prst="roundRect">
            <a:avLst>
              <a:gd name="adj" fmla="val 3765"/>
            </a:avLst>
          </a:prstGeom>
          <a:solidFill>
            <a:schemeClr val="bg2"/>
          </a:solidFill>
          <a:ln w="12700">
            <a:solidFill>
              <a:schemeClr val="bg2"/>
            </a:solidFill>
            <a:prstDash val="solid"/>
          </a:ln>
        </p:spPr>
      </p:sp>
      <p:sp>
        <p:nvSpPr>
          <p:cNvPr id="22" name="badge-19"/>
          <p:cNvSpPr/>
          <p:nvPr/>
        </p:nvSpPr>
        <p:spPr>
          <a:xfrm>
            <a:off x="731520" y="4503420"/>
            <a:ext cx="420624" cy="420624"/>
          </a:xfrm>
          <a:prstGeom prst="ellipse">
            <a:avLst/>
          </a:prstGeom>
          <a:solidFill>
            <a:schemeClr val="accent1"/>
          </a:solidFill>
          <a:ln w="12700">
            <a:solidFill>
              <a:schemeClr val="accent1"/>
            </a:solidFill>
            <a:prstDash val="solid"/>
          </a:ln>
        </p:spPr>
      </p:sp>
      <p:sp>
        <p:nvSpPr>
          <p:cNvPr id="23" name="badgetxt-20"/>
          <p:cNvSpPr txBox="1"/>
          <p:nvPr/>
        </p:nvSpPr>
        <p:spPr>
          <a:xfrm>
            <a:off x="731520" y="45034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cardh-21"/>
          <p:cNvSpPr txBox="1"/>
          <p:nvPr/>
        </p:nvSpPr>
        <p:spPr>
          <a:xfrm>
            <a:off x="1280160" y="447598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Lessons learned</a:t>
            </a:r>
            <a:endParaRPr lang="en-US" sz="1800" dirty="0"/>
          </a:p>
        </p:txBody>
      </p:sp>
      <p:sp>
        <p:nvSpPr>
          <p:cNvPr id="25" name="cardb-22"/>
          <p:cNvSpPr txBox="1"/>
          <p:nvPr/>
        </p:nvSpPr>
        <p:spPr>
          <a:xfrm>
            <a:off x="777240" y="5070348"/>
            <a:ext cx="3058058" cy="107442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The real issues hit during the build, their root cause and the fix. These make the strongest interview stories.</a:t>
            </a:r>
            <a:endParaRPr lang="en-US" sz="1600" dirty="0"/>
          </a:p>
        </p:txBody>
      </p:sp>
      <p:sp>
        <p:nvSpPr>
          <p:cNvPr id="26" name="card-23"/>
          <p:cNvSpPr/>
          <p:nvPr/>
        </p:nvSpPr>
        <p:spPr>
          <a:xfrm>
            <a:off x="4338218" y="4320540"/>
            <a:ext cx="3515258" cy="1943100"/>
          </a:xfrm>
          <a:prstGeom prst="roundRect">
            <a:avLst>
              <a:gd name="adj" fmla="val 3765"/>
            </a:avLst>
          </a:prstGeom>
          <a:solidFill>
            <a:schemeClr val="bg2"/>
          </a:solidFill>
          <a:ln w="12700">
            <a:solidFill>
              <a:schemeClr val="bg2"/>
            </a:solidFill>
            <a:prstDash val="solid"/>
          </a:ln>
        </p:spPr>
      </p:sp>
      <p:sp>
        <p:nvSpPr>
          <p:cNvPr id="27" name="badge-24"/>
          <p:cNvSpPr/>
          <p:nvPr/>
        </p:nvSpPr>
        <p:spPr>
          <a:xfrm>
            <a:off x="4521098" y="4503420"/>
            <a:ext cx="420624" cy="420624"/>
          </a:xfrm>
          <a:prstGeom prst="ellipse">
            <a:avLst/>
          </a:prstGeom>
          <a:solidFill>
            <a:schemeClr val="accent1"/>
          </a:solidFill>
          <a:ln w="12700">
            <a:solidFill>
              <a:schemeClr val="accent1"/>
            </a:solidFill>
            <a:prstDash val="solid"/>
          </a:ln>
        </p:spPr>
      </p:sp>
      <p:sp>
        <p:nvSpPr>
          <p:cNvPr id="28" name="badgetxt-25"/>
          <p:cNvSpPr txBox="1"/>
          <p:nvPr/>
        </p:nvSpPr>
        <p:spPr>
          <a:xfrm>
            <a:off x="4521098" y="45034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9" name="cardh-26"/>
          <p:cNvSpPr txBox="1"/>
          <p:nvPr/>
        </p:nvSpPr>
        <p:spPr>
          <a:xfrm>
            <a:off x="5069738" y="447598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Test yourself</a:t>
            </a:r>
            <a:endParaRPr lang="en-US" sz="1800" dirty="0"/>
          </a:p>
        </p:txBody>
      </p:sp>
      <p:sp>
        <p:nvSpPr>
          <p:cNvPr id="30" name="cardb-27"/>
          <p:cNvSpPr txBox="1"/>
          <p:nvPr/>
        </p:nvSpPr>
        <p:spPr>
          <a:xfrm>
            <a:off x="4566818" y="5070348"/>
            <a:ext cx="3058058" cy="107442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Questions with short model answers. Cover the answer, answer aloud, then check.</a:t>
            </a:r>
            <a:endParaRPr lang="en-US" sz="1600" dirty="0"/>
          </a:p>
        </p:txBody>
      </p:sp>
      <p:sp>
        <p:nvSpPr>
          <p:cNvPr id="31" name="card-28"/>
          <p:cNvSpPr/>
          <p:nvPr/>
        </p:nvSpPr>
        <p:spPr>
          <a:xfrm>
            <a:off x="8127797" y="4320540"/>
            <a:ext cx="3515258" cy="1943100"/>
          </a:xfrm>
          <a:prstGeom prst="roundRect">
            <a:avLst>
              <a:gd name="adj" fmla="val 3765"/>
            </a:avLst>
          </a:prstGeom>
          <a:solidFill>
            <a:schemeClr val="bg2"/>
          </a:solidFill>
          <a:ln w="12700">
            <a:solidFill>
              <a:schemeClr val="bg2"/>
            </a:solidFill>
            <a:prstDash val="solid"/>
          </a:ln>
        </p:spPr>
      </p:sp>
      <p:sp>
        <p:nvSpPr>
          <p:cNvPr id="32" name="badge-29"/>
          <p:cNvSpPr/>
          <p:nvPr/>
        </p:nvSpPr>
        <p:spPr>
          <a:xfrm>
            <a:off x="8310677" y="4503420"/>
            <a:ext cx="420624" cy="420624"/>
          </a:xfrm>
          <a:prstGeom prst="ellipse">
            <a:avLst/>
          </a:prstGeom>
          <a:solidFill>
            <a:schemeClr val="accent1"/>
          </a:solidFill>
          <a:ln w="12700">
            <a:solidFill>
              <a:schemeClr val="accent1"/>
            </a:solidFill>
            <a:prstDash val="solid"/>
          </a:ln>
        </p:spPr>
      </p:sp>
      <p:sp>
        <p:nvSpPr>
          <p:cNvPr id="33" name="badgetxt-30"/>
          <p:cNvSpPr txBox="1"/>
          <p:nvPr/>
        </p:nvSpPr>
        <p:spPr>
          <a:xfrm>
            <a:off x="8310677" y="45034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4" name="cardh-31"/>
          <p:cNvSpPr txBox="1"/>
          <p:nvPr/>
        </p:nvSpPr>
        <p:spPr>
          <a:xfrm>
            <a:off x="8859317" y="447598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Speaker notes</a:t>
            </a:r>
            <a:endParaRPr lang="en-US" sz="1800" dirty="0"/>
          </a:p>
        </p:txBody>
      </p:sp>
      <p:sp>
        <p:nvSpPr>
          <p:cNvPr id="35" name="cardb-32"/>
          <p:cNvSpPr txBox="1"/>
          <p:nvPr/>
        </p:nvSpPr>
        <p:spPr>
          <a:xfrm>
            <a:off x="8356397" y="5070348"/>
            <a:ext cx="3058058" cy="107442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Open the notes pane (View &gt; Notes) for extra explanation on each slide that didn't fit on the slide.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33"/>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OVERVIEW</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The platform at a glance</a:t>
            </a:r>
            <a:endParaRPr lang="en-US" sz="3200" dirty="0"/>
          </a:p>
        </p:txBody>
      </p:sp>
      <p:sp>
        <p:nvSpPr>
          <p:cNvPr id="5" name="step-34"/>
          <p:cNvSpPr/>
          <p:nvPr/>
        </p:nvSpPr>
        <p:spPr>
          <a:xfrm>
            <a:off x="548640" y="1920240"/>
            <a:ext cx="1889699" cy="2651760"/>
          </a:xfrm>
          <a:prstGeom prst="roundRect">
            <a:avLst>
              <a:gd name="adj" fmla="val 3871"/>
            </a:avLst>
          </a:prstGeom>
          <a:solidFill>
            <a:schemeClr val="bg2"/>
          </a:solidFill>
          <a:ln w="15875">
            <a:solidFill>
              <a:schemeClr val="accent1"/>
            </a:solidFill>
            <a:prstDash val="solid"/>
          </a:ln>
        </p:spPr>
      </p:sp>
      <p:sp>
        <p:nvSpPr>
          <p:cNvPr id="6" name="badge-35"/>
          <p:cNvSpPr/>
          <p:nvPr/>
        </p:nvSpPr>
        <p:spPr>
          <a:xfrm>
            <a:off x="1283178" y="1709928"/>
            <a:ext cx="420624" cy="420624"/>
          </a:xfrm>
          <a:prstGeom prst="ellipse">
            <a:avLst/>
          </a:prstGeom>
          <a:solidFill>
            <a:schemeClr val="accent1"/>
          </a:solidFill>
          <a:ln w="12700">
            <a:solidFill>
              <a:schemeClr val="accent1"/>
            </a:solidFill>
            <a:prstDash val="solid"/>
          </a:ln>
        </p:spPr>
      </p:sp>
      <p:sp>
        <p:nvSpPr>
          <p:cNvPr id="7" name="badgetxt-36"/>
          <p:cNvSpPr txBox="1"/>
          <p:nvPr/>
        </p:nvSpPr>
        <p:spPr>
          <a:xfrm>
            <a:off x="1283178"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steph-37"/>
          <p:cNvSpPr txBox="1"/>
          <p:nvPr/>
        </p:nvSpPr>
        <p:spPr>
          <a:xfrm>
            <a:off x="658368"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Organization</a:t>
            </a:r>
            <a:endParaRPr lang="en-US" sz="1700" dirty="0"/>
          </a:p>
        </p:txBody>
      </p:sp>
      <p:sp>
        <p:nvSpPr>
          <p:cNvPr id="9" name="stepb-38"/>
          <p:cNvSpPr txBox="1"/>
          <p:nvPr/>
        </p:nvSpPr>
        <p:spPr>
          <a:xfrm>
            <a:off x="685800"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Org policies and a hierarchical firewall policy apply to every project below. Guardrails no project can override.</a:t>
            </a:r>
            <a:endParaRPr lang="en-US" sz="1500" dirty="0"/>
          </a:p>
        </p:txBody>
      </p:sp>
      <p:sp>
        <p:nvSpPr>
          <p:cNvPr id="10" name="arrow-39"/>
          <p:cNvSpPr/>
          <p:nvPr/>
        </p:nvSpPr>
        <p:spPr>
          <a:xfrm>
            <a:off x="2502347" y="3108960"/>
            <a:ext cx="283464" cy="274320"/>
          </a:xfrm>
          <a:prstGeom prst="rightArrow">
            <a:avLst/>
          </a:prstGeom>
          <a:solidFill>
            <a:schemeClr val="accent2"/>
          </a:solidFill>
          <a:ln w="12700">
            <a:solidFill>
              <a:schemeClr val="accent2"/>
            </a:solidFill>
            <a:prstDash val="solid"/>
          </a:ln>
        </p:spPr>
      </p:sp>
      <p:sp>
        <p:nvSpPr>
          <p:cNvPr id="11" name="step-40"/>
          <p:cNvSpPr/>
          <p:nvPr/>
        </p:nvSpPr>
        <p:spPr>
          <a:xfrm>
            <a:off x="2849819" y="1920240"/>
            <a:ext cx="1889699" cy="2651760"/>
          </a:xfrm>
          <a:prstGeom prst="roundRect">
            <a:avLst>
              <a:gd name="adj" fmla="val 3871"/>
            </a:avLst>
          </a:prstGeom>
          <a:solidFill>
            <a:schemeClr val="tx2"/>
          </a:solidFill>
          <a:ln w="15875">
            <a:solidFill>
              <a:schemeClr val="accent1"/>
            </a:solidFill>
            <a:prstDash val="solid"/>
          </a:ln>
        </p:spPr>
      </p:sp>
      <p:sp>
        <p:nvSpPr>
          <p:cNvPr id="12" name="badge-41"/>
          <p:cNvSpPr/>
          <p:nvPr/>
        </p:nvSpPr>
        <p:spPr>
          <a:xfrm>
            <a:off x="3584357" y="1709928"/>
            <a:ext cx="420624" cy="420624"/>
          </a:xfrm>
          <a:prstGeom prst="ellipse">
            <a:avLst/>
          </a:prstGeom>
          <a:solidFill>
            <a:schemeClr val="accent2"/>
          </a:solidFill>
          <a:ln w="12700">
            <a:solidFill>
              <a:schemeClr val="accent2"/>
            </a:solidFill>
            <a:prstDash val="solid"/>
          </a:ln>
        </p:spPr>
      </p:sp>
      <p:sp>
        <p:nvSpPr>
          <p:cNvPr id="13" name="badgetxt-42"/>
          <p:cNvSpPr txBox="1"/>
          <p:nvPr/>
        </p:nvSpPr>
        <p:spPr>
          <a:xfrm>
            <a:off x="3584357"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steph-43"/>
          <p:cNvSpPr txBox="1"/>
          <p:nvPr/>
        </p:nvSpPr>
        <p:spPr>
          <a:xfrm>
            <a:off x="2959547" y="2240280"/>
            <a:ext cx="1670243" cy="640080"/>
          </a:xfrm>
          <a:prstGeom prst="rect">
            <a:avLst/>
          </a:prstGeom>
          <a:noFill/>
          <a:ln/>
        </p:spPr>
        <p:txBody>
          <a:bodyPr wrap="square" lIns="0" tIns="0" rIns="0" bIns="0" rtlCol="0" anchor="ctr"/>
          <a:lstStyle/>
          <a:p>
            <a:pPr algn="ctr" indent="0" marL="0">
              <a:buNone/>
            </a:pPr>
            <a:r>
              <a:rPr lang="en-US" sz="1700" b="1" dirty="0">
                <a:solidFill>
                  <a:schemeClr val="bg1"/>
                </a:solidFill>
              </a:rPr>
              <a:t>Shared VPC host</a:t>
            </a:r>
            <a:endParaRPr lang="en-US" sz="1700" dirty="0"/>
          </a:p>
        </p:txBody>
      </p:sp>
      <p:sp>
        <p:nvSpPr>
          <p:cNvPr id="15" name="stepb-44"/>
          <p:cNvSpPr txBox="1"/>
          <p:nvPr/>
        </p:nvSpPr>
        <p:spPr>
          <a:xfrm>
            <a:off x="2986979" y="2926080"/>
            <a:ext cx="1615379" cy="1554480"/>
          </a:xfrm>
          <a:prstGeom prst="rect">
            <a:avLst/>
          </a:prstGeom>
          <a:noFill/>
          <a:ln/>
        </p:spPr>
        <p:txBody>
          <a:bodyPr wrap="square" lIns="0" tIns="0" rIns="0" bIns="0" rtlCol="0" anchor="t"/>
          <a:lstStyle/>
          <a:p>
            <a:pPr algn="l" indent="0" marL="0">
              <a:buNone/>
            </a:pPr>
            <a:r>
              <a:rPr lang="en-US" sz="1500" dirty="0">
                <a:solidFill>
                  <a:schemeClr val="bg1"/>
                </a:solidFill>
              </a:rPr>
              <a:t>One network, owned centrally: shared-svc, dev, staging, prod subnets. Service projects deploy into delegated subnets.</a:t>
            </a:r>
            <a:endParaRPr lang="en-US" sz="1500" dirty="0"/>
          </a:p>
        </p:txBody>
      </p:sp>
      <p:sp>
        <p:nvSpPr>
          <p:cNvPr id="16" name="arrow-45"/>
          <p:cNvSpPr/>
          <p:nvPr/>
        </p:nvSpPr>
        <p:spPr>
          <a:xfrm>
            <a:off x="4803526" y="3108960"/>
            <a:ext cx="283464" cy="274320"/>
          </a:xfrm>
          <a:prstGeom prst="rightArrow">
            <a:avLst/>
          </a:prstGeom>
          <a:solidFill>
            <a:schemeClr val="accent2"/>
          </a:solidFill>
          <a:ln w="12700">
            <a:solidFill>
              <a:schemeClr val="accent2"/>
            </a:solidFill>
            <a:prstDash val="solid"/>
          </a:ln>
        </p:spPr>
      </p:sp>
      <p:sp>
        <p:nvSpPr>
          <p:cNvPr id="17" name="step-46"/>
          <p:cNvSpPr/>
          <p:nvPr/>
        </p:nvSpPr>
        <p:spPr>
          <a:xfrm>
            <a:off x="5150998" y="1920240"/>
            <a:ext cx="1889699" cy="2651760"/>
          </a:xfrm>
          <a:prstGeom prst="roundRect">
            <a:avLst>
              <a:gd name="adj" fmla="val 3871"/>
            </a:avLst>
          </a:prstGeom>
          <a:solidFill>
            <a:schemeClr val="bg2"/>
          </a:solidFill>
          <a:ln w="15875">
            <a:solidFill>
              <a:schemeClr val="accent1"/>
            </a:solidFill>
            <a:prstDash val="solid"/>
          </a:ln>
        </p:spPr>
      </p:sp>
      <p:sp>
        <p:nvSpPr>
          <p:cNvPr id="18" name="badge-47"/>
          <p:cNvSpPr/>
          <p:nvPr/>
        </p:nvSpPr>
        <p:spPr>
          <a:xfrm>
            <a:off x="5885536" y="1709928"/>
            <a:ext cx="420624" cy="420624"/>
          </a:xfrm>
          <a:prstGeom prst="ellipse">
            <a:avLst/>
          </a:prstGeom>
          <a:solidFill>
            <a:schemeClr val="accent1"/>
          </a:solidFill>
          <a:ln w="12700">
            <a:solidFill>
              <a:schemeClr val="accent1"/>
            </a:solidFill>
            <a:prstDash val="solid"/>
          </a:ln>
        </p:spPr>
      </p:sp>
      <p:sp>
        <p:nvSpPr>
          <p:cNvPr id="19" name="badgetxt-48"/>
          <p:cNvSpPr txBox="1"/>
          <p:nvPr/>
        </p:nvSpPr>
        <p:spPr>
          <a:xfrm>
            <a:off x="5885536"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steph-49"/>
          <p:cNvSpPr txBox="1"/>
          <p:nvPr/>
        </p:nvSpPr>
        <p:spPr>
          <a:xfrm>
            <a:off x="5260726"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Tenant VPCs</a:t>
            </a:r>
            <a:endParaRPr lang="en-US" sz="1700" dirty="0"/>
          </a:p>
        </p:txBody>
      </p:sp>
      <p:sp>
        <p:nvSpPr>
          <p:cNvPr id="21" name="stepb-50"/>
          <p:cNvSpPr txBox="1"/>
          <p:nvPr/>
        </p:nvSpPr>
        <p:spPr>
          <a:xfrm>
            <a:off x="5288158"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Fintech and healthcare each get their own project and VPC, peered to the hub only. No path tenant to tenant.</a:t>
            </a:r>
            <a:endParaRPr lang="en-US" sz="1500" dirty="0"/>
          </a:p>
        </p:txBody>
      </p:sp>
      <p:sp>
        <p:nvSpPr>
          <p:cNvPr id="22" name="arrow-51"/>
          <p:cNvSpPr/>
          <p:nvPr/>
        </p:nvSpPr>
        <p:spPr>
          <a:xfrm>
            <a:off x="7104705" y="3108960"/>
            <a:ext cx="283464" cy="274320"/>
          </a:xfrm>
          <a:prstGeom prst="rightArrow">
            <a:avLst/>
          </a:prstGeom>
          <a:solidFill>
            <a:schemeClr val="accent2"/>
          </a:solidFill>
          <a:ln w="12700">
            <a:solidFill>
              <a:schemeClr val="accent2"/>
            </a:solidFill>
            <a:prstDash val="solid"/>
          </a:ln>
        </p:spPr>
      </p:sp>
      <p:sp>
        <p:nvSpPr>
          <p:cNvPr id="23" name="step-52"/>
          <p:cNvSpPr/>
          <p:nvPr/>
        </p:nvSpPr>
        <p:spPr>
          <a:xfrm>
            <a:off x="7452177" y="1920240"/>
            <a:ext cx="1889699" cy="2651760"/>
          </a:xfrm>
          <a:prstGeom prst="roundRect">
            <a:avLst>
              <a:gd name="adj" fmla="val 3871"/>
            </a:avLst>
          </a:prstGeom>
          <a:solidFill>
            <a:schemeClr val="bg2"/>
          </a:solidFill>
          <a:ln w="15875">
            <a:solidFill>
              <a:schemeClr val="accent1"/>
            </a:solidFill>
            <a:prstDash val="solid"/>
          </a:ln>
        </p:spPr>
      </p:sp>
      <p:sp>
        <p:nvSpPr>
          <p:cNvPr id="24" name="badge-53"/>
          <p:cNvSpPr/>
          <p:nvPr/>
        </p:nvSpPr>
        <p:spPr>
          <a:xfrm>
            <a:off x="8186715" y="1709928"/>
            <a:ext cx="420624" cy="420624"/>
          </a:xfrm>
          <a:prstGeom prst="ellipse">
            <a:avLst/>
          </a:prstGeom>
          <a:solidFill>
            <a:schemeClr val="accent1"/>
          </a:solidFill>
          <a:ln w="12700">
            <a:solidFill>
              <a:schemeClr val="accent1"/>
            </a:solidFill>
            <a:prstDash val="solid"/>
          </a:ln>
        </p:spPr>
      </p:sp>
      <p:sp>
        <p:nvSpPr>
          <p:cNvPr id="25" name="badgetxt-54"/>
          <p:cNvSpPr txBox="1"/>
          <p:nvPr/>
        </p:nvSpPr>
        <p:spPr>
          <a:xfrm>
            <a:off x="8186715"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steph-55"/>
          <p:cNvSpPr txBox="1"/>
          <p:nvPr/>
        </p:nvSpPr>
        <p:spPr>
          <a:xfrm>
            <a:off x="7561905"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Edge</a:t>
            </a:r>
            <a:endParaRPr lang="en-US" sz="1700" dirty="0"/>
          </a:p>
        </p:txBody>
      </p:sp>
      <p:sp>
        <p:nvSpPr>
          <p:cNvPr id="27" name="stepb-56"/>
          <p:cNvSpPr txBox="1"/>
          <p:nvPr/>
        </p:nvSpPr>
        <p:spPr>
          <a:xfrm>
            <a:off x="7589337"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Cloud NAT per environment and tenant for egress; HA VPN + BGP to on-prem; IAP for admin access. No public IPs.</a:t>
            </a:r>
            <a:endParaRPr lang="en-US" sz="1500" dirty="0"/>
          </a:p>
        </p:txBody>
      </p:sp>
      <p:sp>
        <p:nvSpPr>
          <p:cNvPr id="28" name="arrow-57"/>
          <p:cNvSpPr/>
          <p:nvPr/>
        </p:nvSpPr>
        <p:spPr>
          <a:xfrm>
            <a:off x="9405884" y="3108960"/>
            <a:ext cx="283464" cy="274320"/>
          </a:xfrm>
          <a:prstGeom prst="rightArrow">
            <a:avLst/>
          </a:prstGeom>
          <a:solidFill>
            <a:schemeClr val="accent2"/>
          </a:solidFill>
          <a:ln w="12700">
            <a:solidFill>
              <a:schemeClr val="accent2"/>
            </a:solidFill>
            <a:prstDash val="solid"/>
          </a:ln>
        </p:spPr>
      </p:sp>
      <p:sp>
        <p:nvSpPr>
          <p:cNvPr id="29" name="step-58"/>
          <p:cNvSpPr/>
          <p:nvPr/>
        </p:nvSpPr>
        <p:spPr>
          <a:xfrm>
            <a:off x="9753356" y="1920240"/>
            <a:ext cx="1889699" cy="2651760"/>
          </a:xfrm>
          <a:prstGeom prst="roundRect">
            <a:avLst>
              <a:gd name="adj" fmla="val 3871"/>
            </a:avLst>
          </a:prstGeom>
          <a:solidFill>
            <a:schemeClr val="bg2"/>
          </a:solidFill>
          <a:ln w="15875">
            <a:solidFill>
              <a:schemeClr val="accent1"/>
            </a:solidFill>
            <a:prstDash val="solid"/>
          </a:ln>
        </p:spPr>
      </p:sp>
      <p:sp>
        <p:nvSpPr>
          <p:cNvPr id="30" name="badge-59"/>
          <p:cNvSpPr/>
          <p:nvPr/>
        </p:nvSpPr>
        <p:spPr>
          <a:xfrm>
            <a:off x="10487894" y="1709928"/>
            <a:ext cx="420624" cy="420624"/>
          </a:xfrm>
          <a:prstGeom prst="ellipse">
            <a:avLst/>
          </a:prstGeom>
          <a:solidFill>
            <a:schemeClr val="accent1"/>
          </a:solidFill>
          <a:ln w="12700">
            <a:solidFill>
              <a:schemeClr val="accent1"/>
            </a:solidFill>
            <a:prstDash val="solid"/>
          </a:ln>
        </p:spPr>
      </p:sp>
      <p:sp>
        <p:nvSpPr>
          <p:cNvPr id="31" name="badgetxt-60"/>
          <p:cNvSpPr txBox="1"/>
          <p:nvPr/>
        </p:nvSpPr>
        <p:spPr>
          <a:xfrm>
            <a:off x="10487894"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2" name="steph-61"/>
          <p:cNvSpPr txBox="1"/>
          <p:nvPr/>
        </p:nvSpPr>
        <p:spPr>
          <a:xfrm>
            <a:off x="9863084"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Operate</a:t>
            </a:r>
            <a:endParaRPr lang="en-US" sz="1700" dirty="0"/>
          </a:p>
        </p:txBody>
      </p:sp>
      <p:sp>
        <p:nvSpPr>
          <p:cNvPr id="33" name="stepb-62"/>
          <p:cNvSpPr txBox="1"/>
          <p:nvPr/>
        </p:nvSpPr>
        <p:spPr>
          <a:xfrm>
            <a:off x="9890516"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Flow, firewall, NAT, DNS and audit logs exported; alerts; DR region; CI/CD with approval gates.</a:t>
            </a:r>
            <a:endParaRPr lang="en-US" sz="1500" dirty="0"/>
          </a:p>
        </p:txBody>
      </p:sp>
      <p:sp>
        <p:nvSpPr>
          <p:cNvPr id="34" name="belowbox-63"/>
          <p:cNvSpPr/>
          <p:nvPr/>
        </p:nvSpPr>
        <p:spPr>
          <a:xfrm>
            <a:off x="548640" y="4892040"/>
            <a:ext cx="11094415" cy="1371600"/>
          </a:xfrm>
          <a:prstGeom prst="roundRect">
            <a:avLst>
              <a:gd name="adj" fmla="val 4000"/>
            </a:avLst>
          </a:prstGeom>
          <a:solidFill>
            <a:schemeClr val="bg2"/>
          </a:solidFill>
          <a:ln w="12700">
            <a:solidFill>
              <a:schemeClr val="bg2"/>
            </a:solidFill>
            <a:prstDash val="solid"/>
          </a:ln>
        </p:spPr>
      </p:sp>
      <p:sp>
        <p:nvSpPr>
          <p:cNvPr id="35" name="below-64"/>
          <p:cNvSpPr txBox="1"/>
          <p:nvPr/>
        </p:nvSpPr>
        <p:spPr>
          <a:xfrm>
            <a:off x="822960" y="4983480"/>
            <a:ext cx="10545775" cy="1188720"/>
          </a:xfrm>
          <a:prstGeom prst="rect">
            <a:avLst/>
          </a:prstGeom>
          <a:noFill/>
          <a:ln/>
        </p:spPr>
        <p:txBody>
          <a:bodyPr wrap="square" lIns="0" tIns="0" rIns="0" bIns="0" rtlCol="0" anchor="ctr"/>
          <a:lstStyle/>
          <a:p>
            <a:pPr indent="0" marL="0">
              <a:buNone/>
            </a:pPr>
            <a:r>
              <a:rPr lang="en-US" sz="1600" dirty="0">
                <a:solidFill>
                  <a:schemeClr val="tx1"/>
                </a:solidFill>
              </a:rPr>
              <a:t>Design principle throughout: every boundary is enforced twice (routing + firewall, VPC rule + org rule, IAM + network), and everything is code, so drift is detectable and recovery is an apply.</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65"/>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OVERVIEW</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The eight phases</a:t>
            </a:r>
            <a:endParaRPr lang="en-US" sz="3200" dirty="0"/>
          </a:p>
        </p:txBody>
      </p:sp>
      <p:graphicFrame>
        <p:nvGraphicFramePr>
          <p:cNvPr id="5" name="table-66"/>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640080"/>
                <a:gridCol w="2743200"/>
                <a:gridCol w="4937760"/>
                <a:gridCol w="2770632"/>
              </a:tblGrid>
              <a:tr h="0">
                <a:tc>
                  <a:txBody>
                    <a:bodyPr/>
                    <a:lstStyle/>
                    <a:p>
                      <a:pPr indent="0" marL="0">
                        <a:buNone/>
                      </a:pPr>
                      <a:r>
                        <a:rPr lang="en-US" sz="1600" b="1" dirty="0">
                          <a:solidFill>
                            <a:schemeClr val="bg1"/>
                          </a:solidFill>
                        </a:rPr>
                        <a:t>#</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Phase</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Core concepts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Proof</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600" b="1" dirty="0">
                          <a:solidFill>
                            <a:schemeClr val="tx1"/>
                          </a:solidFill>
                        </a:rPr>
                        <a:t>1</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Project setup and IAM</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Resource hierarchy, billing, APIs, service accounts, impersonation</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Impersonation test, budget alert</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2</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Architecture design</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Hub-and-spoke, Shared VPC vs peering, CIDR planning, isolation</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IP plan, firewall matrix</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3</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Shared VPC</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Host/service projects, subnet IAM, routes, Private Google Access, Terraform state</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Subnets, routes, delegation</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4</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Network peering</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Peering, non-transitivity, firewall basics, IAP</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7/7 connectivity tests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5</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Security controls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Hierarchical firewall, org policies, SA-targeted rules, private DNS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12/12 security tests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6</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Egress and hybrid</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Cloud NAT, port allocation, HA VPN, BGP</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10/10 + NAT failover</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7</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Monitoring and logging</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Flow logs, Log Router, log metrics, alerting, NIC tools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10/10 + alerts fired</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8</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Automation and DR</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RTO/RPO, pilot light, backups, CI/CD, Workload Identity Federation</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8/8 + drill RTO 249 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num-67"/>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01</a:t>
            </a:r>
            <a:endParaRPr lang="en-US" sz="13000" dirty="0"/>
          </a:p>
        </p:txBody>
      </p:sp>
      <p:sp>
        <p:nvSpPr>
          <p:cNvPr id="3" name="sectag-68"/>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1</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Project setup and IAM</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Create the projects, billing, APIs and a Terraform service account that humans impersonate instead of using keys. Every later phase depends on getting identity and the resource hierarchy right.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69"/>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1 · PROJECT SETUP AND IAM</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The GCP resource hierarchy</a:t>
            </a:r>
            <a:endParaRPr lang="en-US" sz="3200" dirty="0"/>
          </a:p>
        </p:txBody>
      </p:sp>
      <p:sp>
        <p:nvSpPr>
          <p:cNvPr id="5" name="card-70"/>
          <p:cNvSpPr/>
          <p:nvPr/>
        </p:nvSpPr>
        <p:spPr>
          <a:xfrm>
            <a:off x="548640" y="1600200"/>
            <a:ext cx="3515258" cy="2194560"/>
          </a:xfrm>
          <a:prstGeom prst="roundRect">
            <a:avLst>
              <a:gd name="adj" fmla="val 3333"/>
            </a:avLst>
          </a:prstGeom>
          <a:solidFill>
            <a:schemeClr val="bg2"/>
          </a:solidFill>
          <a:ln w="12700">
            <a:solidFill>
              <a:schemeClr val="bg2"/>
            </a:solidFill>
            <a:prstDash val="solid"/>
          </a:ln>
        </p:spPr>
      </p:sp>
      <p:sp>
        <p:nvSpPr>
          <p:cNvPr id="6" name="badge-71"/>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72"/>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73"/>
          <p:cNvSpPr txBox="1"/>
          <p:nvPr/>
        </p:nvSpPr>
        <p:spPr>
          <a:xfrm>
            <a:off x="1280160"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Organization</a:t>
            </a:r>
            <a:endParaRPr lang="en-US" sz="1800" dirty="0"/>
          </a:p>
        </p:txBody>
      </p:sp>
      <p:sp>
        <p:nvSpPr>
          <p:cNvPr id="9" name="cardb-74"/>
          <p:cNvSpPr txBox="1"/>
          <p:nvPr/>
        </p:nvSpPr>
        <p:spPr>
          <a:xfrm>
            <a:off x="777240"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The root node, tied to a Cloud Identity or Workspace domain. Org policies and IAM set here are inherited by everything below. Required for Shared VPC.</a:t>
            </a:r>
            <a:endParaRPr lang="en-US" sz="1600" dirty="0"/>
          </a:p>
        </p:txBody>
      </p:sp>
      <p:sp>
        <p:nvSpPr>
          <p:cNvPr id="10" name="card-75"/>
          <p:cNvSpPr/>
          <p:nvPr/>
        </p:nvSpPr>
        <p:spPr>
          <a:xfrm>
            <a:off x="4338218" y="1600200"/>
            <a:ext cx="3515258" cy="2194560"/>
          </a:xfrm>
          <a:prstGeom prst="roundRect">
            <a:avLst>
              <a:gd name="adj" fmla="val 3333"/>
            </a:avLst>
          </a:prstGeom>
          <a:solidFill>
            <a:schemeClr val="bg2"/>
          </a:solidFill>
          <a:ln w="12700">
            <a:solidFill>
              <a:schemeClr val="bg2"/>
            </a:solidFill>
            <a:prstDash val="solid"/>
          </a:ln>
        </p:spPr>
      </p:sp>
      <p:sp>
        <p:nvSpPr>
          <p:cNvPr id="11" name="badge-76"/>
          <p:cNvSpPr/>
          <p:nvPr/>
        </p:nvSpPr>
        <p:spPr>
          <a:xfrm>
            <a:off x="4521098" y="1783080"/>
            <a:ext cx="420624" cy="420624"/>
          </a:xfrm>
          <a:prstGeom prst="ellipse">
            <a:avLst/>
          </a:prstGeom>
          <a:solidFill>
            <a:schemeClr val="accent1"/>
          </a:solidFill>
          <a:ln w="12700">
            <a:solidFill>
              <a:schemeClr val="accent1"/>
            </a:solidFill>
            <a:prstDash val="solid"/>
          </a:ln>
        </p:spPr>
      </p:sp>
      <p:sp>
        <p:nvSpPr>
          <p:cNvPr id="12" name="badgetxt-77"/>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78"/>
          <p:cNvSpPr txBox="1"/>
          <p:nvPr/>
        </p:nvSpPr>
        <p:spPr>
          <a:xfrm>
            <a:off x="5069738"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Folders</a:t>
            </a:r>
            <a:endParaRPr lang="en-US" sz="1800" dirty="0"/>
          </a:p>
        </p:txBody>
      </p:sp>
      <p:sp>
        <p:nvSpPr>
          <p:cNvPr id="14" name="cardb-79"/>
          <p:cNvSpPr txBox="1"/>
          <p:nvPr/>
        </p:nvSpPr>
        <p:spPr>
          <a:xfrm>
            <a:off x="4566818"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Optional grouping (by team, environment or customer). Policies set on a folder apply to all projects inside. Useful for per-tenant guardrails.</a:t>
            </a:r>
            <a:endParaRPr lang="en-US" sz="1600" dirty="0"/>
          </a:p>
        </p:txBody>
      </p:sp>
      <p:sp>
        <p:nvSpPr>
          <p:cNvPr id="15" name="card-80"/>
          <p:cNvSpPr/>
          <p:nvPr/>
        </p:nvSpPr>
        <p:spPr>
          <a:xfrm>
            <a:off x="8127797" y="1600200"/>
            <a:ext cx="3515258" cy="2194560"/>
          </a:xfrm>
          <a:prstGeom prst="roundRect">
            <a:avLst>
              <a:gd name="adj" fmla="val 3333"/>
            </a:avLst>
          </a:prstGeom>
          <a:solidFill>
            <a:schemeClr val="bg2"/>
          </a:solidFill>
          <a:ln w="12700">
            <a:solidFill>
              <a:schemeClr val="bg2"/>
            </a:solidFill>
            <a:prstDash val="solid"/>
          </a:ln>
        </p:spPr>
      </p:sp>
      <p:sp>
        <p:nvSpPr>
          <p:cNvPr id="16" name="badge-81"/>
          <p:cNvSpPr/>
          <p:nvPr/>
        </p:nvSpPr>
        <p:spPr>
          <a:xfrm>
            <a:off x="8310677" y="1783080"/>
            <a:ext cx="420624" cy="420624"/>
          </a:xfrm>
          <a:prstGeom prst="ellipse">
            <a:avLst/>
          </a:prstGeom>
          <a:solidFill>
            <a:schemeClr val="accent1"/>
          </a:solidFill>
          <a:ln w="12700">
            <a:solidFill>
              <a:schemeClr val="accent1"/>
            </a:solidFill>
            <a:prstDash val="solid"/>
          </a:ln>
        </p:spPr>
      </p:sp>
      <p:sp>
        <p:nvSpPr>
          <p:cNvPr id="17" name="badgetxt-82"/>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83"/>
          <p:cNvSpPr txBox="1"/>
          <p:nvPr/>
        </p:nvSpPr>
        <p:spPr>
          <a:xfrm>
            <a:off x="8859317"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Projects</a:t>
            </a:r>
            <a:endParaRPr lang="en-US" sz="1800" dirty="0"/>
          </a:p>
        </p:txBody>
      </p:sp>
      <p:sp>
        <p:nvSpPr>
          <p:cNvPr id="19" name="cardb-84"/>
          <p:cNvSpPr txBox="1"/>
          <p:nvPr/>
        </p:nvSpPr>
        <p:spPr>
          <a:xfrm>
            <a:off x="8356397"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The unit of billing, quotas, API enablement and IAM. Resources always live in exactly one project. Project ID is global and permanent.</a:t>
            </a:r>
            <a:endParaRPr lang="en-US" sz="1600" dirty="0"/>
          </a:p>
        </p:txBody>
      </p:sp>
      <p:sp>
        <p:nvSpPr>
          <p:cNvPr id="20" name="card-85"/>
          <p:cNvSpPr/>
          <p:nvPr/>
        </p:nvSpPr>
        <p:spPr>
          <a:xfrm>
            <a:off x="548640" y="4069080"/>
            <a:ext cx="3515258" cy="2194560"/>
          </a:xfrm>
          <a:prstGeom prst="roundRect">
            <a:avLst>
              <a:gd name="adj" fmla="val 3333"/>
            </a:avLst>
          </a:prstGeom>
          <a:solidFill>
            <a:schemeClr val="bg2"/>
          </a:solidFill>
          <a:ln w="12700">
            <a:solidFill>
              <a:schemeClr val="bg2"/>
            </a:solidFill>
            <a:prstDash val="solid"/>
          </a:ln>
        </p:spPr>
      </p:sp>
      <p:sp>
        <p:nvSpPr>
          <p:cNvPr id="21" name="badge-86"/>
          <p:cNvSpPr/>
          <p:nvPr/>
        </p:nvSpPr>
        <p:spPr>
          <a:xfrm>
            <a:off x="731520" y="4251960"/>
            <a:ext cx="420624" cy="420624"/>
          </a:xfrm>
          <a:prstGeom prst="ellipse">
            <a:avLst/>
          </a:prstGeom>
          <a:solidFill>
            <a:schemeClr val="accent1"/>
          </a:solidFill>
          <a:ln w="12700">
            <a:solidFill>
              <a:schemeClr val="accent1"/>
            </a:solidFill>
            <a:prstDash val="solid"/>
          </a:ln>
        </p:spPr>
      </p:sp>
      <p:sp>
        <p:nvSpPr>
          <p:cNvPr id="22" name="badgetxt-87"/>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88"/>
          <p:cNvSpPr txBox="1"/>
          <p:nvPr/>
        </p:nvSpPr>
        <p:spPr>
          <a:xfrm>
            <a:off x="1280160"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Resources</a:t>
            </a:r>
            <a:endParaRPr lang="en-US" sz="1800" dirty="0"/>
          </a:p>
        </p:txBody>
      </p:sp>
      <p:sp>
        <p:nvSpPr>
          <p:cNvPr id="24" name="cardb-89"/>
          <p:cNvSpPr txBox="1"/>
          <p:nvPr/>
        </p:nvSpPr>
        <p:spPr>
          <a:xfrm>
            <a:off x="777240"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VPCs, VMs, buckets. Networks are global; subnets are regional; VMs are zonal. A resource's location decides its failure domain.</a:t>
            </a:r>
            <a:endParaRPr lang="en-US" sz="1600" dirty="0"/>
          </a:p>
        </p:txBody>
      </p:sp>
      <p:sp>
        <p:nvSpPr>
          <p:cNvPr id="25" name="card-90"/>
          <p:cNvSpPr/>
          <p:nvPr/>
        </p:nvSpPr>
        <p:spPr>
          <a:xfrm>
            <a:off x="4338218" y="4069080"/>
            <a:ext cx="3515258" cy="2194560"/>
          </a:xfrm>
          <a:prstGeom prst="roundRect">
            <a:avLst>
              <a:gd name="adj" fmla="val 3333"/>
            </a:avLst>
          </a:prstGeom>
          <a:solidFill>
            <a:schemeClr val="bg2"/>
          </a:solidFill>
          <a:ln w="12700">
            <a:solidFill>
              <a:schemeClr val="bg2"/>
            </a:solidFill>
            <a:prstDash val="solid"/>
          </a:ln>
        </p:spPr>
      </p:sp>
      <p:sp>
        <p:nvSpPr>
          <p:cNvPr id="26" name="badge-91"/>
          <p:cNvSpPr/>
          <p:nvPr/>
        </p:nvSpPr>
        <p:spPr>
          <a:xfrm>
            <a:off x="4521098" y="4251960"/>
            <a:ext cx="420624" cy="420624"/>
          </a:xfrm>
          <a:prstGeom prst="ellipse">
            <a:avLst/>
          </a:prstGeom>
          <a:solidFill>
            <a:schemeClr val="accent1"/>
          </a:solidFill>
          <a:ln w="12700">
            <a:solidFill>
              <a:schemeClr val="accent1"/>
            </a:solidFill>
            <a:prstDash val="solid"/>
          </a:ln>
        </p:spPr>
      </p:sp>
      <p:sp>
        <p:nvSpPr>
          <p:cNvPr id="27" name="badgetxt-92"/>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cardh-93"/>
          <p:cNvSpPr txBox="1"/>
          <p:nvPr/>
        </p:nvSpPr>
        <p:spPr>
          <a:xfrm>
            <a:off x="5069738"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Inheritance</a:t>
            </a:r>
            <a:endParaRPr lang="en-US" sz="1800" dirty="0"/>
          </a:p>
        </p:txBody>
      </p:sp>
      <p:sp>
        <p:nvSpPr>
          <p:cNvPr id="29" name="cardb-94"/>
          <p:cNvSpPr txBox="1"/>
          <p:nvPr/>
        </p:nvSpPr>
        <p:spPr>
          <a:xfrm>
            <a:off x="4566818"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IAM is additive: a role granted higher up can't be removed lower down. Org policies can be inherited, overridden or merged, depending on the constraint.</a:t>
            </a:r>
            <a:endParaRPr lang="en-US" sz="1600" dirty="0"/>
          </a:p>
        </p:txBody>
      </p:sp>
      <p:sp>
        <p:nvSpPr>
          <p:cNvPr id="30" name="card-95"/>
          <p:cNvSpPr/>
          <p:nvPr/>
        </p:nvSpPr>
        <p:spPr>
          <a:xfrm>
            <a:off x="8127797" y="4069080"/>
            <a:ext cx="3515258" cy="2194560"/>
          </a:xfrm>
          <a:prstGeom prst="roundRect">
            <a:avLst>
              <a:gd name="adj" fmla="val 3333"/>
            </a:avLst>
          </a:prstGeom>
          <a:solidFill>
            <a:schemeClr val="bg2"/>
          </a:solidFill>
          <a:ln w="12700">
            <a:solidFill>
              <a:schemeClr val="bg2"/>
            </a:solidFill>
            <a:prstDash val="solid"/>
          </a:ln>
        </p:spPr>
      </p:sp>
      <p:sp>
        <p:nvSpPr>
          <p:cNvPr id="31" name="badge-96"/>
          <p:cNvSpPr/>
          <p:nvPr/>
        </p:nvSpPr>
        <p:spPr>
          <a:xfrm>
            <a:off x="8310677" y="4251960"/>
            <a:ext cx="420624" cy="420624"/>
          </a:xfrm>
          <a:prstGeom prst="ellipse">
            <a:avLst/>
          </a:prstGeom>
          <a:solidFill>
            <a:schemeClr val="accent1"/>
          </a:solidFill>
          <a:ln w="12700">
            <a:solidFill>
              <a:schemeClr val="accent1"/>
            </a:solidFill>
            <a:prstDash val="solid"/>
          </a:ln>
        </p:spPr>
      </p:sp>
      <p:sp>
        <p:nvSpPr>
          <p:cNvPr id="32" name="badgetxt-97"/>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cardh-98"/>
          <p:cNvSpPr txBox="1"/>
          <p:nvPr/>
        </p:nvSpPr>
        <p:spPr>
          <a:xfrm>
            <a:off x="8859317"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Why it matters here</a:t>
            </a:r>
            <a:endParaRPr lang="en-US" sz="1800" dirty="0"/>
          </a:p>
        </p:txBody>
      </p:sp>
      <p:sp>
        <p:nvSpPr>
          <p:cNvPr id="34" name="cardb-99"/>
          <p:cNvSpPr txBox="1"/>
          <p:nvPr/>
        </p:nvSpPr>
        <p:spPr>
          <a:xfrm>
            <a:off x="8356397"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Each tenant gets its own project: a hard boundary for IAM, billing and quotas, and a clean way to offboard a customer.</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10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1 · PROJECT SETUP AND IAM</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Service accounts and impersonation</a:t>
            </a:r>
            <a:endParaRPr lang="en-US" sz="3200" dirty="0"/>
          </a:p>
        </p:txBody>
      </p:sp>
      <p:sp>
        <p:nvSpPr>
          <p:cNvPr id="5" name="lh-101"/>
          <p:cNvSpPr txBox="1"/>
          <p:nvPr/>
        </p:nvSpPr>
        <p:spPr>
          <a:xfrm>
            <a:off x="548640" y="1600200"/>
            <a:ext cx="6400800" cy="365760"/>
          </a:xfrm>
          <a:prstGeom prst="rect">
            <a:avLst/>
          </a:prstGeom>
          <a:noFill/>
          <a:ln/>
        </p:spPr>
        <p:txBody>
          <a:bodyPr wrap="square" lIns="0" tIns="0" rIns="0" bIns="0" rtlCol="0" anchor="ctr"/>
          <a:lstStyle/>
          <a:p>
            <a:pPr indent="0" marL="0">
              <a:buNone/>
            </a:pPr>
            <a:r>
              <a:rPr lang="en-US" sz="1800" b="1" dirty="0">
                <a:solidFill>
                  <a:schemeClr val="accent3"/>
                </a:solidFill>
              </a:rPr>
              <a:t>How impersonation works</a:t>
            </a:r>
            <a:endParaRPr lang="en-US" sz="1800" dirty="0"/>
          </a:p>
        </p:txBody>
      </p:sp>
      <p:sp>
        <p:nvSpPr>
          <p:cNvPr id="6" name="left-102"/>
          <p:cNvSpPr txBox="1"/>
          <p:nvPr/>
        </p:nvSpPr>
        <p:spPr>
          <a:xfrm>
            <a:off x="548640" y="2057400"/>
            <a:ext cx="6400800" cy="420624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1"/>
                </a:solidFill>
              </a:rPr>
              <a:t>Service account (SA):</a:t>
            </a:r>
            <a:pPr indent="0" marL="0">
              <a:spcAft>
                <a:spcPts val="600"/>
              </a:spcAft>
              <a:buNone/>
            </a:pPr>
            <a:r>
              <a:rPr lang="en-US" sz="1700" dirty="0">
                <a:solidFill>
                  <a:schemeClr val="tx1"/>
                </a:solidFill>
              </a:rPr>
              <a:t> a non-human identity. It holds roles; workloads or people act as it.</a:t>
            </a:r>
            <a:endParaRPr lang="en-US" sz="1700" dirty="0"/>
          </a:p>
          <a:p>
            <a:pPr marL="342900" indent="-342900">
              <a:spcAft>
                <a:spcPts val="600"/>
              </a:spcAft>
              <a:buSzPct val="100000"/>
              <a:buChar char="•"/>
            </a:pPr>
            <a:r>
              <a:rPr lang="en-US" sz="1700" b="1" dirty="0">
                <a:solidFill>
                  <a:schemeClr val="tx1"/>
                </a:solidFill>
              </a:rPr>
              <a:t>Keys are the risk:</a:t>
            </a:r>
            <a:pPr indent="0" marL="0">
              <a:spcAft>
                <a:spcPts val="600"/>
              </a:spcAft>
              <a:buNone/>
            </a:pPr>
            <a:r>
              <a:rPr lang="en-US" sz="1700" dirty="0">
                <a:solidFill>
                  <a:schemeClr val="tx1"/>
                </a:solidFill>
              </a:rPr>
              <a:t> a JSON key is a long-lived password that can leak through Git, laptops or CI logs.</a:t>
            </a:r>
            <a:endParaRPr lang="en-US" sz="1700" dirty="0"/>
          </a:p>
          <a:p>
            <a:pPr marL="342900" indent="-342900">
              <a:spcAft>
                <a:spcPts val="600"/>
              </a:spcAft>
              <a:buSzPct val="100000"/>
              <a:buChar char="•"/>
            </a:pPr>
            <a:r>
              <a:rPr lang="en-US" sz="1700" b="1" dirty="0">
                <a:solidFill>
                  <a:schemeClr val="tx1"/>
                </a:solidFill>
              </a:rPr>
              <a:t>Impersonation:</a:t>
            </a:r>
            <a:pPr indent="0" marL="0">
              <a:spcAft>
                <a:spcPts val="600"/>
              </a:spcAft>
              <a:buNone/>
            </a:pPr>
            <a:r>
              <a:rPr lang="en-US" sz="1700" dirty="0">
                <a:solidFill>
                  <a:schemeClr val="tx1"/>
                </a:solidFill>
              </a:rPr>
              <a:t> a user with roles/iam.serviceAccountTokenCreator on the SA calls generateAccessToken and gets a token valid for about an hour.</a:t>
            </a:r>
            <a:endParaRPr lang="en-US" sz="1700" dirty="0"/>
          </a:p>
          <a:p>
            <a:pPr marL="342900" indent="-342900">
              <a:spcAft>
                <a:spcPts val="600"/>
              </a:spcAft>
              <a:buSzPct val="100000"/>
              <a:buChar char="•"/>
            </a:pPr>
            <a:r>
              <a:rPr lang="en-US" sz="1700" b="1" dirty="0">
                <a:solidFill>
                  <a:schemeClr val="tx1"/>
                </a:solidFill>
              </a:rPr>
              <a:t>Audit trail:</a:t>
            </a:r>
            <a:pPr indent="0" marL="0">
              <a:spcAft>
                <a:spcPts val="600"/>
              </a:spcAft>
              <a:buNone/>
            </a:pPr>
            <a:r>
              <a:rPr lang="en-US" sz="1700" dirty="0">
                <a:solidFill>
                  <a:schemeClr val="tx1"/>
                </a:solidFill>
              </a:rPr>
              <a:t> Cloud Audit Logs record both the human and the SA, so you know who acted.</a:t>
            </a:r>
            <a:endParaRPr lang="en-US" sz="1700" dirty="0"/>
          </a:p>
          <a:p>
            <a:pPr marL="342900" indent="-342900">
              <a:spcAft>
                <a:spcPts val="600"/>
              </a:spcAft>
              <a:buSzPct val="100000"/>
              <a:buChar char="•"/>
            </a:pPr>
            <a:r>
              <a:rPr lang="en-US" sz="1700" b="1" dirty="0">
                <a:solidFill>
                  <a:schemeClr val="tx1"/>
                </a:solidFill>
              </a:rPr>
              <a:t>Least privilege:</a:t>
            </a:r>
            <a:pPr indent="0" marL="0">
              <a:spcAft>
                <a:spcPts val="600"/>
              </a:spcAft>
              <a:buNone/>
            </a:pPr>
            <a:r>
              <a:rPr lang="en-US" sz="1700" dirty="0">
                <a:solidFill>
                  <a:schemeClr val="tx1"/>
                </a:solidFill>
              </a:rPr>
              <a:t> give the SA only predefined roles it needs; give humans only the right to impersonate it.</a:t>
            </a:r>
            <a:endParaRPr lang="en-US" sz="1700" dirty="0"/>
          </a:p>
        </p:txBody>
      </p:sp>
      <p:sp>
        <p:nvSpPr>
          <p:cNvPr id="7" name="panel-103"/>
          <p:cNvSpPr/>
          <p:nvPr/>
        </p:nvSpPr>
        <p:spPr>
          <a:xfrm>
            <a:off x="7315200" y="1600200"/>
            <a:ext cx="4327855" cy="4663440"/>
          </a:xfrm>
          <a:prstGeom prst="roundRect">
            <a:avLst>
              <a:gd name="adj" fmla="val 1690"/>
            </a:avLst>
          </a:prstGeom>
          <a:solidFill>
            <a:schemeClr val="tx2"/>
          </a:solidFill>
          <a:ln w="12700">
            <a:solidFill>
              <a:schemeClr val="tx2"/>
            </a:solidFill>
            <a:prstDash val="solid"/>
          </a:ln>
        </p:spPr>
      </p:sp>
      <p:sp>
        <p:nvSpPr>
          <p:cNvPr id="8" name="rh-104"/>
          <p:cNvSpPr txBox="1"/>
          <p:nvPr/>
        </p:nvSpPr>
        <p:spPr>
          <a:xfrm>
            <a:off x="7589520" y="1828800"/>
            <a:ext cx="3779215" cy="411480"/>
          </a:xfrm>
          <a:prstGeom prst="rect">
            <a:avLst/>
          </a:prstGeom>
          <a:noFill/>
          <a:ln/>
        </p:spPr>
        <p:txBody>
          <a:bodyPr wrap="square" lIns="0" tIns="0" rIns="0" bIns="0" rtlCol="0" anchor="ctr"/>
          <a:lstStyle/>
          <a:p>
            <a:pPr indent="0" marL="0">
              <a:buNone/>
            </a:pPr>
            <a:r>
              <a:rPr lang="en-US" sz="1800" b="1" dirty="0">
                <a:solidFill>
                  <a:schemeClr val="accent2"/>
                </a:solidFill>
              </a:rPr>
              <a:t>In this build</a:t>
            </a:r>
            <a:endParaRPr lang="en-US" sz="1800" dirty="0"/>
          </a:p>
        </p:txBody>
      </p:sp>
      <p:sp>
        <p:nvSpPr>
          <p:cNvPr id="9" name="right-105"/>
          <p:cNvSpPr txBox="1"/>
          <p:nvPr/>
        </p:nvSpPr>
        <p:spPr>
          <a:xfrm>
            <a:off x="7589520" y="2377440"/>
            <a:ext cx="3779215" cy="3703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Terraform SA: network-admin-sa@saas-vpc-host-2022</a:t>
            </a:r>
            <a:endParaRPr lang="en-US" sz="1600" dirty="0"/>
          </a:p>
          <a:p>
            <a:pPr marL="342900" indent="-342900">
              <a:spcAft>
                <a:spcPts val="600"/>
              </a:spcAft>
              <a:buSzPct val="100000"/>
              <a:buChar char="•"/>
            </a:pPr>
            <a:r>
              <a:rPr lang="en-US" sz="1600" dirty="0">
                <a:solidFill>
                  <a:schemeClr val="bg1"/>
                </a:solidFill>
              </a:rPr>
              <a:t>provider "google" and backend "gcs" both set impersonate_service_account</a:t>
            </a:r>
            <a:endParaRPr lang="en-US" sz="1600" dirty="0"/>
          </a:p>
          <a:p>
            <a:pPr marL="342900" indent="-342900">
              <a:spcAft>
                <a:spcPts val="600"/>
              </a:spcAft>
              <a:buSzPct val="100000"/>
              <a:buChar char="•"/>
            </a:pPr>
            <a:r>
              <a:rPr lang="en-US" sz="1600" dirty="0">
                <a:solidFill>
                  <a:schemeClr val="bg1"/>
                </a:solidFill>
              </a:rPr>
              <a:t>Admins never hold network-admin roles directly; they impersonate</a:t>
            </a:r>
            <a:endParaRPr lang="en-US" sz="1600" dirty="0"/>
          </a:p>
          <a:p>
            <a:pPr marL="342900" indent="-342900">
              <a:spcAft>
                <a:spcPts val="600"/>
              </a:spcAft>
              <a:buSzPct val="100000"/>
              <a:buChar char="•"/>
            </a:pPr>
            <a:r>
              <a:rPr lang="en-US" sz="1600" dirty="0">
                <a:solidFill>
                  <a:schemeClr val="bg1"/>
                </a:solidFill>
              </a:rPr>
              <a:t>Key creation later blocked org-wide by iam.disableServiceAccountKeyCreation</a:t>
            </a:r>
            <a:endParaRPr lang="en-US" sz="1600" dirty="0"/>
          </a:p>
          <a:p>
            <a:pPr marL="342900" indent="-342900">
              <a:spcAft>
                <a:spcPts val="600"/>
              </a:spcAft>
              <a:buSzPct val="100000"/>
              <a:buChar char="•"/>
            </a:pPr>
            <a:r>
              <a:rPr lang="en-US" sz="1600" dirty="0">
                <a:solidFill>
                  <a:schemeClr val="bg1"/>
                </a:solidFill>
              </a:rPr>
              <a:t>CI (Phase 8) uses the same chain through Workload Identity Federation</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10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1 · PROJECT SETUP AND IAM</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Billing, APIs and cost control</a:t>
            </a:r>
            <a:endParaRPr lang="en-US" sz="3200" dirty="0"/>
          </a:p>
        </p:txBody>
      </p:sp>
      <p:sp>
        <p:nvSpPr>
          <p:cNvPr id="5" name="card-107"/>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6" name="badge-108"/>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109"/>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110"/>
          <p:cNvSpPr txBox="1"/>
          <p:nvPr/>
        </p:nvSpPr>
        <p:spPr>
          <a:xfrm>
            <a:off x="1280160"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Billing account</a:t>
            </a:r>
            <a:endParaRPr lang="en-US" sz="1800" dirty="0"/>
          </a:p>
        </p:txBody>
      </p:sp>
      <p:sp>
        <p:nvSpPr>
          <p:cNvPr id="9" name="cardb-111"/>
          <p:cNvSpPr txBox="1"/>
          <p:nvPr/>
        </p:nvSpPr>
        <p:spPr>
          <a:xfrm>
            <a:off x="777240"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Pays for one or many projects. A project must be linked to an open billing account to create billable resources. Free-tier accounts cap linked projects.</a:t>
            </a:r>
            <a:endParaRPr lang="en-US" sz="1700" dirty="0"/>
          </a:p>
        </p:txBody>
      </p:sp>
      <p:sp>
        <p:nvSpPr>
          <p:cNvPr id="10" name="card-112"/>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1" name="badge-113"/>
          <p:cNvSpPr/>
          <p:nvPr/>
        </p:nvSpPr>
        <p:spPr>
          <a:xfrm>
            <a:off x="6415888" y="1783080"/>
            <a:ext cx="420624" cy="420624"/>
          </a:xfrm>
          <a:prstGeom prst="ellipse">
            <a:avLst/>
          </a:prstGeom>
          <a:solidFill>
            <a:schemeClr val="accent1"/>
          </a:solidFill>
          <a:ln w="12700">
            <a:solidFill>
              <a:schemeClr val="accent1"/>
            </a:solidFill>
            <a:prstDash val="solid"/>
          </a:ln>
        </p:spPr>
      </p:sp>
      <p:sp>
        <p:nvSpPr>
          <p:cNvPr id="12" name="badgetxt-114"/>
          <p:cNvSpPr txBox="1"/>
          <p:nvPr/>
        </p:nvSpPr>
        <p:spPr>
          <a:xfrm>
            <a:off x="641588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115"/>
          <p:cNvSpPr txBox="1"/>
          <p:nvPr/>
        </p:nvSpPr>
        <p:spPr>
          <a:xfrm>
            <a:off x="6964528"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Budgets and alerts</a:t>
            </a:r>
            <a:endParaRPr lang="en-US" sz="1800" dirty="0"/>
          </a:p>
        </p:txBody>
      </p:sp>
      <p:sp>
        <p:nvSpPr>
          <p:cNvPr id="14" name="cardb-116"/>
          <p:cNvSpPr txBox="1"/>
          <p:nvPr/>
        </p:nvSpPr>
        <p:spPr>
          <a:xfrm>
            <a:off x="6461608"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Alert at thresholds (e.g. 50%, 90%, 100%). Budgets notify; they don't stop spending unless you wire them to automation via Pub/Sub.</a:t>
            </a:r>
            <a:endParaRPr lang="en-US" sz="1700" dirty="0"/>
          </a:p>
        </p:txBody>
      </p:sp>
      <p:sp>
        <p:nvSpPr>
          <p:cNvPr id="15" name="card-117"/>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6" name="badge-118"/>
          <p:cNvSpPr/>
          <p:nvPr/>
        </p:nvSpPr>
        <p:spPr>
          <a:xfrm>
            <a:off x="731520" y="4251960"/>
            <a:ext cx="420624" cy="420624"/>
          </a:xfrm>
          <a:prstGeom prst="ellipse">
            <a:avLst/>
          </a:prstGeom>
          <a:solidFill>
            <a:schemeClr val="accent1"/>
          </a:solidFill>
          <a:ln w="12700">
            <a:solidFill>
              <a:schemeClr val="accent1"/>
            </a:solidFill>
            <a:prstDash val="solid"/>
          </a:ln>
        </p:spPr>
      </p:sp>
      <p:sp>
        <p:nvSpPr>
          <p:cNvPr id="17" name="badgetxt-119"/>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120"/>
          <p:cNvSpPr txBox="1"/>
          <p:nvPr/>
        </p:nvSpPr>
        <p:spPr>
          <a:xfrm>
            <a:off x="1280160"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Service enablement</a:t>
            </a:r>
            <a:endParaRPr lang="en-US" sz="1800" dirty="0"/>
          </a:p>
        </p:txBody>
      </p:sp>
      <p:sp>
        <p:nvSpPr>
          <p:cNvPr id="19" name="cardb-121"/>
          <p:cNvSpPr txBox="1"/>
          <p:nvPr/>
        </p:nvSpPr>
        <p:spPr>
          <a:xfrm>
            <a:off x="777240"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Each API (compute, dns, logging…) is enabled per project. Calls are billed and quota-checked against a project, which needs serviceusage permission.</a:t>
            </a:r>
            <a:endParaRPr lang="en-US" sz="1700" dirty="0"/>
          </a:p>
        </p:txBody>
      </p:sp>
      <p:sp>
        <p:nvSpPr>
          <p:cNvPr id="20" name="card-122"/>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1" name="badge-123"/>
          <p:cNvSpPr/>
          <p:nvPr/>
        </p:nvSpPr>
        <p:spPr>
          <a:xfrm>
            <a:off x="6415888" y="4251960"/>
            <a:ext cx="420624" cy="420624"/>
          </a:xfrm>
          <a:prstGeom prst="ellipse">
            <a:avLst/>
          </a:prstGeom>
          <a:solidFill>
            <a:schemeClr val="accent1"/>
          </a:solidFill>
          <a:ln w="12700">
            <a:solidFill>
              <a:schemeClr val="accent1"/>
            </a:solidFill>
            <a:prstDash val="solid"/>
          </a:ln>
        </p:spPr>
      </p:sp>
      <p:sp>
        <p:nvSpPr>
          <p:cNvPr id="22" name="badgetxt-124"/>
          <p:cNvSpPr txBox="1"/>
          <p:nvPr/>
        </p:nvSpPr>
        <p:spPr>
          <a:xfrm>
            <a:off x="641588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125"/>
          <p:cNvSpPr txBox="1"/>
          <p:nvPr/>
        </p:nvSpPr>
        <p:spPr>
          <a:xfrm>
            <a:off x="6964528"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Pausing cost</a:t>
            </a:r>
            <a:endParaRPr lang="en-US" sz="1800" dirty="0"/>
          </a:p>
        </p:txBody>
      </p:sp>
      <p:sp>
        <p:nvSpPr>
          <p:cNvPr id="24" name="cardb-126"/>
          <p:cNvSpPr txBox="1"/>
          <p:nvPr/>
        </p:nvSpPr>
        <p:spPr>
          <a:xfrm>
            <a:off x="6461608"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Delete what's billed by the hour (VMs, VPN tunnels, static IPs, NAT). Networks, subnets, firewall rules and routes are free to keep.</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12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1 · PROJECT SETUP AND IAM</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Lessons learned: Phase 1</a:t>
            </a:r>
            <a:endParaRPr lang="en-US" sz="3200" dirty="0"/>
          </a:p>
        </p:txBody>
      </p:sp>
      <p:graphicFrame>
        <p:nvGraphicFramePr>
          <p:cNvPr id="10" name="table-128"/>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8960"/>
                <a:gridCol w="3931920"/>
                <a:gridCol w="4050792"/>
              </a:tblGrid>
              <a:tr h="0">
                <a:tc>
                  <a:txBody>
                    <a:bodyPr/>
                    <a:lstStyle/>
                    <a:p>
                      <a:pPr indent="0" marL="0">
                        <a:buNone/>
                      </a:pPr>
                      <a:r>
                        <a:rPr lang="en-US" sz="1700" b="1" dirty="0">
                          <a:solidFill>
                            <a:schemeClr val="bg1"/>
                          </a:solidFill>
                        </a:rPr>
                        <a:t>Problem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Root cause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Fix</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FAILED_PRECONDITION on link</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The billing account was closed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Relinked the project to the open billing account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Billing quota exceeded on 5th project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The account limits how many projects it can fund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Unlinked an unused project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serviceusage.services.use 403</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Quota/billing project check for the caller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Granted roles/serviceusage.serviceUsageConsumer on the host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'Project has no organization'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Project created outside the org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gcloud beta projects move … --organization=ORG_ID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129"/>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1 · PROJECT SETUP AND IAM</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Test yourself</a:t>
            </a:r>
            <a:endParaRPr lang="en-US" sz="3200" dirty="0"/>
          </a:p>
        </p:txBody>
      </p:sp>
      <p:sp>
        <p:nvSpPr>
          <p:cNvPr id="4" name="qcard-130"/>
          <p:cNvSpPr/>
          <p:nvPr/>
        </p:nvSpPr>
        <p:spPr>
          <a:xfrm>
            <a:off x="548640" y="1600200"/>
            <a:ext cx="3515258" cy="2194560"/>
          </a:xfrm>
          <a:prstGeom prst="roundRect">
            <a:avLst>
              <a:gd name="adj" fmla="val 3333"/>
            </a:avLst>
          </a:prstGeom>
          <a:solidFill>
            <a:schemeClr val="bg1"/>
          </a:solidFill>
          <a:ln w="15875">
            <a:solidFill>
              <a:schemeClr val="accent1"/>
            </a:solidFill>
            <a:prstDash val="solid"/>
          </a:ln>
        </p:spPr>
      </p:sp>
      <p:sp>
        <p:nvSpPr>
          <p:cNvPr id="5" name="badge-131"/>
          <p:cNvSpPr/>
          <p:nvPr/>
        </p:nvSpPr>
        <p:spPr>
          <a:xfrm>
            <a:off x="731520" y="1783080"/>
            <a:ext cx="420624" cy="420624"/>
          </a:xfrm>
          <a:prstGeom prst="ellipse">
            <a:avLst/>
          </a:prstGeom>
          <a:solidFill>
            <a:schemeClr val="accent2"/>
          </a:solidFill>
          <a:ln w="12700">
            <a:solidFill>
              <a:schemeClr val="accent2"/>
            </a:solidFill>
            <a:prstDash val="solid"/>
          </a:ln>
        </p:spPr>
      </p:sp>
      <p:sp>
        <p:nvSpPr>
          <p:cNvPr id="6" name="badgetxt-132"/>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7" name="q-133"/>
          <p:cNvSpPr txBox="1"/>
          <p:nvPr/>
        </p:nvSpPr>
        <p:spPr>
          <a:xfrm>
            <a:off x="1280160"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impersonation instead of an SA key?</a:t>
            </a:r>
            <a:endParaRPr lang="en-US" sz="1600" dirty="0"/>
          </a:p>
        </p:txBody>
      </p:sp>
      <p:sp>
        <p:nvSpPr>
          <p:cNvPr id="8" name="aback-134"/>
          <p:cNvSpPr/>
          <p:nvPr/>
        </p:nvSpPr>
        <p:spPr>
          <a:xfrm>
            <a:off x="685800" y="2651760"/>
            <a:ext cx="3240938" cy="1005840"/>
          </a:xfrm>
          <a:prstGeom prst="roundRect">
            <a:avLst>
              <a:gd name="adj" fmla="val 5455"/>
            </a:avLst>
          </a:prstGeom>
          <a:solidFill>
            <a:schemeClr val="bg2"/>
          </a:solidFill>
          <a:ln w="12700">
            <a:solidFill>
              <a:schemeClr val="bg2"/>
            </a:solidFill>
            <a:prstDash val="solid"/>
          </a:ln>
        </p:spPr>
      </p:sp>
      <p:sp>
        <p:nvSpPr>
          <p:cNvPr id="9" name="a-135"/>
          <p:cNvSpPr txBox="1"/>
          <p:nvPr/>
        </p:nvSpPr>
        <p:spPr>
          <a:xfrm>
            <a:off x="822960"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No long-lived secret to leak or rotate, short-lived tokens, and audit logs show the human behind every action.</a:t>
            </a:r>
            <a:endParaRPr lang="en-US" sz="1500" dirty="0"/>
          </a:p>
        </p:txBody>
      </p:sp>
      <p:sp>
        <p:nvSpPr>
          <p:cNvPr id="10" name="qcard-136"/>
          <p:cNvSpPr/>
          <p:nvPr/>
        </p:nvSpPr>
        <p:spPr>
          <a:xfrm>
            <a:off x="4338218" y="1600200"/>
            <a:ext cx="3515258" cy="2194560"/>
          </a:xfrm>
          <a:prstGeom prst="roundRect">
            <a:avLst>
              <a:gd name="adj" fmla="val 3333"/>
            </a:avLst>
          </a:prstGeom>
          <a:solidFill>
            <a:schemeClr val="bg1"/>
          </a:solidFill>
          <a:ln w="15875">
            <a:solidFill>
              <a:schemeClr val="accent1"/>
            </a:solidFill>
            <a:prstDash val="solid"/>
          </a:ln>
        </p:spPr>
      </p:sp>
      <p:sp>
        <p:nvSpPr>
          <p:cNvPr id="11" name="badge-137"/>
          <p:cNvSpPr/>
          <p:nvPr/>
        </p:nvSpPr>
        <p:spPr>
          <a:xfrm>
            <a:off x="4521098" y="1783080"/>
            <a:ext cx="420624" cy="420624"/>
          </a:xfrm>
          <a:prstGeom prst="ellipse">
            <a:avLst/>
          </a:prstGeom>
          <a:solidFill>
            <a:schemeClr val="accent2"/>
          </a:solidFill>
          <a:ln w="12700">
            <a:solidFill>
              <a:schemeClr val="accent2"/>
            </a:solidFill>
            <a:prstDash val="solid"/>
          </a:ln>
        </p:spPr>
      </p:sp>
      <p:sp>
        <p:nvSpPr>
          <p:cNvPr id="12" name="badgetxt-138"/>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3" name="q-139"/>
          <p:cNvSpPr txBox="1"/>
          <p:nvPr/>
        </p:nvSpPr>
        <p:spPr>
          <a:xfrm>
            <a:off x="5069738"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 role lets you impersonate an SA?</a:t>
            </a:r>
            <a:endParaRPr lang="en-US" sz="1600" dirty="0"/>
          </a:p>
        </p:txBody>
      </p:sp>
      <p:sp>
        <p:nvSpPr>
          <p:cNvPr id="14" name="aback-140"/>
          <p:cNvSpPr/>
          <p:nvPr/>
        </p:nvSpPr>
        <p:spPr>
          <a:xfrm>
            <a:off x="4475378" y="2651760"/>
            <a:ext cx="3240938" cy="1005840"/>
          </a:xfrm>
          <a:prstGeom prst="roundRect">
            <a:avLst>
              <a:gd name="adj" fmla="val 5455"/>
            </a:avLst>
          </a:prstGeom>
          <a:solidFill>
            <a:schemeClr val="bg2"/>
          </a:solidFill>
          <a:ln w="12700">
            <a:solidFill>
              <a:schemeClr val="bg2"/>
            </a:solidFill>
            <a:prstDash val="solid"/>
          </a:ln>
        </p:spPr>
      </p:sp>
      <p:sp>
        <p:nvSpPr>
          <p:cNvPr id="15" name="a-141"/>
          <p:cNvSpPr txBox="1"/>
          <p:nvPr/>
        </p:nvSpPr>
        <p:spPr>
          <a:xfrm>
            <a:off x="4612538"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roles/iam.serviceAccountTokenCreator on that service account.</a:t>
            </a:r>
            <a:endParaRPr lang="en-US" sz="1500" dirty="0"/>
          </a:p>
        </p:txBody>
      </p:sp>
      <p:sp>
        <p:nvSpPr>
          <p:cNvPr id="16" name="qcard-142"/>
          <p:cNvSpPr/>
          <p:nvPr/>
        </p:nvSpPr>
        <p:spPr>
          <a:xfrm>
            <a:off x="8127797" y="1600200"/>
            <a:ext cx="3515258" cy="2194560"/>
          </a:xfrm>
          <a:prstGeom prst="roundRect">
            <a:avLst>
              <a:gd name="adj" fmla="val 3333"/>
            </a:avLst>
          </a:prstGeom>
          <a:solidFill>
            <a:schemeClr val="bg1"/>
          </a:solidFill>
          <a:ln w="15875">
            <a:solidFill>
              <a:schemeClr val="accent1"/>
            </a:solidFill>
            <a:prstDash val="solid"/>
          </a:ln>
        </p:spPr>
      </p:sp>
      <p:sp>
        <p:nvSpPr>
          <p:cNvPr id="17" name="badge-143"/>
          <p:cNvSpPr/>
          <p:nvPr/>
        </p:nvSpPr>
        <p:spPr>
          <a:xfrm>
            <a:off x="8310677" y="1783080"/>
            <a:ext cx="420624" cy="420624"/>
          </a:xfrm>
          <a:prstGeom prst="ellipse">
            <a:avLst/>
          </a:prstGeom>
          <a:solidFill>
            <a:schemeClr val="accent2"/>
          </a:solidFill>
          <a:ln w="12700">
            <a:solidFill>
              <a:schemeClr val="accent2"/>
            </a:solidFill>
            <a:prstDash val="solid"/>
          </a:ln>
        </p:spPr>
      </p:sp>
      <p:sp>
        <p:nvSpPr>
          <p:cNvPr id="18" name="badgetxt-144"/>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9" name="q-145"/>
          <p:cNvSpPr txBox="1"/>
          <p:nvPr/>
        </p:nvSpPr>
        <p:spPr>
          <a:xfrm>
            <a:off x="8859317"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Can a role granted at the org be removed at project level?</a:t>
            </a:r>
            <a:endParaRPr lang="en-US" sz="1600" dirty="0"/>
          </a:p>
        </p:txBody>
      </p:sp>
      <p:sp>
        <p:nvSpPr>
          <p:cNvPr id="20" name="aback-146"/>
          <p:cNvSpPr/>
          <p:nvPr/>
        </p:nvSpPr>
        <p:spPr>
          <a:xfrm>
            <a:off x="8264957" y="2651760"/>
            <a:ext cx="3240938" cy="1005840"/>
          </a:xfrm>
          <a:prstGeom prst="roundRect">
            <a:avLst>
              <a:gd name="adj" fmla="val 5455"/>
            </a:avLst>
          </a:prstGeom>
          <a:solidFill>
            <a:schemeClr val="bg2"/>
          </a:solidFill>
          <a:ln w="12700">
            <a:solidFill>
              <a:schemeClr val="bg2"/>
            </a:solidFill>
            <a:prstDash val="solid"/>
          </a:ln>
        </p:spPr>
      </p:sp>
      <p:sp>
        <p:nvSpPr>
          <p:cNvPr id="21" name="a-147"/>
          <p:cNvSpPr txBox="1"/>
          <p:nvPr/>
        </p:nvSpPr>
        <p:spPr>
          <a:xfrm>
            <a:off x="8402117"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No. IAM allow policies are additive; use deny policies or org policies to restrict.</a:t>
            </a:r>
            <a:endParaRPr lang="en-US" sz="1500" dirty="0"/>
          </a:p>
        </p:txBody>
      </p:sp>
      <p:sp>
        <p:nvSpPr>
          <p:cNvPr id="22" name="qcard-148"/>
          <p:cNvSpPr/>
          <p:nvPr/>
        </p:nvSpPr>
        <p:spPr>
          <a:xfrm>
            <a:off x="548640" y="4069080"/>
            <a:ext cx="3515258" cy="2194560"/>
          </a:xfrm>
          <a:prstGeom prst="roundRect">
            <a:avLst>
              <a:gd name="adj" fmla="val 3333"/>
            </a:avLst>
          </a:prstGeom>
          <a:solidFill>
            <a:schemeClr val="bg1"/>
          </a:solidFill>
          <a:ln w="15875">
            <a:solidFill>
              <a:schemeClr val="accent1"/>
            </a:solidFill>
            <a:prstDash val="solid"/>
          </a:ln>
        </p:spPr>
      </p:sp>
      <p:sp>
        <p:nvSpPr>
          <p:cNvPr id="23" name="badge-149"/>
          <p:cNvSpPr/>
          <p:nvPr/>
        </p:nvSpPr>
        <p:spPr>
          <a:xfrm>
            <a:off x="731520" y="4251960"/>
            <a:ext cx="420624" cy="420624"/>
          </a:xfrm>
          <a:prstGeom prst="ellipse">
            <a:avLst/>
          </a:prstGeom>
          <a:solidFill>
            <a:schemeClr val="accent2"/>
          </a:solidFill>
          <a:ln w="12700">
            <a:solidFill>
              <a:schemeClr val="accent2"/>
            </a:solidFill>
            <a:prstDash val="solid"/>
          </a:ln>
        </p:spPr>
      </p:sp>
      <p:sp>
        <p:nvSpPr>
          <p:cNvPr id="24" name="badgetxt-150"/>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25" name="q-151"/>
          <p:cNvSpPr txBox="1"/>
          <p:nvPr/>
        </p:nvSpPr>
        <p:spPr>
          <a:xfrm>
            <a:off x="1280160"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one project per tenant?</a:t>
            </a:r>
            <a:endParaRPr lang="en-US" sz="1600" dirty="0"/>
          </a:p>
        </p:txBody>
      </p:sp>
      <p:sp>
        <p:nvSpPr>
          <p:cNvPr id="26" name="aback-152"/>
          <p:cNvSpPr/>
          <p:nvPr/>
        </p:nvSpPr>
        <p:spPr>
          <a:xfrm>
            <a:off x="685800" y="5120640"/>
            <a:ext cx="3240938" cy="1005840"/>
          </a:xfrm>
          <a:prstGeom prst="roundRect">
            <a:avLst>
              <a:gd name="adj" fmla="val 5455"/>
            </a:avLst>
          </a:prstGeom>
          <a:solidFill>
            <a:schemeClr val="bg2"/>
          </a:solidFill>
          <a:ln w="12700">
            <a:solidFill>
              <a:schemeClr val="bg2"/>
            </a:solidFill>
            <a:prstDash val="solid"/>
          </a:ln>
        </p:spPr>
      </p:sp>
      <p:sp>
        <p:nvSpPr>
          <p:cNvPr id="27" name="a-153"/>
          <p:cNvSpPr txBox="1"/>
          <p:nvPr/>
        </p:nvSpPr>
        <p:spPr>
          <a:xfrm>
            <a:off x="822960"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Separate IAM, billing, quotas and audit; easy offboarding; blast radius limited to one customer.</a:t>
            </a:r>
            <a:endParaRPr lang="en-US" sz="1500" dirty="0"/>
          </a:p>
        </p:txBody>
      </p:sp>
      <p:sp>
        <p:nvSpPr>
          <p:cNvPr id="28" name="qcard-154"/>
          <p:cNvSpPr/>
          <p:nvPr/>
        </p:nvSpPr>
        <p:spPr>
          <a:xfrm>
            <a:off x="4338218" y="4069080"/>
            <a:ext cx="3515258" cy="2194560"/>
          </a:xfrm>
          <a:prstGeom prst="roundRect">
            <a:avLst>
              <a:gd name="adj" fmla="val 3333"/>
            </a:avLst>
          </a:prstGeom>
          <a:solidFill>
            <a:schemeClr val="bg1"/>
          </a:solidFill>
          <a:ln w="15875">
            <a:solidFill>
              <a:schemeClr val="accent1"/>
            </a:solidFill>
            <a:prstDash val="solid"/>
          </a:ln>
        </p:spPr>
      </p:sp>
      <p:sp>
        <p:nvSpPr>
          <p:cNvPr id="29" name="badge-155"/>
          <p:cNvSpPr/>
          <p:nvPr/>
        </p:nvSpPr>
        <p:spPr>
          <a:xfrm>
            <a:off x="4521098" y="4251960"/>
            <a:ext cx="420624" cy="420624"/>
          </a:xfrm>
          <a:prstGeom prst="ellipse">
            <a:avLst/>
          </a:prstGeom>
          <a:solidFill>
            <a:schemeClr val="accent2"/>
          </a:solidFill>
          <a:ln w="12700">
            <a:solidFill>
              <a:schemeClr val="accent2"/>
            </a:solidFill>
            <a:prstDash val="solid"/>
          </a:ln>
        </p:spPr>
      </p:sp>
      <p:sp>
        <p:nvSpPr>
          <p:cNvPr id="30" name="badgetxt-156"/>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1" name="q-157"/>
          <p:cNvSpPr txBox="1"/>
          <p:nvPr/>
        </p:nvSpPr>
        <p:spPr>
          <a:xfrm>
            <a:off x="5069738"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Does a budget stop spending?</a:t>
            </a:r>
            <a:endParaRPr lang="en-US" sz="1600" dirty="0"/>
          </a:p>
        </p:txBody>
      </p:sp>
      <p:sp>
        <p:nvSpPr>
          <p:cNvPr id="32" name="aback-158"/>
          <p:cNvSpPr/>
          <p:nvPr/>
        </p:nvSpPr>
        <p:spPr>
          <a:xfrm>
            <a:off x="4475378" y="5120640"/>
            <a:ext cx="3240938" cy="1005840"/>
          </a:xfrm>
          <a:prstGeom prst="roundRect">
            <a:avLst>
              <a:gd name="adj" fmla="val 5455"/>
            </a:avLst>
          </a:prstGeom>
          <a:solidFill>
            <a:schemeClr val="bg2"/>
          </a:solidFill>
          <a:ln w="12700">
            <a:solidFill>
              <a:schemeClr val="bg2"/>
            </a:solidFill>
            <a:prstDash val="solid"/>
          </a:ln>
        </p:spPr>
      </p:sp>
      <p:sp>
        <p:nvSpPr>
          <p:cNvPr id="33" name="a-159"/>
          <p:cNvSpPr txBox="1"/>
          <p:nvPr/>
        </p:nvSpPr>
        <p:spPr>
          <a:xfrm>
            <a:off x="4612538"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No. It alerts. Stopping needs automation (Pub/Sub + function) or manual action.</a:t>
            </a:r>
            <a:endParaRPr lang="en-US" sz="1500" dirty="0"/>
          </a:p>
        </p:txBody>
      </p:sp>
      <p:sp>
        <p:nvSpPr>
          <p:cNvPr id="34" name="qcard-160"/>
          <p:cNvSpPr/>
          <p:nvPr/>
        </p:nvSpPr>
        <p:spPr>
          <a:xfrm>
            <a:off x="8127797" y="4069080"/>
            <a:ext cx="3515258" cy="2194560"/>
          </a:xfrm>
          <a:prstGeom prst="roundRect">
            <a:avLst>
              <a:gd name="adj" fmla="val 3333"/>
            </a:avLst>
          </a:prstGeom>
          <a:solidFill>
            <a:schemeClr val="bg1"/>
          </a:solidFill>
          <a:ln w="15875">
            <a:solidFill>
              <a:schemeClr val="accent1"/>
            </a:solidFill>
            <a:prstDash val="solid"/>
          </a:ln>
        </p:spPr>
      </p:sp>
      <p:sp>
        <p:nvSpPr>
          <p:cNvPr id="35" name="badge-161"/>
          <p:cNvSpPr/>
          <p:nvPr/>
        </p:nvSpPr>
        <p:spPr>
          <a:xfrm>
            <a:off x="8310677" y="4251960"/>
            <a:ext cx="420624" cy="420624"/>
          </a:xfrm>
          <a:prstGeom prst="ellipse">
            <a:avLst/>
          </a:prstGeom>
          <a:solidFill>
            <a:schemeClr val="accent2"/>
          </a:solidFill>
          <a:ln w="12700">
            <a:solidFill>
              <a:schemeClr val="accent2"/>
            </a:solidFill>
            <a:prstDash val="solid"/>
          </a:ln>
        </p:spPr>
      </p:sp>
      <p:sp>
        <p:nvSpPr>
          <p:cNvPr id="36" name="badgetxt-162"/>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7" name="q-163"/>
          <p:cNvSpPr txBox="1"/>
          <p:nvPr/>
        </p:nvSpPr>
        <p:spPr>
          <a:xfrm>
            <a:off x="8859317"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Which resources keep costing money when idle?</a:t>
            </a:r>
            <a:endParaRPr lang="en-US" sz="1600" dirty="0"/>
          </a:p>
        </p:txBody>
      </p:sp>
      <p:sp>
        <p:nvSpPr>
          <p:cNvPr id="38" name="aback-164"/>
          <p:cNvSpPr/>
          <p:nvPr/>
        </p:nvSpPr>
        <p:spPr>
          <a:xfrm>
            <a:off x="8264957" y="5120640"/>
            <a:ext cx="3240938" cy="1005840"/>
          </a:xfrm>
          <a:prstGeom prst="roundRect">
            <a:avLst>
              <a:gd name="adj" fmla="val 5455"/>
            </a:avLst>
          </a:prstGeom>
          <a:solidFill>
            <a:schemeClr val="bg2"/>
          </a:solidFill>
          <a:ln w="12700">
            <a:solidFill>
              <a:schemeClr val="bg2"/>
            </a:solidFill>
            <a:prstDash val="solid"/>
          </a:ln>
        </p:spPr>
      </p:sp>
      <p:sp>
        <p:nvSpPr>
          <p:cNvPr id="39" name="a-165"/>
          <p:cNvSpPr txBox="1"/>
          <p:nvPr/>
        </p:nvSpPr>
        <p:spPr>
          <a:xfrm>
            <a:off x="8402117"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VMs, VPN tunnels, static external IPs, NAT gateways. VPCs, subnets, routes and firewalls are free.</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num-166"/>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02</a:t>
            </a:r>
            <a:endParaRPr lang="en-US" sz="13000" dirty="0"/>
          </a:p>
        </p:txBody>
      </p:sp>
      <p:sp>
        <p:nvSpPr>
          <p:cNvPr id="3" name="sectag-167"/>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2</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Architecture and IP plan</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Decide the topology and address plan before writing any code: which environments share a network, how tenants are isolated, and how every range fits without overlap, including room for DR and hybrid.</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16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2 · ARCHITECTURE AND IP PLAN</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Shared VPC vs VPC Network Peering</a:t>
            </a:r>
            <a:endParaRPr lang="en-US" sz="3200" dirty="0"/>
          </a:p>
        </p:txBody>
      </p:sp>
      <p:graphicFrame>
        <p:nvGraphicFramePr>
          <p:cNvPr id="13" name="table-169"/>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377440"/>
                <a:gridCol w="4352544"/>
                <a:gridCol w="4361688"/>
              </a:tblGrid>
              <a:tr h="0">
                <a:tc>
                  <a:txBody>
                    <a:bodyPr/>
                    <a:lstStyle/>
                    <a:p>
                      <a:pPr indent="0" marL="0">
                        <a:buNone/>
                      </a:pP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Shared VPC</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VPC Network Peering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What it is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One network owned by a host project; service projects deploy into it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Two separate networks exchange subnet routes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Administration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Central network team owns subnets, routes, firewalls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Each VPC administered independently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Org requirement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Projects must be in the same organization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Works across projects, orgs and customers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Transitive?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Not applicable (it's one network)</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No: A–B and B–C does not give A–C</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Best for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Internal environments (dev, staging, prod) under one team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Separate trust domains, like tenants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In this build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Hub for shared-svc, dev, staging, prod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Hub to fintech and to healthcare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ag-17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2 · ARCHITECTURE AND IP PLAN</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CIDR planning principles</a:t>
            </a:r>
            <a:endParaRPr lang="en-US" sz="3200" dirty="0"/>
          </a:p>
        </p:txBody>
      </p:sp>
      <p:sp>
        <p:nvSpPr>
          <p:cNvPr id="5" name="card-171"/>
          <p:cNvSpPr/>
          <p:nvPr/>
        </p:nvSpPr>
        <p:spPr>
          <a:xfrm>
            <a:off x="548640" y="1600200"/>
            <a:ext cx="3515258" cy="2194560"/>
          </a:xfrm>
          <a:prstGeom prst="roundRect">
            <a:avLst>
              <a:gd name="adj" fmla="val 3333"/>
            </a:avLst>
          </a:prstGeom>
          <a:solidFill>
            <a:schemeClr val="bg2"/>
          </a:solidFill>
          <a:ln w="12700">
            <a:solidFill>
              <a:schemeClr val="bg2"/>
            </a:solidFill>
            <a:prstDash val="solid"/>
          </a:ln>
        </p:spPr>
      </p:sp>
      <p:sp>
        <p:nvSpPr>
          <p:cNvPr id="6" name="badge-172"/>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173"/>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174"/>
          <p:cNvSpPr txBox="1"/>
          <p:nvPr/>
        </p:nvSpPr>
        <p:spPr>
          <a:xfrm>
            <a:off x="1280160"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Never overlap</a:t>
            </a:r>
            <a:endParaRPr lang="en-US" sz="1800" dirty="0"/>
          </a:p>
        </p:txBody>
      </p:sp>
      <p:sp>
        <p:nvSpPr>
          <p:cNvPr id="9" name="cardb-175"/>
          <p:cNvSpPr txBox="1"/>
          <p:nvPr/>
        </p:nvSpPr>
        <p:spPr>
          <a:xfrm>
            <a:off x="777240"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Peered or VPN-connected networks can't share ranges. Overlap blocks peering and breaks routing to on-prem.</a:t>
            </a:r>
            <a:endParaRPr lang="en-US" sz="1600" dirty="0"/>
          </a:p>
        </p:txBody>
      </p:sp>
      <p:sp>
        <p:nvSpPr>
          <p:cNvPr id="10" name="card-176"/>
          <p:cNvSpPr/>
          <p:nvPr/>
        </p:nvSpPr>
        <p:spPr>
          <a:xfrm>
            <a:off x="4338218" y="1600200"/>
            <a:ext cx="3515258" cy="2194560"/>
          </a:xfrm>
          <a:prstGeom prst="roundRect">
            <a:avLst>
              <a:gd name="adj" fmla="val 3333"/>
            </a:avLst>
          </a:prstGeom>
          <a:solidFill>
            <a:schemeClr val="bg2"/>
          </a:solidFill>
          <a:ln w="12700">
            <a:solidFill>
              <a:schemeClr val="bg2"/>
            </a:solidFill>
            <a:prstDash val="solid"/>
          </a:ln>
        </p:spPr>
      </p:sp>
      <p:sp>
        <p:nvSpPr>
          <p:cNvPr id="11" name="badge-177"/>
          <p:cNvSpPr/>
          <p:nvPr/>
        </p:nvSpPr>
        <p:spPr>
          <a:xfrm>
            <a:off x="4521098" y="1783080"/>
            <a:ext cx="420624" cy="420624"/>
          </a:xfrm>
          <a:prstGeom prst="ellipse">
            <a:avLst/>
          </a:prstGeom>
          <a:solidFill>
            <a:schemeClr val="accent1"/>
          </a:solidFill>
          <a:ln w="12700">
            <a:solidFill>
              <a:schemeClr val="accent1"/>
            </a:solidFill>
            <a:prstDash val="solid"/>
          </a:ln>
        </p:spPr>
      </p:sp>
      <p:sp>
        <p:nvSpPr>
          <p:cNvPr id="12" name="badgetxt-178"/>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179"/>
          <p:cNvSpPr txBox="1"/>
          <p:nvPr/>
        </p:nvSpPr>
        <p:spPr>
          <a:xfrm>
            <a:off x="5069738"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Reserve a /16 per domain</a:t>
            </a:r>
            <a:endParaRPr lang="en-US" sz="1800" dirty="0"/>
          </a:p>
        </p:txBody>
      </p:sp>
      <p:sp>
        <p:nvSpPr>
          <p:cNvPr id="14" name="cardb-180"/>
          <p:cNvSpPr txBox="1"/>
          <p:nvPr/>
        </p:nvSpPr>
        <p:spPr>
          <a:xfrm>
            <a:off x="4566818"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Each environment and tenant owns a /16 block. Subnets are /20s inside it (4,096 addresses, 4 reserved per subnet).</a:t>
            </a:r>
            <a:endParaRPr lang="en-US" sz="1600" dirty="0"/>
          </a:p>
        </p:txBody>
      </p:sp>
      <p:sp>
        <p:nvSpPr>
          <p:cNvPr id="15" name="card-181"/>
          <p:cNvSpPr/>
          <p:nvPr/>
        </p:nvSpPr>
        <p:spPr>
          <a:xfrm>
            <a:off x="8127797" y="1600200"/>
            <a:ext cx="3515258" cy="2194560"/>
          </a:xfrm>
          <a:prstGeom prst="roundRect">
            <a:avLst>
              <a:gd name="adj" fmla="val 3333"/>
            </a:avLst>
          </a:prstGeom>
          <a:solidFill>
            <a:schemeClr val="bg2"/>
          </a:solidFill>
          <a:ln w="12700">
            <a:solidFill>
              <a:schemeClr val="bg2"/>
            </a:solidFill>
            <a:prstDash val="solid"/>
          </a:ln>
        </p:spPr>
      </p:sp>
      <p:sp>
        <p:nvSpPr>
          <p:cNvPr id="16" name="badge-182"/>
          <p:cNvSpPr/>
          <p:nvPr/>
        </p:nvSpPr>
        <p:spPr>
          <a:xfrm>
            <a:off x="8310677" y="1783080"/>
            <a:ext cx="420624" cy="420624"/>
          </a:xfrm>
          <a:prstGeom prst="ellipse">
            <a:avLst/>
          </a:prstGeom>
          <a:solidFill>
            <a:schemeClr val="accent1"/>
          </a:solidFill>
          <a:ln w="12700">
            <a:solidFill>
              <a:schemeClr val="accent1"/>
            </a:solidFill>
            <a:prstDash val="solid"/>
          </a:ln>
        </p:spPr>
      </p:sp>
      <p:sp>
        <p:nvSpPr>
          <p:cNvPr id="17" name="badgetxt-183"/>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184"/>
          <p:cNvSpPr txBox="1"/>
          <p:nvPr/>
        </p:nvSpPr>
        <p:spPr>
          <a:xfrm>
            <a:off x="8859317"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Leave room to grow</a:t>
            </a:r>
            <a:endParaRPr lang="en-US" sz="1800" dirty="0"/>
          </a:p>
        </p:txBody>
      </p:sp>
      <p:sp>
        <p:nvSpPr>
          <p:cNvPr id="19" name="cardb-185"/>
          <p:cNvSpPr txBox="1"/>
          <p:nvPr/>
        </p:nvSpPr>
        <p:spPr>
          <a:xfrm>
            <a:off x="8356397"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Extra regions (DR), GKE secondary ranges and new tenants slot into reserved space without renumbering.</a:t>
            </a:r>
            <a:endParaRPr lang="en-US" sz="1600" dirty="0"/>
          </a:p>
        </p:txBody>
      </p:sp>
      <p:sp>
        <p:nvSpPr>
          <p:cNvPr id="20" name="card-186"/>
          <p:cNvSpPr/>
          <p:nvPr/>
        </p:nvSpPr>
        <p:spPr>
          <a:xfrm>
            <a:off x="548640" y="4069080"/>
            <a:ext cx="3515258" cy="2194560"/>
          </a:xfrm>
          <a:prstGeom prst="roundRect">
            <a:avLst>
              <a:gd name="adj" fmla="val 3333"/>
            </a:avLst>
          </a:prstGeom>
          <a:solidFill>
            <a:schemeClr val="bg2"/>
          </a:solidFill>
          <a:ln w="12700">
            <a:solidFill>
              <a:schemeClr val="bg2"/>
            </a:solidFill>
            <a:prstDash val="solid"/>
          </a:ln>
        </p:spPr>
      </p:sp>
      <p:sp>
        <p:nvSpPr>
          <p:cNvPr id="21" name="badge-187"/>
          <p:cNvSpPr/>
          <p:nvPr/>
        </p:nvSpPr>
        <p:spPr>
          <a:xfrm>
            <a:off x="731520" y="4251960"/>
            <a:ext cx="420624" cy="420624"/>
          </a:xfrm>
          <a:prstGeom prst="ellipse">
            <a:avLst/>
          </a:prstGeom>
          <a:solidFill>
            <a:schemeClr val="accent1"/>
          </a:solidFill>
          <a:ln w="12700">
            <a:solidFill>
              <a:schemeClr val="accent1"/>
            </a:solidFill>
            <a:prstDash val="solid"/>
          </a:ln>
        </p:spPr>
      </p:sp>
      <p:sp>
        <p:nvSpPr>
          <p:cNvPr id="22" name="badgetxt-188"/>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189"/>
          <p:cNvSpPr txBox="1"/>
          <p:nvPr/>
        </p:nvSpPr>
        <p:spPr>
          <a:xfrm>
            <a:off x="1280160"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Summarisable ranges</a:t>
            </a:r>
            <a:endParaRPr lang="en-US" sz="1800" dirty="0"/>
          </a:p>
        </p:txBody>
      </p:sp>
      <p:sp>
        <p:nvSpPr>
          <p:cNvPr id="24" name="cardb-190"/>
          <p:cNvSpPr txBox="1"/>
          <p:nvPr/>
        </p:nvSpPr>
        <p:spPr>
          <a:xfrm>
            <a:off x="777240"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One /16 per tenant means a single firewall source range or org deny covers every current and future subnet.</a:t>
            </a:r>
            <a:endParaRPr lang="en-US" sz="1600" dirty="0"/>
          </a:p>
        </p:txBody>
      </p:sp>
      <p:sp>
        <p:nvSpPr>
          <p:cNvPr id="25" name="card-191"/>
          <p:cNvSpPr/>
          <p:nvPr/>
        </p:nvSpPr>
        <p:spPr>
          <a:xfrm>
            <a:off x="4338218" y="4069080"/>
            <a:ext cx="3515258" cy="2194560"/>
          </a:xfrm>
          <a:prstGeom prst="roundRect">
            <a:avLst>
              <a:gd name="adj" fmla="val 3333"/>
            </a:avLst>
          </a:prstGeom>
          <a:solidFill>
            <a:schemeClr val="bg2"/>
          </a:solidFill>
          <a:ln w="12700">
            <a:solidFill>
              <a:schemeClr val="bg2"/>
            </a:solidFill>
            <a:prstDash val="solid"/>
          </a:ln>
        </p:spPr>
      </p:sp>
      <p:sp>
        <p:nvSpPr>
          <p:cNvPr id="26" name="badge-192"/>
          <p:cNvSpPr/>
          <p:nvPr/>
        </p:nvSpPr>
        <p:spPr>
          <a:xfrm>
            <a:off x="4521098" y="4251960"/>
            <a:ext cx="420624" cy="420624"/>
          </a:xfrm>
          <a:prstGeom prst="ellipse">
            <a:avLst/>
          </a:prstGeom>
          <a:solidFill>
            <a:schemeClr val="accent1"/>
          </a:solidFill>
          <a:ln w="12700">
            <a:solidFill>
              <a:schemeClr val="accent1"/>
            </a:solidFill>
            <a:prstDash val="solid"/>
          </a:ln>
        </p:spPr>
      </p:sp>
      <p:sp>
        <p:nvSpPr>
          <p:cNvPr id="27" name="badgetxt-193"/>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cardh-194"/>
          <p:cNvSpPr txBox="1"/>
          <p:nvPr/>
        </p:nvSpPr>
        <p:spPr>
          <a:xfrm>
            <a:off x="5069738"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RFC 1918 space</a:t>
            </a:r>
            <a:endParaRPr lang="en-US" sz="1800" dirty="0"/>
          </a:p>
        </p:txBody>
      </p:sp>
      <p:sp>
        <p:nvSpPr>
          <p:cNvPr id="29" name="cardb-195"/>
          <p:cNvSpPr txBox="1"/>
          <p:nvPr/>
        </p:nvSpPr>
        <p:spPr>
          <a:xfrm>
            <a:off x="4566818"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10.0.0.0/8, 172.16.0.0/12, 192.168.0.0/16. On-prem was given 192.168.0.0/20 so it can never clash with cloud.</a:t>
            </a:r>
            <a:endParaRPr lang="en-US" sz="1600" dirty="0"/>
          </a:p>
        </p:txBody>
      </p:sp>
      <p:sp>
        <p:nvSpPr>
          <p:cNvPr id="30" name="card-196"/>
          <p:cNvSpPr/>
          <p:nvPr/>
        </p:nvSpPr>
        <p:spPr>
          <a:xfrm>
            <a:off x="8127797" y="4069080"/>
            <a:ext cx="3515258" cy="2194560"/>
          </a:xfrm>
          <a:prstGeom prst="roundRect">
            <a:avLst>
              <a:gd name="adj" fmla="val 3333"/>
            </a:avLst>
          </a:prstGeom>
          <a:solidFill>
            <a:schemeClr val="bg2"/>
          </a:solidFill>
          <a:ln w="12700">
            <a:solidFill>
              <a:schemeClr val="bg2"/>
            </a:solidFill>
            <a:prstDash val="solid"/>
          </a:ln>
        </p:spPr>
      </p:sp>
      <p:sp>
        <p:nvSpPr>
          <p:cNvPr id="31" name="badge-197"/>
          <p:cNvSpPr/>
          <p:nvPr/>
        </p:nvSpPr>
        <p:spPr>
          <a:xfrm>
            <a:off x="8310677" y="4251960"/>
            <a:ext cx="420624" cy="420624"/>
          </a:xfrm>
          <a:prstGeom prst="ellipse">
            <a:avLst/>
          </a:prstGeom>
          <a:solidFill>
            <a:schemeClr val="accent1"/>
          </a:solidFill>
          <a:ln w="12700">
            <a:solidFill>
              <a:schemeClr val="accent1"/>
            </a:solidFill>
            <a:prstDash val="solid"/>
          </a:ln>
        </p:spPr>
      </p:sp>
      <p:sp>
        <p:nvSpPr>
          <p:cNvPr id="32" name="badgetxt-198"/>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cardh-199"/>
          <p:cNvSpPr txBox="1"/>
          <p:nvPr/>
        </p:nvSpPr>
        <p:spPr>
          <a:xfrm>
            <a:off x="8859317"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Payoff in Phase 8</a:t>
            </a:r>
            <a:endParaRPr lang="en-US" sz="1800" dirty="0"/>
          </a:p>
        </p:txBody>
      </p:sp>
      <p:sp>
        <p:nvSpPr>
          <p:cNvPr id="34" name="cardb-200"/>
          <p:cNvSpPr txBox="1"/>
          <p:nvPr/>
        </p:nvSpPr>
        <p:spPr>
          <a:xfrm>
            <a:off x="8356397"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DR subnets (10.x.16.0/20) fell inside existing /16s, so no firewall rule needed editing for failover.</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ag-201"/>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2 · ARCHITECTURE AND IP PLAN</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The address plan</a:t>
            </a:r>
            <a:endParaRPr lang="en-US" sz="3200" dirty="0"/>
          </a:p>
        </p:txBody>
      </p:sp>
      <p:graphicFrame>
        <p:nvGraphicFramePr>
          <p:cNvPr id="15" name="table-202"/>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926080"/>
                <a:gridCol w="2377440"/>
                <a:gridCol w="2377440"/>
                <a:gridCol w="3410712"/>
              </a:tblGrid>
              <a:tr h="0">
                <a:tc>
                  <a:txBody>
                    <a:bodyPr/>
                    <a:lstStyle/>
                    <a:p>
                      <a:pPr indent="0" marL="0">
                        <a:buNone/>
                      </a:pPr>
                      <a:r>
                        <a:rPr lang="en-US" sz="1600" b="1" dirty="0">
                          <a:solidFill>
                            <a:schemeClr val="bg1"/>
                          </a:solidFill>
                        </a:rPr>
                        <a:t>Domain</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Reserved block</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Primary subnet</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DR subnet (Phase 8)</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600" b="1" dirty="0">
                          <a:solidFill>
                            <a:schemeClr val="tx1"/>
                          </a:solidFill>
                        </a:rPr>
                        <a:t>Shared services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10.0.0.0/16</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10.0.0.0/20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10.0.16.0/20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Dev</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10.10.0.0/16</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10.10.0.0/20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none (not critical)</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Staging</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10.20.0.0/16</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10.20.0.0/20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none</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Prod</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10.30.0.0/16</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10.30.0.0/20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10.30.16.0/20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Tenant: fintech</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10.100.0.0/16</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10.100.0.0/20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10.100.16.0/20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Tenant: healthcare</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10.110.0.0/16</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10.110.0.0/20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10.110.16.0/20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Simulated on-prem</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192.168.0.0/20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192.168.0.0/20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n/a</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bl>
          </a:graphicData>
        </a:graphic>
      </p:graphicFrame>
      <p:sp>
        <p:nvSpPr>
          <p:cNvPr id="5" name="foot-203"/>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300" i="1" dirty="0">
                <a:solidFill>
                  <a:schemeClr val="accent4"/>
                </a:solidFill>
              </a:rPr>
              <a:t>Primary region us-central1, DR region us-east1. Special ranges: IAP 35.235.240.0/20 · private Google APIs 199.36.153.8/30 · BGP link-local 169.254.0.0/16.</a:t>
            </a:r>
            <a:endParaRPr lang="en-US" sz="13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ag-204"/>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2 · ARCHITECTURE AND IP PLAN</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The firewall matrix (who may talk to whom)</a:t>
            </a:r>
            <a:endParaRPr lang="en-US" sz="3200" dirty="0"/>
          </a:p>
        </p:txBody>
      </p:sp>
      <p:sp>
        <p:nvSpPr>
          <p:cNvPr id="5" name="lead-205"/>
          <p:cNvSpPr txBox="1"/>
          <p:nvPr/>
        </p:nvSpPr>
        <p:spPr>
          <a:xfrm>
            <a:off x="548640" y="1508760"/>
            <a:ext cx="11094415" cy="457200"/>
          </a:xfrm>
          <a:prstGeom prst="rect">
            <a:avLst/>
          </a:prstGeom>
          <a:noFill/>
          <a:ln/>
        </p:spPr>
        <p:txBody>
          <a:bodyPr wrap="square" lIns="0" tIns="0" rIns="0" bIns="0" rtlCol="0" anchor="ctr"/>
          <a:lstStyle/>
          <a:p>
            <a:pPr indent="0" marL="0">
              <a:buNone/>
            </a:pPr>
            <a:r>
              <a:rPr lang="en-US" sz="1500" i="1" dirty="0">
                <a:solidFill>
                  <a:schemeClr val="accent3"/>
                </a:solidFill>
              </a:rPr>
              <a:t>Written before any rules existed. Every 'allow' became exactly one rule; everything else is denied.</a:t>
            </a:r>
            <a:endParaRPr lang="en-US" sz="1500" dirty="0"/>
          </a:p>
        </p:txBody>
      </p:sp>
      <p:graphicFrame>
        <p:nvGraphicFramePr>
          <p:cNvPr id="16" name="table-206"/>
          <p:cNvGraphicFramePr>
            <a:graphicFrameLocks noGrp="1"/>
          </p:cNvGraphicFramePr>
          <p:nvPr>
            <p:extLst>
              <p:ext uri="{D42A27DB-BD31-4B8C-83A1-F6EECF244321}">
                <p14:modId xmlns:p14="http://schemas.microsoft.com/office/powerpoint/2010/main" val="1579011935"/>
              </p:ext>
            </p:extLst>
          </p:nvPr>
        </p:nvGraphicFramePr>
        <p:xfrm>
          <a:off x="548640" y="2103120"/>
          <a:ext cx="11094415" cy="914400"/>
        </p:xfrm>
        <a:graphic>
          <a:graphicData uri="http://schemas.openxmlformats.org/drawingml/2006/table">
            <a:tbl>
              <a:tblPr/>
              <a:tblGrid>
                <a:gridCol w="2377440"/>
                <a:gridCol w="2103120"/>
                <a:gridCol w="2103120"/>
                <a:gridCol w="2240280"/>
                <a:gridCol w="2267712"/>
              </a:tblGrid>
              <a:tr h="0">
                <a:tc>
                  <a:txBody>
                    <a:bodyPr/>
                    <a:lstStyle/>
                    <a:p>
                      <a:pPr indent="0" marL="0">
                        <a:buNone/>
                      </a:pPr>
                      <a:r>
                        <a:rPr lang="en-US" sz="1700" b="1" dirty="0">
                          <a:solidFill>
                            <a:schemeClr val="bg1"/>
                          </a:solidFill>
                        </a:rPr>
                        <a:t>From \ To</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Shared svc</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Same env</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Other env</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Tenant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Dev / staging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443 allow</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443, 8080</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Prod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443 allow</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443, 8080</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Shared svc</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n/a</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n/a</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n/a</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443 callbacks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Tenant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443 allow</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n/a</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deny (other tenant)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On-prem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443 allow</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Internet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deny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ag-20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2 · ARCHITECTURE AND IP PLAN</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Test yourself</a:t>
            </a:r>
            <a:endParaRPr lang="en-US" sz="3200" dirty="0"/>
          </a:p>
        </p:txBody>
      </p:sp>
      <p:sp>
        <p:nvSpPr>
          <p:cNvPr id="4" name="qcard-208"/>
          <p:cNvSpPr/>
          <p:nvPr/>
        </p:nvSpPr>
        <p:spPr>
          <a:xfrm>
            <a:off x="548640" y="1600200"/>
            <a:ext cx="3515258" cy="2194560"/>
          </a:xfrm>
          <a:prstGeom prst="roundRect">
            <a:avLst>
              <a:gd name="adj" fmla="val 3333"/>
            </a:avLst>
          </a:prstGeom>
          <a:solidFill>
            <a:schemeClr val="bg1"/>
          </a:solidFill>
          <a:ln w="15875">
            <a:solidFill>
              <a:schemeClr val="accent1"/>
            </a:solidFill>
            <a:prstDash val="solid"/>
          </a:ln>
        </p:spPr>
      </p:sp>
      <p:sp>
        <p:nvSpPr>
          <p:cNvPr id="5" name="badge-209"/>
          <p:cNvSpPr/>
          <p:nvPr/>
        </p:nvSpPr>
        <p:spPr>
          <a:xfrm>
            <a:off x="731520" y="1783080"/>
            <a:ext cx="420624" cy="420624"/>
          </a:xfrm>
          <a:prstGeom prst="ellipse">
            <a:avLst/>
          </a:prstGeom>
          <a:solidFill>
            <a:schemeClr val="accent2"/>
          </a:solidFill>
          <a:ln w="12700">
            <a:solidFill>
              <a:schemeClr val="accent2"/>
            </a:solidFill>
            <a:prstDash val="solid"/>
          </a:ln>
        </p:spPr>
      </p:sp>
      <p:sp>
        <p:nvSpPr>
          <p:cNvPr id="6" name="badgetxt-210"/>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7" name="q-211"/>
          <p:cNvSpPr txBox="1"/>
          <p:nvPr/>
        </p:nvSpPr>
        <p:spPr>
          <a:xfrm>
            <a:off x="1280160"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When would you choose peering over Shared VPC?</a:t>
            </a:r>
            <a:endParaRPr lang="en-US" sz="1600" dirty="0"/>
          </a:p>
        </p:txBody>
      </p:sp>
      <p:sp>
        <p:nvSpPr>
          <p:cNvPr id="8" name="aback-212"/>
          <p:cNvSpPr/>
          <p:nvPr/>
        </p:nvSpPr>
        <p:spPr>
          <a:xfrm>
            <a:off x="685800" y="2651760"/>
            <a:ext cx="3240938" cy="1005840"/>
          </a:xfrm>
          <a:prstGeom prst="roundRect">
            <a:avLst>
              <a:gd name="adj" fmla="val 5455"/>
            </a:avLst>
          </a:prstGeom>
          <a:solidFill>
            <a:schemeClr val="bg2"/>
          </a:solidFill>
          <a:ln w="12700">
            <a:solidFill>
              <a:schemeClr val="bg2"/>
            </a:solidFill>
            <a:prstDash val="solid"/>
          </a:ln>
        </p:spPr>
      </p:sp>
      <p:sp>
        <p:nvSpPr>
          <p:cNvPr id="9" name="a-213"/>
          <p:cNvSpPr txBox="1"/>
          <p:nvPr/>
        </p:nvSpPr>
        <p:spPr>
          <a:xfrm>
            <a:off x="822960"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Separate trust or admin domains (tenants, partners, other orgs), or when projects aren't in one organization.</a:t>
            </a:r>
            <a:endParaRPr lang="en-US" sz="1500" dirty="0"/>
          </a:p>
        </p:txBody>
      </p:sp>
      <p:sp>
        <p:nvSpPr>
          <p:cNvPr id="10" name="qcard-214"/>
          <p:cNvSpPr/>
          <p:nvPr/>
        </p:nvSpPr>
        <p:spPr>
          <a:xfrm>
            <a:off x="4338218" y="1600200"/>
            <a:ext cx="3515258" cy="2194560"/>
          </a:xfrm>
          <a:prstGeom prst="roundRect">
            <a:avLst>
              <a:gd name="adj" fmla="val 3333"/>
            </a:avLst>
          </a:prstGeom>
          <a:solidFill>
            <a:schemeClr val="bg1"/>
          </a:solidFill>
          <a:ln w="15875">
            <a:solidFill>
              <a:schemeClr val="accent1"/>
            </a:solidFill>
            <a:prstDash val="solid"/>
          </a:ln>
        </p:spPr>
      </p:sp>
      <p:sp>
        <p:nvSpPr>
          <p:cNvPr id="11" name="badge-215"/>
          <p:cNvSpPr/>
          <p:nvPr/>
        </p:nvSpPr>
        <p:spPr>
          <a:xfrm>
            <a:off x="4521098" y="1783080"/>
            <a:ext cx="420624" cy="420624"/>
          </a:xfrm>
          <a:prstGeom prst="ellipse">
            <a:avLst/>
          </a:prstGeom>
          <a:solidFill>
            <a:schemeClr val="accent2"/>
          </a:solidFill>
          <a:ln w="12700">
            <a:solidFill>
              <a:schemeClr val="accent2"/>
            </a:solidFill>
            <a:prstDash val="solid"/>
          </a:ln>
        </p:spPr>
      </p:sp>
      <p:sp>
        <p:nvSpPr>
          <p:cNvPr id="12" name="badgetxt-216"/>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3" name="q-217"/>
          <p:cNvSpPr txBox="1"/>
          <p:nvPr/>
        </p:nvSpPr>
        <p:spPr>
          <a:xfrm>
            <a:off x="5069738"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 does 'non-transitive' mean for tenants?</a:t>
            </a:r>
            <a:endParaRPr lang="en-US" sz="1600" dirty="0"/>
          </a:p>
        </p:txBody>
      </p:sp>
      <p:sp>
        <p:nvSpPr>
          <p:cNvPr id="14" name="aback-218"/>
          <p:cNvSpPr/>
          <p:nvPr/>
        </p:nvSpPr>
        <p:spPr>
          <a:xfrm>
            <a:off x="4475378" y="2651760"/>
            <a:ext cx="3240938" cy="1005840"/>
          </a:xfrm>
          <a:prstGeom prst="roundRect">
            <a:avLst>
              <a:gd name="adj" fmla="val 5455"/>
            </a:avLst>
          </a:prstGeom>
          <a:solidFill>
            <a:schemeClr val="bg2"/>
          </a:solidFill>
          <a:ln w="12700">
            <a:solidFill>
              <a:schemeClr val="bg2"/>
            </a:solidFill>
            <a:prstDash val="solid"/>
          </a:ln>
        </p:spPr>
      </p:sp>
      <p:sp>
        <p:nvSpPr>
          <p:cNvPr id="15" name="a-219"/>
          <p:cNvSpPr txBox="1"/>
          <p:nvPr/>
        </p:nvSpPr>
        <p:spPr>
          <a:xfrm>
            <a:off x="4612538"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Fintech and healthcare both peer with the hub but get no route to each other.</a:t>
            </a:r>
            <a:endParaRPr lang="en-US" sz="1500" dirty="0"/>
          </a:p>
        </p:txBody>
      </p:sp>
      <p:sp>
        <p:nvSpPr>
          <p:cNvPr id="16" name="qcard-220"/>
          <p:cNvSpPr/>
          <p:nvPr/>
        </p:nvSpPr>
        <p:spPr>
          <a:xfrm>
            <a:off x="8127797" y="1600200"/>
            <a:ext cx="3515258" cy="2194560"/>
          </a:xfrm>
          <a:prstGeom prst="roundRect">
            <a:avLst>
              <a:gd name="adj" fmla="val 3333"/>
            </a:avLst>
          </a:prstGeom>
          <a:solidFill>
            <a:schemeClr val="bg1"/>
          </a:solidFill>
          <a:ln w="15875">
            <a:solidFill>
              <a:schemeClr val="accent1"/>
            </a:solidFill>
            <a:prstDash val="solid"/>
          </a:ln>
        </p:spPr>
      </p:sp>
      <p:sp>
        <p:nvSpPr>
          <p:cNvPr id="17" name="badge-221"/>
          <p:cNvSpPr/>
          <p:nvPr/>
        </p:nvSpPr>
        <p:spPr>
          <a:xfrm>
            <a:off x="8310677" y="1783080"/>
            <a:ext cx="420624" cy="420624"/>
          </a:xfrm>
          <a:prstGeom prst="ellipse">
            <a:avLst/>
          </a:prstGeom>
          <a:solidFill>
            <a:schemeClr val="accent2"/>
          </a:solidFill>
          <a:ln w="12700">
            <a:solidFill>
              <a:schemeClr val="accent2"/>
            </a:solidFill>
            <a:prstDash val="solid"/>
          </a:ln>
        </p:spPr>
      </p:sp>
      <p:sp>
        <p:nvSpPr>
          <p:cNvPr id="18" name="badgetxt-222"/>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9" name="q-223"/>
          <p:cNvSpPr txBox="1"/>
          <p:nvPr/>
        </p:nvSpPr>
        <p:spPr>
          <a:xfrm>
            <a:off x="8859317"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reserve a /16 per tenant if they only use a /20?</a:t>
            </a:r>
            <a:endParaRPr lang="en-US" sz="1600" dirty="0"/>
          </a:p>
        </p:txBody>
      </p:sp>
      <p:sp>
        <p:nvSpPr>
          <p:cNvPr id="20" name="aback-224"/>
          <p:cNvSpPr/>
          <p:nvPr/>
        </p:nvSpPr>
        <p:spPr>
          <a:xfrm>
            <a:off x="8264957" y="2651760"/>
            <a:ext cx="3240938" cy="1005840"/>
          </a:xfrm>
          <a:prstGeom prst="roundRect">
            <a:avLst>
              <a:gd name="adj" fmla="val 5455"/>
            </a:avLst>
          </a:prstGeom>
          <a:solidFill>
            <a:schemeClr val="bg2"/>
          </a:solidFill>
          <a:ln w="12700">
            <a:solidFill>
              <a:schemeClr val="bg2"/>
            </a:solidFill>
            <a:prstDash val="solid"/>
          </a:ln>
        </p:spPr>
      </p:sp>
      <p:sp>
        <p:nvSpPr>
          <p:cNvPr id="21" name="a-225"/>
          <p:cNvSpPr txBox="1"/>
          <p:nvPr/>
        </p:nvSpPr>
        <p:spPr>
          <a:xfrm>
            <a:off x="8402117"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Growth, DR regions and secondary ranges fit without renumbering, and one CIDR summarises the tenant in every rule.</a:t>
            </a:r>
            <a:endParaRPr lang="en-US" sz="1500" dirty="0"/>
          </a:p>
        </p:txBody>
      </p:sp>
      <p:sp>
        <p:nvSpPr>
          <p:cNvPr id="22" name="qcard-226"/>
          <p:cNvSpPr/>
          <p:nvPr/>
        </p:nvSpPr>
        <p:spPr>
          <a:xfrm>
            <a:off x="548640" y="4069080"/>
            <a:ext cx="3515258" cy="2194560"/>
          </a:xfrm>
          <a:prstGeom prst="roundRect">
            <a:avLst>
              <a:gd name="adj" fmla="val 3333"/>
            </a:avLst>
          </a:prstGeom>
          <a:solidFill>
            <a:schemeClr val="bg1"/>
          </a:solidFill>
          <a:ln w="15875">
            <a:solidFill>
              <a:schemeClr val="accent1"/>
            </a:solidFill>
            <a:prstDash val="solid"/>
          </a:ln>
        </p:spPr>
      </p:sp>
      <p:sp>
        <p:nvSpPr>
          <p:cNvPr id="23" name="badge-227"/>
          <p:cNvSpPr/>
          <p:nvPr/>
        </p:nvSpPr>
        <p:spPr>
          <a:xfrm>
            <a:off x="731520" y="4251960"/>
            <a:ext cx="420624" cy="420624"/>
          </a:xfrm>
          <a:prstGeom prst="ellipse">
            <a:avLst/>
          </a:prstGeom>
          <a:solidFill>
            <a:schemeClr val="accent2"/>
          </a:solidFill>
          <a:ln w="12700">
            <a:solidFill>
              <a:schemeClr val="accent2"/>
            </a:solidFill>
            <a:prstDash val="solid"/>
          </a:ln>
        </p:spPr>
      </p:sp>
      <p:sp>
        <p:nvSpPr>
          <p:cNvPr id="24" name="badgetxt-228"/>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25" name="q-229"/>
          <p:cNvSpPr txBox="1"/>
          <p:nvPr/>
        </p:nvSpPr>
        <p:spPr>
          <a:xfrm>
            <a:off x="1280160"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How many usable addresses in a /20 subnet on GCP?</a:t>
            </a:r>
            <a:endParaRPr lang="en-US" sz="1600" dirty="0"/>
          </a:p>
        </p:txBody>
      </p:sp>
      <p:sp>
        <p:nvSpPr>
          <p:cNvPr id="26" name="aback-230"/>
          <p:cNvSpPr/>
          <p:nvPr/>
        </p:nvSpPr>
        <p:spPr>
          <a:xfrm>
            <a:off x="685800" y="5120640"/>
            <a:ext cx="3240938" cy="1005840"/>
          </a:xfrm>
          <a:prstGeom prst="roundRect">
            <a:avLst>
              <a:gd name="adj" fmla="val 5455"/>
            </a:avLst>
          </a:prstGeom>
          <a:solidFill>
            <a:schemeClr val="bg2"/>
          </a:solidFill>
          <a:ln w="12700">
            <a:solidFill>
              <a:schemeClr val="bg2"/>
            </a:solidFill>
            <a:prstDash val="solid"/>
          </a:ln>
        </p:spPr>
      </p:sp>
      <p:sp>
        <p:nvSpPr>
          <p:cNvPr id="27" name="a-231"/>
          <p:cNvSpPr txBox="1"/>
          <p:nvPr/>
        </p:nvSpPr>
        <p:spPr>
          <a:xfrm>
            <a:off x="822960"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4,092: 4,096 minus 4 that Google reserves.</a:t>
            </a:r>
            <a:endParaRPr lang="en-US" sz="1500" dirty="0"/>
          </a:p>
        </p:txBody>
      </p:sp>
      <p:sp>
        <p:nvSpPr>
          <p:cNvPr id="28" name="qcard-232"/>
          <p:cNvSpPr/>
          <p:nvPr/>
        </p:nvSpPr>
        <p:spPr>
          <a:xfrm>
            <a:off x="4338218" y="4069080"/>
            <a:ext cx="3515258" cy="2194560"/>
          </a:xfrm>
          <a:prstGeom prst="roundRect">
            <a:avLst>
              <a:gd name="adj" fmla="val 3333"/>
            </a:avLst>
          </a:prstGeom>
          <a:solidFill>
            <a:schemeClr val="bg1"/>
          </a:solidFill>
          <a:ln w="15875">
            <a:solidFill>
              <a:schemeClr val="accent1"/>
            </a:solidFill>
            <a:prstDash val="solid"/>
          </a:ln>
        </p:spPr>
      </p:sp>
      <p:sp>
        <p:nvSpPr>
          <p:cNvPr id="29" name="badge-233"/>
          <p:cNvSpPr/>
          <p:nvPr/>
        </p:nvSpPr>
        <p:spPr>
          <a:xfrm>
            <a:off x="4521098" y="4251960"/>
            <a:ext cx="420624" cy="420624"/>
          </a:xfrm>
          <a:prstGeom prst="ellipse">
            <a:avLst/>
          </a:prstGeom>
          <a:solidFill>
            <a:schemeClr val="accent2"/>
          </a:solidFill>
          <a:ln w="12700">
            <a:solidFill>
              <a:schemeClr val="accent2"/>
            </a:solidFill>
            <a:prstDash val="solid"/>
          </a:ln>
        </p:spPr>
      </p:sp>
      <p:sp>
        <p:nvSpPr>
          <p:cNvPr id="30" name="badgetxt-234"/>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1" name="q-235"/>
          <p:cNvSpPr txBox="1"/>
          <p:nvPr/>
        </p:nvSpPr>
        <p:spPr>
          <a:xfrm>
            <a:off x="5069738"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give on-prem 192.168.0.0/20?</a:t>
            </a:r>
            <a:endParaRPr lang="en-US" sz="1600" dirty="0"/>
          </a:p>
        </p:txBody>
      </p:sp>
      <p:sp>
        <p:nvSpPr>
          <p:cNvPr id="32" name="aback-236"/>
          <p:cNvSpPr/>
          <p:nvPr/>
        </p:nvSpPr>
        <p:spPr>
          <a:xfrm>
            <a:off x="4475378" y="5120640"/>
            <a:ext cx="3240938" cy="1005840"/>
          </a:xfrm>
          <a:prstGeom prst="roundRect">
            <a:avLst>
              <a:gd name="adj" fmla="val 5455"/>
            </a:avLst>
          </a:prstGeom>
          <a:solidFill>
            <a:schemeClr val="bg2"/>
          </a:solidFill>
          <a:ln w="12700">
            <a:solidFill>
              <a:schemeClr val="bg2"/>
            </a:solidFill>
            <a:prstDash val="solid"/>
          </a:ln>
        </p:spPr>
      </p:sp>
      <p:sp>
        <p:nvSpPr>
          <p:cNvPr id="33" name="a-237"/>
          <p:cNvSpPr txBox="1"/>
          <p:nvPr/>
        </p:nvSpPr>
        <p:spPr>
          <a:xfrm>
            <a:off x="4612538"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So it can never overlap the 10.x cloud space, which would break VPN routing.</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num-238"/>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03</a:t>
            </a:r>
            <a:endParaRPr lang="en-US" sz="13000" dirty="0"/>
          </a:p>
        </p:txBody>
      </p:sp>
      <p:sp>
        <p:nvSpPr>
          <p:cNvPr id="3" name="sectag-239"/>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3</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Shared VPC</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Build the hub network in the host project, attach prod and nonprod service projects, delegate subnets per environment, replace default routing with explicit routes, and start Terraform with remote state.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ag-24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Shared VPC building blocks</a:t>
            </a:r>
            <a:endParaRPr lang="en-US" sz="3200" dirty="0"/>
          </a:p>
        </p:txBody>
      </p:sp>
      <p:sp>
        <p:nvSpPr>
          <p:cNvPr id="5" name="card-241"/>
          <p:cNvSpPr/>
          <p:nvPr/>
        </p:nvSpPr>
        <p:spPr>
          <a:xfrm>
            <a:off x="548640" y="1600200"/>
            <a:ext cx="3515258" cy="2194560"/>
          </a:xfrm>
          <a:prstGeom prst="roundRect">
            <a:avLst>
              <a:gd name="adj" fmla="val 3333"/>
            </a:avLst>
          </a:prstGeom>
          <a:solidFill>
            <a:schemeClr val="bg2"/>
          </a:solidFill>
          <a:ln w="12700">
            <a:solidFill>
              <a:schemeClr val="bg2"/>
            </a:solidFill>
            <a:prstDash val="solid"/>
          </a:ln>
        </p:spPr>
      </p:sp>
      <p:sp>
        <p:nvSpPr>
          <p:cNvPr id="6" name="badge-242"/>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243"/>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244"/>
          <p:cNvSpPr txBox="1"/>
          <p:nvPr/>
        </p:nvSpPr>
        <p:spPr>
          <a:xfrm>
            <a:off x="1280160"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Host project</a:t>
            </a:r>
            <a:endParaRPr lang="en-US" sz="1800" dirty="0"/>
          </a:p>
        </p:txBody>
      </p:sp>
      <p:sp>
        <p:nvSpPr>
          <p:cNvPr id="9" name="cardb-245"/>
          <p:cNvSpPr txBox="1"/>
          <p:nvPr/>
        </p:nvSpPr>
        <p:spPr>
          <a:xfrm>
            <a:off x="777240"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Owns the VPC, subnets, routes and firewall rules. Enabled with xpnAdmin (Shared VPC Admin) at org level.</a:t>
            </a:r>
            <a:endParaRPr lang="en-US" sz="1600" dirty="0"/>
          </a:p>
        </p:txBody>
      </p:sp>
      <p:sp>
        <p:nvSpPr>
          <p:cNvPr id="10" name="card-246"/>
          <p:cNvSpPr/>
          <p:nvPr/>
        </p:nvSpPr>
        <p:spPr>
          <a:xfrm>
            <a:off x="4338218" y="1600200"/>
            <a:ext cx="3515258" cy="2194560"/>
          </a:xfrm>
          <a:prstGeom prst="roundRect">
            <a:avLst>
              <a:gd name="adj" fmla="val 3333"/>
            </a:avLst>
          </a:prstGeom>
          <a:solidFill>
            <a:schemeClr val="bg2"/>
          </a:solidFill>
          <a:ln w="12700">
            <a:solidFill>
              <a:schemeClr val="bg2"/>
            </a:solidFill>
            <a:prstDash val="solid"/>
          </a:ln>
        </p:spPr>
      </p:sp>
      <p:sp>
        <p:nvSpPr>
          <p:cNvPr id="11" name="badge-247"/>
          <p:cNvSpPr/>
          <p:nvPr/>
        </p:nvSpPr>
        <p:spPr>
          <a:xfrm>
            <a:off x="4521098" y="1783080"/>
            <a:ext cx="420624" cy="420624"/>
          </a:xfrm>
          <a:prstGeom prst="ellipse">
            <a:avLst/>
          </a:prstGeom>
          <a:solidFill>
            <a:schemeClr val="accent1"/>
          </a:solidFill>
          <a:ln w="12700">
            <a:solidFill>
              <a:schemeClr val="accent1"/>
            </a:solidFill>
            <a:prstDash val="solid"/>
          </a:ln>
        </p:spPr>
      </p:sp>
      <p:sp>
        <p:nvSpPr>
          <p:cNvPr id="12" name="badgetxt-248"/>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249"/>
          <p:cNvSpPr txBox="1"/>
          <p:nvPr/>
        </p:nvSpPr>
        <p:spPr>
          <a:xfrm>
            <a:off x="5069738"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Service projects</a:t>
            </a:r>
            <a:endParaRPr lang="en-US" sz="1800" dirty="0"/>
          </a:p>
        </p:txBody>
      </p:sp>
      <p:sp>
        <p:nvSpPr>
          <p:cNvPr id="14" name="cardb-250"/>
          <p:cNvSpPr txBox="1"/>
          <p:nvPr/>
        </p:nvSpPr>
        <p:spPr>
          <a:xfrm>
            <a:off x="4566818"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Attached to the host. Their VMs use the host's subnets but are billed and administered in the service project.</a:t>
            </a:r>
            <a:endParaRPr lang="en-US" sz="1600" dirty="0"/>
          </a:p>
        </p:txBody>
      </p:sp>
      <p:sp>
        <p:nvSpPr>
          <p:cNvPr id="15" name="card-251"/>
          <p:cNvSpPr/>
          <p:nvPr/>
        </p:nvSpPr>
        <p:spPr>
          <a:xfrm>
            <a:off x="8127797" y="1600200"/>
            <a:ext cx="3515258" cy="2194560"/>
          </a:xfrm>
          <a:prstGeom prst="roundRect">
            <a:avLst>
              <a:gd name="adj" fmla="val 3333"/>
            </a:avLst>
          </a:prstGeom>
          <a:solidFill>
            <a:schemeClr val="bg2"/>
          </a:solidFill>
          <a:ln w="12700">
            <a:solidFill>
              <a:schemeClr val="bg2"/>
            </a:solidFill>
            <a:prstDash val="solid"/>
          </a:ln>
        </p:spPr>
      </p:sp>
      <p:sp>
        <p:nvSpPr>
          <p:cNvPr id="16" name="badge-252"/>
          <p:cNvSpPr/>
          <p:nvPr/>
        </p:nvSpPr>
        <p:spPr>
          <a:xfrm>
            <a:off x="8310677" y="1783080"/>
            <a:ext cx="420624" cy="420624"/>
          </a:xfrm>
          <a:prstGeom prst="ellipse">
            <a:avLst/>
          </a:prstGeom>
          <a:solidFill>
            <a:schemeClr val="accent1"/>
          </a:solidFill>
          <a:ln w="12700">
            <a:solidFill>
              <a:schemeClr val="accent1"/>
            </a:solidFill>
            <a:prstDash val="solid"/>
          </a:ln>
        </p:spPr>
      </p:sp>
      <p:sp>
        <p:nvSpPr>
          <p:cNvPr id="17" name="badgetxt-253"/>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254"/>
          <p:cNvSpPr txBox="1"/>
          <p:nvPr/>
        </p:nvSpPr>
        <p:spPr>
          <a:xfrm>
            <a:off x="8859317"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Subnet-level IAM</a:t>
            </a:r>
            <a:endParaRPr lang="en-US" sz="1800" dirty="0"/>
          </a:p>
        </p:txBody>
      </p:sp>
      <p:sp>
        <p:nvSpPr>
          <p:cNvPr id="19" name="cardb-255"/>
          <p:cNvSpPr txBox="1"/>
          <p:nvPr/>
        </p:nvSpPr>
        <p:spPr>
          <a:xfrm>
            <a:off x="8356397"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roles/compute.networkUser granted on individual subnets, not the whole project: prod can use only prod subnets.</a:t>
            </a:r>
            <a:endParaRPr lang="en-US" sz="1600" dirty="0"/>
          </a:p>
        </p:txBody>
      </p:sp>
      <p:sp>
        <p:nvSpPr>
          <p:cNvPr id="20" name="card-256"/>
          <p:cNvSpPr/>
          <p:nvPr/>
        </p:nvSpPr>
        <p:spPr>
          <a:xfrm>
            <a:off x="548640" y="4069080"/>
            <a:ext cx="3515258" cy="2194560"/>
          </a:xfrm>
          <a:prstGeom prst="roundRect">
            <a:avLst>
              <a:gd name="adj" fmla="val 3333"/>
            </a:avLst>
          </a:prstGeom>
          <a:solidFill>
            <a:schemeClr val="bg2"/>
          </a:solidFill>
          <a:ln w="12700">
            <a:solidFill>
              <a:schemeClr val="bg2"/>
            </a:solidFill>
            <a:prstDash val="solid"/>
          </a:ln>
        </p:spPr>
      </p:sp>
      <p:sp>
        <p:nvSpPr>
          <p:cNvPr id="21" name="badge-257"/>
          <p:cNvSpPr/>
          <p:nvPr/>
        </p:nvSpPr>
        <p:spPr>
          <a:xfrm>
            <a:off x="731520" y="4251960"/>
            <a:ext cx="420624" cy="420624"/>
          </a:xfrm>
          <a:prstGeom prst="ellipse">
            <a:avLst/>
          </a:prstGeom>
          <a:solidFill>
            <a:schemeClr val="accent1"/>
          </a:solidFill>
          <a:ln w="12700">
            <a:solidFill>
              <a:schemeClr val="accent1"/>
            </a:solidFill>
            <a:prstDash val="solid"/>
          </a:ln>
        </p:spPr>
      </p:sp>
      <p:sp>
        <p:nvSpPr>
          <p:cNvPr id="22" name="badgetxt-258"/>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259"/>
          <p:cNvSpPr txBox="1"/>
          <p:nvPr/>
        </p:nvSpPr>
        <p:spPr>
          <a:xfrm>
            <a:off x="1280160"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Custom-mode VPC</a:t>
            </a:r>
            <a:endParaRPr lang="en-US" sz="1800" dirty="0"/>
          </a:p>
        </p:txBody>
      </p:sp>
      <p:sp>
        <p:nvSpPr>
          <p:cNvPr id="24" name="cardb-260"/>
          <p:cNvSpPr txBox="1"/>
          <p:nvPr/>
        </p:nvSpPr>
        <p:spPr>
          <a:xfrm>
            <a:off x="777240"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auto_create_subnetworks = false. You choose every range; auto mode creates a subnet per region you didn't plan.</a:t>
            </a:r>
            <a:endParaRPr lang="en-US" sz="1600" dirty="0"/>
          </a:p>
        </p:txBody>
      </p:sp>
      <p:sp>
        <p:nvSpPr>
          <p:cNvPr id="25" name="card-261"/>
          <p:cNvSpPr/>
          <p:nvPr/>
        </p:nvSpPr>
        <p:spPr>
          <a:xfrm>
            <a:off x="4338218" y="4069080"/>
            <a:ext cx="3515258" cy="2194560"/>
          </a:xfrm>
          <a:prstGeom prst="roundRect">
            <a:avLst>
              <a:gd name="adj" fmla="val 3333"/>
            </a:avLst>
          </a:prstGeom>
          <a:solidFill>
            <a:schemeClr val="bg2"/>
          </a:solidFill>
          <a:ln w="12700">
            <a:solidFill>
              <a:schemeClr val="bg2"/>
            </a:solidFill>
            <a:prstDash val="solid"/>
          </a:ln>
        </p:spPr>
      </p:sp>
      <p:sp>
        <p:nvSpPr>
          <p:cNvPr id="26" name="badge-262"/>
          <p:cNvSpPr/>
          <p:nvPr/>
        </p:nvSpPr>
        <p:spPr>
          <a:xfrm>
            <a:off x="4521098" y="4251960"/>
            <a:ext cx="420624" cy="420624"/>
          </a:xfrm>
          <a:prstGeom prst="ellipse">
            <a:avLst/>
          </a:prstGeom>
          <a:solidFill>
            <a:schemeClr val="accent1"/>
          </a:solidFill>
          <a:ln w="12700">
            <a:solidFill>
              <a:schemeClr val="accent1"/>
            </a:solidFill>
            <a:prstDash val="solid"/>
          </a:ln>
        </p:spPr>
      </p:sp>
      <p:sp>
        <p:nvSpPr>
          <p:cNvPr id="27" name="badgetxt-263"/>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cardh-264"/>
          <p:cNvSpPr txBox="1"/>
          <p:nvPr/>
        </p:nvSpPr>
        <p:spPr>
          <a:xfrm>
            <a:off x="5069738"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Global routing mode</a:t>
            </a:r>
            <a:endParaRPr lang="en-US" sz="1800" dirty="0"/>
          </a:p>
        </p:txBody>
      </p:sp>
      <p:sp>
        <p:nvSpPr>
          <p:cNvPr id="29" name="cardb-265"/>
          <p:cNvSpPr txBox="1"/>
          <p:nvPr/>
        </p:nvSpPr>
        <p:spPr>
          <a:xfrm>
            <a:off x="4566818"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Cloud Routers learn and advertise routes for all regions, so us-east1 prod can use routes learned in us-central1.</a:t>
            </a:r>
            <a:endParaRPr lang="en-US" sz="1600" dirty="0"/>
          </a:p>
        </p:txBody>
      </p:sp>
      <p:sp>
        <p:nvSpPr>
          <p:cNvPr id="30" name="card-266"/>
          <p:cNvSpPr/>
          <p:nvPr/>
        </p:nvSpPr>
        <p:spPr>
          <a:xfrm>
            <a:off x="8127797" y="4069080"/>
            <a:ext cx="3515258" cy="2194560"/>
          </a:xfrm>
          <a:prstGeom prst="roundRect">
            <a:avLst>
              <a:gd name="adj" fmla="val 3333"/>
            </a:avLst>
          </a:prstGeom>
          <a:solidFill>
            <a:schemeClr val="bg2"/>
          </a:solidFill>
          <a:ln w="12700">
            <a:solidFill>
              <a:schemeClr val="bg2"/>
            </a:solidFill>
            <a:prstDash val="solid"/>
          </a:ln>
        </p:spPr>
      </p:sp>
      <p:sp>
        <p:nvSpPr>
          <p:cNvPr id="31" name="badge-267"/>
          <p:cNvSpPr/>
          <p:nvPr/>
        </p:nvSpPr>
        <p:spPr>
          <a:xfrm>
            <a:off x="8310677" y="4251960"/>
            <a:ext cx="420624" cy="420624"/>
          </a:xfrm>
          <a:prstGeom prst="ellipse">
            <a:avLst/>
          </a:prstGeom>
          <a:solidFill>
            <a:schemeClr val="accent1"/>
          </a:solidFill>
          <a:ln w="12700">
            <a:solidFill>
              <a:schemeClr val="accent1"/>
            </a:solidFill>
            <a:prstDash val="solid"/>
          </a:ln>
        </p:spPr>
      </p:sp>
      <p:sp>
        <p:nvSpPr>
          <p:cNvPr id="32" name="badgetxt-268"/>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cardh-269"/>
          <p:cNvSpPr txBox="1"/>
          <p:nvPr/>
        </p:nvSpPr>
        <p:spPr>
          <a:xfrm>
            <a:off x="8859317"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Who uses the subnet</a:t>
            </a:r>
            <a:endParaRPr lang="en-US" sz="1800" dirty="0"/>
          </a:p>
        </p:txBody>
      </p:sp>
      <p:sp>
        <p:nvSpPr>
          <p:cNvPr id="34" name="cardb-270"/>
          <p:cNvSpPr txBox="1"/>
          <p:nvPr/>
        </p:nvSpPr>
        <p:spPr>
          <a:xfrm>
            <a:off x="8356397"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Grant networkUser to the service project's Google APIs agent and default compute SA, the identities that create VMs.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ag-271"/>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Routing: explicit by design</a:t>
            </a:r>
            <a:endParaRPr lang="en-US" sz="3200" dirty="0"/>
          </a:p>
        </p:txBody>
      </p:sp>
      <p:sp>
        <p:nvSpPr>
          <p:cNvPr id="5" name="lh-272"/>
          <p:cNvSpPr txBox="1"/>
          <p:nvPr/>
        </p:nvSpPr>
        <p:spPr>
          <a:xfrm>
            <a:off x="548640" y="1600200"/>
            <a:ext cx="6400800" cy="365760"/>
          </a:xfrm>
          <a:prstGeom prst="rect">
            <a:avLst/>
          </a:prstGeom>
          <a:noFill/>
          <a:ln/>
        </p:spPr>
        <p:txBody>
          <a:bodyPr wrap="square" lIns="0" tIns="0" rIns="0" bIns="0" rtlCol="0" anchor="ctr"/>
          <a:lstStyle/>
          <a:p>
            <a:pPr indent="0" marL="0">
              <a:buNone/>
            </a:pPr>
            <a:r>
              <a:rPr lang="en-US" sz="1800" b="1" dirty="0">
                <a:solidFill>
                  <a:schemeClr val="accent3"/>
                </a:solidFill>
              </a:rPr>
              <a:t>How GCP chooses a route</a:t>
            </a:r>
            <a:endParaRPr lang="en-US" sz="1800" dirty="0"/>
          </a:p>
        </p:txBody>
      </p:sp>
      <p:sp>
        <p:nvSpPr>
          <p:cNvPr id="6" name="left-273"/>
          <p:cNvSpPr txBox="1"/>
          <p:nvPr/>
        </p:nvSpPr>
        <p:spPr>
          <a:xfrm>
            <a:off x="548640" y="2057400"/>
            <a:ext cx="6400800" cy="420624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1"/>
                </a:solidFill>
              </a:rPr>
              <a:t>Most specific prefix wins:</a:t>
            </a:r>
            <a:pPr indent="0" marL="0">
              <a:spcAft>
                <a:spcPts val="600"/>
              </a:spcAft>
              <a:buNone/>
            </a:pPr>
            <a:r>
              <a:rPr lang="en-US" sz="1700" dirty="0">
                <a:solidFill>
                  <a:schemeClr val="tx1"/>
                </a:solidFill>
              </a:rPr>
              <a:t> a /30 beats a /0 regardless of priority.</a:t>
            </a:r>
            <a:endParaRPr lang="en-US" sz="1700" dirty="0"/>
          </a:p>
          <a:p>
            <a:pPr marL="342900" indent="-342900">
              <a:spcAft>
                <a:spcPts val="600"/>
              </a:spcAft>
              <a:buSzPct val="100000"/>
              <a:buChar char="•"/>
            </a:pPr>
            <a:r>
              <a:rPr lang="en-US" sz="1700" b="1" dirty="0">
                <a:solidFill>
                  <a:schemeClr val="tx1"/>
                </a:solidFill>
              </a:rPr>
              <a:t>Then priority:</a:t>
            </a:r>
            <a:pPr indent="0" marL="0">
              <a:spcAft>
                <a:spcPts val="600"/>
              </a:spcAft>
              <a:buNone/>
            </a:pPr>
            <a:r>
              <a:rPr lang="en-US" sz="1700" dirty="0">
                <a:solidFill>
                  <a:schemeClr val="tx1"/>
                </a:solidFill>
              </a:rPr>
              <a:t> lower number wins (0–65535, default 1000).</a:t>
            </a:r>
            <a:endParaRPr lang="en-US" sz="1700" dirty="0"/>
          </a:p>
          <a:p>
            <a:pPr marL="342900" indent="-342900">
              <a:spcAft>
                <a:spcPts val="600"/>
              </a:spcAft>
              <a:buSzPct val="100000"/>
              <a:buChar char="•"/>
            </a:pPr>
            <a:r>
              <a:rPr lang="en-US" sz="1700" b="1" dirty="0">
                <a:solidFill>
                  <a:schemeClr val="tx1"/>
                </a:solidFill>
              </a:rPr>
              <a:t>Subnet routes:</a:t>
            </a:r>
            <a:pPr indent="0" marL="0">
              <a:spcAft>
                <a:spcPts val="600"/>
              </a:spcAft>
              <a:buNone/>
            </a:pPr>
            <a:r>
              <a:rPr lang="en-US" sz="1700" dirty="0">
                <a:solidFill>
                  <a:schemeClr val="tx1"/>
                </a:solidFill>
              </a:rPr>
              <a:t> created automatically, can't be deleted, always most specific.</a:t>
            </a:r>
            <a:endParaRPr lang="en-US" sz="1700" dirty="0"/>
          </a:p>
          <a:p>
            <a:pPr marL="342900" indent="-342900">
              <a:spcAft>
                <a:spcPts val="600"/>
              </a:spcAft>
              <a:buSzPct val="100000"/>
              <a:buChar char="•"/>
            </a:pPr>
            <a:r>
              <a:rPr lang="en-US" sz="1700" b="1" dirty="0">
                <a:solidFill>
                  <a:schemeClr val="tx1"/>
                </a:solidFill>
              </a:rPr>
              <a:t>Default route:</a:t>
            </a:r>
            <a:pPr indent="0" marL="0">
              <a:spcAft>
                <a:spcPts val="600"/>
              </a:spcAft>
              <a:buNone/>
            </a:pPr>
            <a:r>
              <a:rPr lang="en-US" sz="1700" dirty="0">
                <a:solidFill>
                  <a:schemeClr val="tx1"/>
                </a:solidFill>
              </a:rPr>
              <a:t> 0.0.0.0/0 to default-internet-gateway is auto-created; we delete it on create and add our own.</a:t>
            </a:r>
            <a:endParaRPr lang="en-US" sz="1700" dirty="0"/>
          </a:p>
          <a:p>
            <a:pPr marL="342900" indent="-342900">
              <a:spcAft>
                <a:spcPts val="600"/>
              </a:spcAft>
              <a:buSzPct val="100000"/>
              <a:buChar char="•"/>
            </a:pPr>
            <a:r>
              <a:rPr lang="en-US" sz="1700" b="1" dirty="0">
                <a:solidFill>
                  <a:schemeClr val="tx1"/>
                </a:solidFill>
              </a:rPr>
              <a:t>Internet route ≠ internet access:</a:t>
            </a:r>
            <a:pPr indent="0" marL="0">
              <a:spcAft>
                <a:spcPts val="600"/>
              </a:spcAft>
              <a:buNone/>
            </a:pPr>
            <a:r>
              <a:rPr lang="en-US" sz="1700" dirty="0">
                <a:solidFill>
                  <a:schemeClr val="tx1"/>
                </a:solidFill>
              </a:rPr>
              <a:t> a VM also needs an external IP or Cloud NAT, and an egress firewall allow.</a:t>
            </a:r>
            <a:endParaRPr lang="en-US" sz="1700" dirty="0"/>
          </a:p>
        </p:txBody>
      </p:sp>
      <p:sp>
        <p:nvSpPr>
          <p:cNvPr id="7" name="panel-274"/>
          <p:cNvSpPr/>
          <p:nvPr/>
        </p:nvSpPr>
        <p:spPr>
          <a:xfrm>
            <a:off x="7315200" y="1600200"/>
            <a:ext cx="4327855" cy="4663440"/>
          </a:xfrm>
          <a:prstGeom prst="roundRect">
            <a:avLst>
              <a:gd name="adj" fmla="val 1690"/>
            </a:avLst>
          </a:prstGeom>
          <a:solidFill>
            <a:schemeClr val="tx2"/>
          </a:solidFill>
          <a:ln w="12700">
            <a:solidFill>
              <a:schemeClr val="tx2"/>
            </a:solidFill>
            <a:prstDash val="solid"/>
          </a:ln>
        </p:spPr>
      </p:sp>
      <p:sp>
        <p:nvSpPr>
          <p:cNvPr id="8" name="rh-275"/>
          <p:cNvSpPr txBox="1"/>
          <p:nvPr/>
        </p:nvSpPr>
        <p:spPr>
          <a:xfrm>
            <a:off x="7589520" y="1828800"/>
            <a:ext cx="3779215" cy="411480"/>
          </a:xfrm>
          <a:prstGeom prst="rect">
            <a:avLst/>
          </a:prstGeom>
          <a:noFill/>
          <a:ln/>
        </p:spPr>
        <p:txBody>
          <a:bodyPr wrap="square" lIns="0" tIns="0" rIns="0" bIns="0" rtlCol="0" anchor="ctr"/>
          <a:lstStyle/>
          <a:p>
            <a:pPr indent="0" marL="0">
              <a:buNone/>
            </a:pPr>
            <a:r>
              <a:rPr lang="en-US" sz="1800" b="1" dirty="0">
                <a:solidFill>
                  <a:schemeClr val="accent2"/>
                </a:solidFill>
              </a:rPr>
              <a:t>In this build</a:t>
            </a:r>
            <a:endParaRPr lang="en-US" sz="1800" dirty="0"/>
          </a:p>
        </p:txBody>
      </p:sp>
      <p:sp>
        <p:nvSpPr>
          <p:cNvPr id="9" name="right-276"/>
          <p:cNvSpPr txBox="1"/>
          <p:nvPr/>
        </p:nvSpPr>
        <p:spPr>
          <a:xfrm>
            <a:off x="7589520" y="2377440"/>
            <a:ext cx="3779215" cy="3703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delete_default_routes_on_create = true</a:t>
            </a:r>
            <a:endParaRPr lang="en-US" sz="1600" dirty="0"/>
          </a:p>
          <a:p>
            <a:pPr marL="342900" indent="-342900">
              <a:spcAft>
                <a:spcPts val="600"/>
              </a:spcAft>
              <a:buSzPct val="100000"/>
              <a:buChar char="•"/>
            </a:pPr>
            <a:r>
              <a:rPr lang="en-US" sz="1600" dirty="0">
                <a:solidFill>
                  <a:schemeClr val="bg1"/>
                </a:solidFill>
              </a:rPr>
              <a:t>private-google-apis: 199.36.153.8/30, priority 900</a:t>
            </a:r>
            <a:endParaRPr lang="en-US" sz="1600" dirty="0"/>
          </a:p>
          <a:p>
            <a:pPr marL="342900" indent="-342900">
              <a:spcAft>
                <a:spcPts val="600"/>
              </a:spcAft>
              <a:buSzPct val="100000"/>
              <a:buChar char="•"/>
            </a:pPr>
            <a:r>
              <a:rPr lang="en-US" sz="1600" dirty="0">
                <a:solidFill>
                  <a:schemeClr val="bg1"/>
                </a:solidFill>
              </a:rPr>
              <a:t>default-internet-egress: 0.0.0.0/0, priority 1000 (used by NAT)</a:t>
            </a:r>
            <a:endParaRPr lang="en-US" sz="1600" dirty="0"/>
          </a:p>
          <a:p>
            <a:pPr marL="342900" indent="-342900">
              <a:spcAft>
                <a:spcPts val="600"/>
              </a:spcAft>
              <a:buSzPct val="100000"/>
              <a:buChar char="•"/>
            </a:pPr>
            <a:r>
              <a:rPr lang="en-US" sz="1600" dirty="0">
                <a:solidFill>
                  <a:schemeClr val="bg1"/>
                </a:solidFill>
              </a:rPr>
              <a:t>Every route is in Terraform, so a hand-added route is drift</a:t>
            </a:r>
            <a:endParaRPr lang="en-US" sz="1600" dirty="0"/>
          </a:p>
          <a:p>
            <a:pPr marL="342900" indent="-342900">
              <a:spcAft>
                <a:spcPts val="600"/>
              </a:spcAft>
              <a:buSzPct val="100000"/>
              <a:buChar char="•"/>
            </a:pPr>
            <a:r>
              <a:rPr lang="en-US" sz="1600" dirty="0">
                <a:solidFill>
                  <a:schemeClr val="bg1"/>
                </a:solidFill>
              </a:rPr>
              <a:t>Private Google Access on all subnets: VMs without public IPs reach Google APIs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ag-27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Flow logs and Cloud Router basics</a:t>
            </a:r>
            <a:endParaRPr lang="en-US" sz="3200" dirty="0"/>
          </a:p>
        </p:txBody>
      </p:sp>
      <p:sp>
        <p:nvSpPr>
          <p:cNvPr id="5" name="card-278"/>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6" name="badge-279"/>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280"/>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281"/>
          <p:cNvSpPr txBox="1"/>
          <p:nvPr/>
        </p:nvSpPr>
        <p:spPr>
          <a:xfrm>
            <a:off x="1280160"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VPC Flow Logs</a:t>
            </a:r>
            <a:endParaRPr lang="en-US" sz="1800" dirty="0"/>
          </a:p>
        </p:txBody>
      </p:sp>
      <p:sp>
        <p:nvSpPr>
          <p:cNvPr id="9" name="cardb-282"/>
          <p:cNvSpPr txBox="1"/>
          <p:nvPr/>
        </p:nvSpPr>
        <p:spPr>
          <a:xfrm>
            <a:off x="777240"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Sampled records of TCP/UDP connections (5-tuple, bytes, packets, VM and subnet metadata), enabled per subnet. No impact on performance.</a:t>
            </a:r>
            <a:endParaRPr lang="en-US" sz="1700" dirty="0"/>
          </a:p>
        </p:txBody>
      </p:sp>
      <p:sp>
        <p:nvSpPr>
          <p:cNvPr id="10" name="card-283"/>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1" name="badge-284"/>
          <p:cNvSpPr/>
          <p:nvPr/>
        </p:nvSpPr>
        <p:spPr>
          <a:xfrm>
            <a:off x="6415888" y="1783080"/>
            <a:ext cx="420624" cy="420624"/>
          </a:xfrm>
          <a:prstGeom prst="ellipse">
            <a:avLst/>
          </a:prstGeom>
          <a:solidFill>
            <a:schemeClr val="accent1"/>
          </a:solidFill>
          <a:ln w="12700">
            <a:solidFill>
              <a:schemeClr val="accent1"/>
            </a:solidFill>
            <a:prstDash val="solid"/>
          </a:ln>
        </p:spPr>
      </p:sp>
      <p:sp>
        <p:nvSpPr>
          <p:cNvPr id="12" name="badgetxt-285"/>
          <p:cNvSpPr txBox="1"/>
          <p:nvPr/>
        </p:nvSpPr>
        <p:spPr>
          <a:xfrm>
            <a:off x="641588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286"/>
          <p:cNvSpPr txBox="1"/>
          <p:nvPr/>
        </p:nvSpPr>
        <p:spPr>
          <a:xfrm>
            <a:off x="6964528"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Flow log settings</a:t>
            </a:r>
            <a:endParaRPr lang="en-US" sz="1800" dirty="0"/>
          </a:p>
        </p:txBody>
      </p:sp>
      <p:sp>
        <p:nvSpPr>
          <p:cNvPr id="14" name="cardb-287"/>
          <p:cNvSpPr txBox="1"/>
          <p:nvPr/>
        </p:nvSpPr>
        <p:spPr>
          <a:xfrm>
            <a:off x="6461608"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Aggregation interval (5s–15min), sampling (0–1), metadata (all, none, custom), optional CEL filter. Phase 7 tunes these per risk.</a:t>
            </a:r>
            <a:endParaRPr lang="en-US" sz="1700" dirty="0"/>
          </a:p>
        </p:txBody>
      </p:sp>
      <p:sp>
        <p:nvSpPr>
          <p:cNvPr id="15" name="card-288"/>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6" name="badge-289"/>
          <p:cNvSpPr/>
          <p:nvPr/>
        </p:nvSpPr>
        <p:spPr>
          <a:xfrm>
            <a:off x="731520" y="4251960"/>
            <a:ext cx="420624" cy="420624"/>
          </a:xfrm>
          <a:prstGeom prst="ellipse">
            <a:avLst/>
          </a:prstGeom>
          <a:solidFill>
            <a:schemeClr val="accent1"/>
          </a:solidFill>
          <a:ln w="12700">
            <a:solidFill>
              <a:schemeClr val="accent1"/>
            </a:solidFill>
            <a:prstDash val="solid"/>
          </a:ln>
        </p:spPr>
      </p:sp>
      <p:sp>
        <p:nvSpPr>
          <p:cNvPr id="17" name="badgetxt-290"/>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291"/>
          <p:cNvSpPr txBox="1"/>
          <p:nvPr/>
        </p:nvSpPr>
        <p:spPr>
          <a:xfrm>
            <a:off x="1280160"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Cloud Router</a:t>
            </a:r>
            <a:endParaRPr lang="en-US" sz="1800" dirty="0"/>
          </a:p>
        </p:txBody>
      </p:sp>
      <p:sp>
        <p:nvSpPr>
          <p:cNvPr id="19" name="cardb-292"/>
          <p:cNvSpPr txBox="1"/>
          <p:nvPr/>
        </p:nvSpPr>
        <p:spPr>
          <a:xfrm>
            <a:off x="777240"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A managed BGP speaker per region. Exchanges routes with on-prem over VPN or Interconnect; required by Cloud NAT.</a:t>
            </a:r>
            <a:endParaRPr lang="en-US" sz="1700" dirty="0"/>
          </a:p>
        </p:txBody>
      </p:sp>
      <p:sp>
        <p:nvSpPr>
          <p:cNvPr id="20" name="card-293"/>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1" name="badge-294"/>
          <p:cNvSpPr/>
          <p:nvPr/>
        </p:nvSpPr>
        <p:spPr>
          <a:xfrm>
            <a:off x="6415888" y="4251960"/>
            <a:ext cx="420624" cy="420624"/>
          </a:xfrm>
          <a:prstGeom prst="ellipse">
            <a:avLst/>
          </a:prstGeom>
          <a:solidFill>
            <a:schemeClr val="accent1"/>
          </a:solidFill>
          <a:ln w="12700">
            <a:solidFill>
              <a:schemeClr val="accent1"/>
            </a:solidFill>
            <a:prstDash val="solid"/>
          </a:ln>
        </p:spPr>
      </p:sp>
      <p:sp>
        <p:nvSpPr>
          <p:cNvPr id="22" name="badgetxt-295"/>
          <p:cNvSpPr txBox="1"/>
          <p:nvPr/>
        </p:nvSpPr>
        <p:spPr>
          <a:xfrm>
            <a:off x="641588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296"/>
          <p:cNvSpPr txBox="1"/>
          <p:nvPr/>
        </p:nvSpPr>
        <p:spPr>
          <a:xfrm>
            <a:off x="6964528"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Custom advertisement</a:t>
            </a:r>
            <a:endParaRPr lang="en-US" sz="1800" dirty="0"/>
          </a:p>
        </p:txBody>
      </p:sp>
      <p:sp>
        <p:nvSpPr>
          <p:cNvPr id="24" name="cardb-297"/>
          <p:cNvSpPr txBox="1"/>
          <p:nvPr/>
        </p:nvSpPr>
        <p:spPr>
          <a:xfrm>
            <a:off x="6461608"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Advertise only chosen ranges (10.0.0.0/20 shared-svc), not every subnet, so on-prem never learns prod or dev.</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ag-29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Terraform foundations used from Phase 3</a:t>
            </a:r>
            <a:endParaRPr lang="en-US" sz="3200" dirty="0"/>
          </a:p>
        </p:txBody>
      </p:sp>
      <p:sp>
        <p:nvSpPr>
          <p:cNvPr id="5" name="step-299"/>
          <p:cNvSpPr/>
          <p:nvPr/>
        </p:nvSpPr>
        <p:spPr>
          <a:xfrm>
            <a:off x="548640" y="1920240"/>
            <a:ext cx="2464994" cy="2651760"/>
          </a:xfrm>
          <a:prstGeom prst="roundRect">
            <a:avLst>
              <a:gd name="adj" fmla="val 2968"/>
            </a:avLst>
          </a:prstGeom>
          <a:solidFill>
            <a:schemeClr val="bg2"/>
          </a:solidFill>
          <a:ln w="15875">
            <a:solidFill>
              <a:schemeClr val="accent1"/>
            </a:solidFill>
            <a:prstDash val="solid"/>
          </a:ln>
        </p:spPr>
      </p:sp>
      <p:sp>
        <p:nvSpPr>
          <p:cNvPr id="6" name="badge-300"/>
          <p:cNvSpPr/>
          <p:nvPr/>
        </p:nvSpPr>
        <p:spPr>
          <a:xfrm>
            <a:off x="1570825" y="1709928"/>
            <a:ext cx="420624" cy="420624"/>
          </a:xfrm>
          <a:prstGeom prst="ellipse">
            <a:avLst/>
          </a:prstGeom>
          <a:solidFill>
            <a:schemeClr val="accent1"/>
          </a:solidFill>
          <a:ln w="12700">
            <a:solidFill>
              <a:schemeClr val="accent1"/>
            </a:solidFill>
            <a:prstDash val="solid"/>
          </a:ln>
        </p:spPr>
      </p:sp>
      <p:sp>
        <p:nvSpPr>
          <p:cNvPr id="7" name="badgetxt-301"/>
          <p:cNvSpPr txBox="1"/>
          <p:nvPr/>
        </p:nvSpPr>
        <p:spPr>
          <a:xfrm>
            <a:off x="1570825"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steph-302"/>
          <p:cNvSpPr txBox="1"/>
          <p:nvPr/>
        </p:nvSpPr>
        <p:spPr>
          <a:xfrm>
            <a:off x="658368" y="2240280"/>
            <a:ext cx="2245538" cy="640080"/>
          </a:xfrm>
          <a:prstGeom prst="rect">
            <a:avLst/>
          </a:prstGeom>
          <a:noFill/>
          <a:ln/>
        </p:spPr>
        <p:txBody>
          <a:bodyPr wrap="square" lIns="0" tIns="0" rIns="0" bIns="0" rtlCol="0" anchor="ctr"/>
          <a:lstStyle/>
          <a:p>
            <a:pPr algn="ctr" indent="0" marL="0">
              <a:buNone/>
            </a:pPr>
            <a:r>
              <a:rPr lang="en-US" sz="1700" b="1" dirty="0">
                <a:solidFill>
                  <a:schemeClr val="tx2"/>
                </a:solidFill>
              </a:rPr>
              <a:t>Remote state</a:t>
            </a:r>
            <a:endParaRPr lang="en-US" sz="1700" dirty="0"/>
          </a:p>
        </p:txBody>
      </p:sp>
      <p:sp>
        <p:nvSpPr>
          <p:cNvPr id="9" name="stepb-303"/>
          <p:cNvSpPr txBox="1"/>
          <p:nvPr/>
        </p:nvSpPr>
        <p:spPr>
          <a:xfrm>
            <a:off x="685800" y="2926080"/>
            <a:ext cx="2190674" cy="1554480"/>
          </a:xfrm>
          <a:prstGeom prst="rect">
            <a:avLst/>
          </a:prstGeom>
          <a:noFill/>
          <a:ln/>
        </p:spPr>
        <p:txBody>
          <a:bodyPr wrap="square" lIns="0" tIns="0" rIns="0" bIns="0" rtlCol="0" anchor="t"/>
          <a:lstStyle/>
          <a:p>
            <a:pPr algn="l" indent="0" marL="0">
              <a:buNone/>
            </a:pPr>
            <a:r>
              <a:rPr lang="en-US" sz="1600" dirty="0">
                <a:solidFill>
                  <a:schemeClr val="tx1"/>
                </a:solidFill>
              </a:rPr>
              <a:t>State in a GCS bucket (versioned) with locking, so a team shares one truth and can roll back.</a:t>
            </a:r>
            <a:endParaRPr lang="en-US" sz="1600" dirty="0"/>
          </a:p>
        </p:txBody>
      </p:sp>
      <p:sp>
        <p:nvSpPr>
          <p:cNvPr id="10" name="arrow-304"/>
          <p:cNvSpPr/>
          <p:nvPr/>
        </p:nvSpPr>
        <p:spPr>
          <a:xfrm>
            <a:off x="3077642" y="3108960"/>
            <a:ext cx="283464" cy="274320"/>
          </a:xfrm>
          <a:prstGeom prst="rightArrow">
            <a:avLst/>
          </a:prstGeom>
          <a:solidFill>
            <a:schemeClr val="accent2"/>
          </a:solidFill>
          <a:ln w="12700">
            <a:solidFill>
              <a:schemeClr val="accent2"/>
            </a:solidFill>
            <a:prstDash val="solid"/>
          </a:ln>
        </p:spPr>
      </p:sp>
      <p:sp>
        <p:nvSpPr>
          <p:cNvPr id="11" name="step-305"/>
          <p:cNvSpPr/>
          <p:nvPr/>
        </p:nvSpPr>
        <p:spPr>
          <a:xfrm>
            <a:off x="3425114" y="1920240"/>
            <a:ext cx="2464994" cy="2651760"/>
          </a:xfrm>
          <a:prstGeom prst="roundRect">
            <a:avLst>
              <a:gd name="adj" fmla="val 2968"/>
            </a:avLst>
          </a:prstGeom>
          <a:solidFill>
            <a:schemeClr val="tx2"/>
          </a:solidFill>
          <a:ln w="15875">
            <a:solidFill>
              <a:schemeClr val="accent1"/>
            </a:solidFill>
            <a:prstDash val="solid"/>
          </a:ln>
        </p:spPr>
      </p:sp>
      <p:sp>
        <p:nvSpPr>
          <p:cNvPr id="12" name="badge-306"/>
          <p:cNvSpPr/>
          <p:nvPr/>
        </p:nvSpPr>
        <p:spPr>
          <a:xfrm>
            <a:off x="4447299" y="1709928"/>
            <a:ext cx="420624" cy="420624"/>
          </a:xfrm>
          <a:prstGeom prst="ellipse">
            <a:avLst/>
          </a:prstGeom>
          <a:solidFill>
            <a:schemeClr val="accent2"/>
          </a:solidFill>
          <a:ln w="12700">
            <a:solidFill>
              <a:schemeClr val="accent2"/>
            </a:solidFill>
            <a:prstDash val="solid"/>
          </a:ln>
        </p:spPr>
      </p:sp>
      <p:sp>
        <p:nvSpPr>
          <p:cNvPr id="13" name="badgetxt-307"/>
          <p:cNvSpPr txBox="1"/>
          <p:nvPr/>
        </p:nvSpPr>
        <p:spPr>
          <a:xfrm>
            <a:off x="4447299"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steph-308"/>
          <p:cNvSpPr txBox="1"/>
          <p:nvPr/>
        </p:nvSpPr>
        <p:spPr>
          <a:xfrm>
            <a:off x="3534842" y="2240280"/>
            <a:ext cx="2245538" cy="640080"/>
          </a:xfrm>
          <a:prstGeom prst="rect">
            <a:avLst/>
          </a:prstGeom>
          <a:noFill/>
          <a:ln/>
        </p:spPr>
        <p:txBody>
          <a:bodyPr wrap="square" lIns="0" tIns="0" rIns="0" bIns="0" rtlCol="0" anchor="ctr"/>
          <a:lstStyle/>
          <a:p>
            <a:pPr algn="ctr" indent="0" marL="0">
              <a:buNone/>
            </a:pPr>
            <a:r>
              <a:rPr lang="en-US" sz="1700" b="1" dirty="0">
                <a:solidFill>
                  <a:schemeClr val="bg1"/>
                </a:solidFill>
              </a:rPr>
              <a:t>Modules</a:t>
            </a:r>
            <a:endParaRPr lang="en-US" sz="1700" dirty="0"/>
          </a:p>
        </p:txBody>
      </p:sp>
      <p:sp>
        <p:nvSpPr>
          <p:cNvPr id="15" name="stepb-309"/>
          <p:cNvSpPr txBox="1"/>
          <p:nvPr/>
        </p:nvSpPr>
        <p:spPr>
          <a:xfrm>
            <a:off x="3562274" y="2926080"/>
            <a:ext cx="2190674" cy="1554480"/>
          </a:xfrm>
          <a:prstGeom prst="rect">
            <a:avLst/>
          </a:prstGeom>
          <a:noFill/>
          <a:ln/>
        </p:spPr>
        <p:txBody>
          <a:bodyPr wrap="square" lIns="0" tIns="0" rIns="0" bIns="0" rtlCol="0" anchor="t"/>
          <a:lstStyle/>
          <a:p>
            <a:pPr algn="l" indent="0" marL="0">
              <a:buNone/>
            </a:pPr>
            <a:r>
              <a:rPr lang="en-US" sz="1600" dirty="0">
                <a:solidFill>
                  <a:schemeClr val="bg1"/>
                </a:solidFill>
              </a:rPr>
              <a:t>modules/vpc built once, used for the shared VPC, both tenants and on-prem. Inputs in, outputs out.</a:t>
            </a:r>
            <a:endParaRPr lang="en-US" sz="1600" dirty="0"/>
          </a:p>
        </p:txBody>
      </p:sp>
      <p:sp>
        <p:nvSpPr>
          <p:cNvPr id="16" name="arrow-310"/>
          <p:cNvSpPr/>
          <p:nvPr/>
        </p:nvSpPr>
        <p:spPr>
          <a:xfrm>
            <a:off x="5954116" y="3108960"/>
            <a:ext cx="283464" cy="274320"/>
          </a:xfrm>
          <a:prstGeom prst="rightArrow">
            <a:avLst/>
          </a:prstGeom>
          <a:solidFill>
            <a:schemeClr val="accent2"/>
          </a:solidFill>
          <a:ln w="12700">
            <a:solidFill>
              <a:schemeClr val="accent2"/>
            </a:solidFill>
            <a:prstDash val="solid"/>
          </a:ln>
        </p:spPr>
      </p:sp>
      <p:sp>
        <p:nvSpPr>
          <p:cNvPr id="17" name="step-311"/>
          <p:cNvSpPr/>
          <p:nvPr/>
        </p:nvSpPr>
        <p:spPr>
          <a:xfrm>
            <a:off x="6301588" y="1920240"/>
            <a:ext cx="2464994" cy="2651760"/>
          </a:xfrm>
          <a:prstGeom prst="roundRect">
            <a:avLst>
              <a:gd name="adj" fmla="val 2968"/>
            </a:avLst>
          </a:prstGeom>
          <a:solidFill>
            <a:schemeClr val="bg2"/>
          </a:solidFill>
          <a:ln w="15875">
            <a:solidFill>
              <a:schemeClr val="accent1"/>
            </a:solidFill>
            <a:prstDash val="solid"/>
          </a:ln>
        </p:spPr>
      </p:sp>
      <p:sp>
        <p:nvSpPr>
          <p:cNvPr id="18" name="badge-312"/>
          <p:cNvSpPr/>
          <p:nvPr/>
        </p:nvSpPr>
        <p:spPr>
          <a:xfrm>
            <a:off x="7323773" y="1709928"/>
            <a:ext cx="420624" cy="420624"/>
          </a:xfrm>
          <a:prstGeom prst="ellipse">
            <a:avLst/>
          </a:prstGeom>
          <a:solidFill>
            <a:schemeClr val="accent1"/>
          </a:solidFill>
          <a:ln w="12700">
            <a:solidFill>
              <a:schemeClr val="accent1"/>
            </a:solidFill>
            <a:prstDash val="solid"/>
          </a:ln>
        </p:spPr>
      </p:sp>
      <p:sp>
        <p:nvSpPr>
          <p:cNvPr id="19" name="badgetxt-313"/>
          <p:cNvSpPr txBox="1"/>
          <p:nvPr/>
        </p:nvSpPr>
        <p:spPr>
          <a:xfrm>
            <a:off x="7323773"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steph-314"/>
          <p:cNvSpPr txBox="1"/>
          <p:nvPr/>
        </p:nvSpPr>
        <p:spPr>
          <a:xfrm>
            <a:off x="6411316" y="2240280"/>
            <a:ext cx="2245538" cy="640080"/>
          </a:xfrm>
          <a:prstGeom prst="rect">
            <a:avLst/>
          </a:prstGeom>
          <a:noFill/>
          <a:ln/>
        </p:spPr>
        <p:txBody>
          <a:bodyPr wrap="square" lIns="0" tIns="0" rIns="0" bIns="0" rtlCol="0" anchor="ctr"/>
          <a:lstStyle/>
          <a:p>
            <a:pPr algn="ctr" indent="0" marL="0">
              <a:buNone/>
            </a:pPr>
            <a:r>
              <a:rPr lang="en-US" sz="1700" b="1" dirty="0">
                <a:solidFill>
                  <a:schemeClr val="tx2"/>
                </a:solidFill>
              </a:rPr>
              <a:t>for_each</a:t>
            </a:r>
            <a:endParaRPr lang="en-US" sz="1700" dirty="0"/>
          </a:p>
        </p:txBody>
      </p:sp>
      <p:sp>
        <p:nvSpPr>
          <p:cNvPr id="21" name="stepb-315"/>
          <p:cNvSpPr txBox="1"/>
          <p:nvPr/>
        </p:nvSpPr>
        <p:spPr>
          <a:xfrm>
            <a:off x="6438748" y="2926080"/>
            <a:ext cx="2190674" cy="1554480"/>
          </a:xfrm>
          <a:prstGeom prst="rect">
            <a:avLst/>
          </a:prstGeom>
          <a:noFill/>
          <a:ln/>
        </p:spPr>
        <p:txBody>
          <a:bodyPr wrap="square" lIns="0" tIns="0" rIns="0" bIns="0" rtlCol="0" anchor="t"/>
          <a:lstStyle/>
          <a:p>
            <a:pPr algn="l" indent="0" marL="0">
              <a:buNone/>
            </a:pPr>
            <a:r>
              <a:rPr lang="en-US" sz="1600" dirty="0">
                <a:solidFill>
                  <a:schemeClr val="tx1"/>
                </a:solidFill>
              </a:rPr>
              <a:t>Resources from maps (subnets, delegations). Adding a subnet = adding a map entry.</a:t>
            </a:r>
            <a:endParaRPr lang="en-US" sz="1600" dirty="0"/>
          </a:p>
        </p:txBody>
      </p:sp>
      <p:sp>
        <p:nvSpPr>
          <p:cNvPr id="22" name="arrow-316"/>
          <p:cNvSpPr/>
          <p:nvPr/>
        </p:nvSpPr>
        <p:spPr>
          <a:xfrm>
            <a:off x="8830589" y="3108960"/>
            <a:ext cx="283464" cy="274320"/>
          </a:xfrm>
          <a:prstGeom prst="rightArrow">
            <a:avLst/>
          </a:prstGeom>
          <a:solidFill>
            <a:schemeClr val="accent2"/>
          </a:solidFill>
          <a:ln w="12700">
            <a:solidFill>
              <a:schemeClr val="accent2"/>
            </a:solidFill>
            <a:prstDash val="solid"/>
          </a:ln>
        </p:spPr>
      </p:sp>
      <p:sp>
        <p:nvSpPr>
          <p:cNvPr id="23" name="step-317"/>
          <p:cNvSpPr/>
          <p:nvPr/>
        </p:nvSpPr>
        <p:spPr>
          <a:xfrm>
            <a:off x="9178061" y="1920240"/>
            <a:ext cx="2464994" cy="2651760"/>
          </a:xfrm>
          <a:prstGeom prst="roundRect">
            <a:avLst>
              <a:gd name="adj" fmla="val 2968"/>
            </a:avLst>
          </a:prstGeom>
          <a:solidFill>
            <a:schemeClr val="bg2"/>
          </a:solidFill>
          <a:ln w="15875">
            <a:solidFill>
              <a:schemeClr val="accent1"/>
            </a:solidFill>
            <a:prstDash val="solid"/>
          </a:ln>
        </p:spPr>
      </p:sp>
      <p:sp>
        <p:nvSpPr>
          <p:cNvPr id="24" name="badge-318"/>
          <p:cNvSpPr/>
          <p:nvPr/>
        </p:nvSpPr>
        <p:spPr>
          <a:xfrm>
            <a:off x="10200246" y="1709928"/>
            <a:ext cx="420624" cy="420624"/>
          </a:xfrm>
          <a:prstGeom prst="ellipse">
            <a:avLst/>
          </a:prstGeom>
          <a:solidFill>
            <a:schemeClr val="accent1"/>
          </a:solidFill>
          <a:ln w="12700">
            <a:solidFill>
              <a:schemeClr val="accent1"/>
            </a:solidFill>
            <a:prstDash val="solid"/>
          </a:ln>
        </p:spPr>
      </p:sp>
      <p:sp>
        <p:nvSpPr>
          <p:cNvPr id="25" name="badgetxt-319"/>
          <p:cNvSpPr txBox="1"/>
          <p:nvPr/>
        </p:nvSpPr>
        <p:spPr>
          <a:xfrm>
            <a:off x="10200246"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steph-320"/>
          <p:cNvSpPr txBox="1"/>
          <p:nvPr/>
        </p:nvSpPr>
        <p:spPr>
          <a:xfrm>
            <a:off x="9287789" y="2240280"/>
            <a:ext cx="2245538" cy="640080"/>
          </a:xfrm>
          <a:prstGeom prst="rect">
            <a:avLst/>
          </a:prstGeom>
          <a:noFill/>
          <a:ln/>
        </p:spPr>
        <p:txBody>
          <a:bodyPr wrap="square" lIns="0" tIns="0" rIns="0" bIns="0" rtlCol="0" anchor="ctr"/>
          <a:lstStyle/>
          <a:p>
            <a:pPr algn="ctr" indent="0" marL="0">
              <a:buNone/>
            </a:pPr>
            <a:r>
              <a:rPr lang="en-US" sz="1700" b="1" dirty="0">
                <a:solidFill>
                  <a:schemeClr val="tx2"/>
                </a:solidFill>
              </a:rPr>
              <a:t>Plan, then apply</a:t>
            </a:r>
            <a:endParaRPr lang="en-US" sz="1700" dirty="0"/>
          </a:p>
        </p:txBody>
      </p:sp>
      <p:sp>
        <p:nvSpPr>
          <p:cNvPr id="27" name="stepb-321"/>
          <p:cNvSpPr txBox="1"/>
          <p:nvPr/>
        </p:nvSpPr>
        <p:spPr>
          <a:xfrm>
            <a:off x="9315221" y="2926080"/>
            <a:ext cx="2190674" cy="1554480"/>
          </a:xfrm>
          <a:prstGeom prst="rect">
            <a:avLst/>
          </a:prstGeom>
          <a:noFill/>
          <a:ln/>
        </p:spPr>
        <p:txBody>
          <a:bodyPr wrap="square" lIns="0" tIns="0" rIns="0" bIns="0" rtlCol="0" anchor="t"/>
          <a:lstStyle/>
          <a:p>
            <a:pPr algn="l" indent="0" marL="0">
              <a:buNone/>
            </a:pPr>
            <a:r>
              <a:rPr lang="en-US" sz="1600" dirty="0">
                <a:solidFill>
                  <a:schemeClr val="tx1"/>
                </a:solidFill>
              </a:rPr>
              <a:t>plan shows the diff; apply executes it. Saving the plan (-out) guarantees what you reviewed is what runs.</a:t>
            </a:r>
            <a:endParaRPr lang="en-US" sz="1600" dirty="0"/>
          </a:p>
        </p:txBody>
      </p:sp>
      <p:sp>
        <p:nvSpPr>
          <p:cNvPr id="28" name="belowbox-322"/>
          <p:cNvSpPr/>
          <p:nvPr/>
        </p:nvSpPr>
        <p:spPr>
          <a:xfrm>
            <a:off x="548640" y="4892040"/>
            <a:ext cx="11094415" cy="1371600"/>
          </a:xfrm>
          <a:prstGeom prst="roundRect">
            <a:avLst>
              <a:gd name="adj" fmla="val 4000"/>
            </a:avLst>
          </a:prstGeom>
          <a:solidFill>
            <a:schemeClr val="bg2"/>
          </a:solidFill>
          <a:ln w="12700">
            <a:solidFill>
              <a:schemeClr val="bg2"/>
            </a:solidFill>
            <a:prstDash val="solid"/>
          </a:ln>
        </p:spPr>
      </p:sp>
      <p:sp>
        <p:nvSpPr>
          <p:cNvPr id="29" name="below-323"/>
          <p:cNvSpPr txBox="1"/>
          <p:nvPr/>
        </p:nvSpPr>
        <p:spPr>
          <a:xfrm>
            <a:off x="822960" y="4983480"/>
            <a:ext cx="10545775" cy="1188720"/>
          </a:xfrm>
          <a:prstGeom prst="rect">
            <a:avLst/>
          </a:prstGeom>
          <a:noFill/>
          <a:ln/>
        </p:spPr>
        <p:txBody>
          <a:bodyPr wrap="square" lIns="0" tIns="0" rIns="0" bIns="0" rtlCol="0" anchor="ctr"/>
          <a:lstStyle/>
          <a:p>
            <a:pPr indent="0" marL="0">
              <a:buNone/>
            </a:pPr>
            <a:r>
              <a:rPr lang="en-US" sz="1600" dirty="0">
                <a:solidFill>
                  <a:schemeClr val="tx1"/>
                </a:solidFill>
              </a:rPr>
              <a:t>Backend blocks can't use variables, so bucket, prefix and SA are hard-coded in backend.tf. State files can contain secrets (Phase 6's VPN key), so the bucket is private and never committed: *.tfstate is in .gitignore.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ag-324"/>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Lessons learned: Phase 3</a:t>
            </a:r>
            <a:endParaRPr lang="en-US" sz="3200" dirty="0"/>
          </a:p>
        </p:txBody>
      </p:sp>
      <p:graphicFrame>
        <p:nvGraphicFramePr>
          <p:cNvPr id="23" name="table-325"/>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8960"/>
                <a:gridCol w="3931920"/>
                <a:gridCol w="4050792"/>
              </a:tblGrid>
              <a:tr h="0">
                <a:tc>
                  <a:txBody>
                    <a:bodyPr/>
                    <a:lstStyle/>
                    <a:p>
                      <a:pPr indent="0" marL="0">
                        <a:buNone/>
                      </a:pPr>
                      <a:r>
                        <a:rPr lang="en-US" sz="1700" b="1" dirty="0">
                          <a:solidFill>
                            <a:schemeClr val="bg1"/>
                          </a:solidFill>
                        </a:rPr>
                        <a:t>Problem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Root cause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Fix</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Shared VPC enable failed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Project wasn't in the organization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Moved the project into the org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terraform: command not found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Cloud Shell resets everything outside $HOME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Installed into ~/bin, PATH in .bashrc</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connection refused mid-apply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Transient Cloud Shell network drops under load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Re-ran with -parallelism=1</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Flow logs not visible on subnet page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Console moved flow-log settings off that page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Verified with gcloud subnets list --format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ag-32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Test yourself</a:t>
            </a:r>
            <a:endParaRPr lang="en-US" sz="3200" dirty="0"/>
          </a:p>
        </p:txBody>
      </p:sp>
      <p:sp>
        <p:nvSpPr>
          <p:cNvPr id="4" name="qcard-327"/>
          <p:cNvSpPr/>
          <p:nvPr/>
        </p:nvSpPr>
        <p:spPr>
          <a:xfrm>
            <a:off x="548640" y="1600200"/>
            <a:ext cx="3515258" cy="2194560"/>
          </a:xfrm>
          <a:prstGeom prst="roundRect">
            <a:avLst>
              <a:gd name="adj" fmla="val 3333"/>
            </a:avLst>
          </a:prstGeom>
          <a:solidFill>
            <a:schemeClr val="bg1"/>
          </a:solidFill>
          <a:ln w="15875">
            <a:solidFill>
              <a:schemeClr val="accent1"/>
            </a:solidFill>
            <a:prstDash val="solid"/>
          </a:ln>
        </p:spPr>
      </p:sp>
      <p:sp>
        <p:nvSpPr>
          <p:cNvPr id="5" name="badge-328"/>
          <p:cNvSpPr/>
          <p:nvPr/>
        </p:nvSpPr>
        <p:spPr>
          <a:xfrm>
            <a:off x="731520" y="1783080"/>
            <a:ext cx="420624" cy="420624"/>
          </a:xfrm>
          <a:prstGeom prst="ellipse">
            <a:avLst/>
          </a:prstGeom>
          <a:solidFill>
            <a:schemeClr val="accent2"/>
          </a:solidFill>
          <a:ln w="12700">
            <a:solidFill>
              <a:schemeClr val="accent2"/>
            </a:solidFill>
            <a:prstDash val="solid"/>
          </a:ln>
        </p:spPr>
      </p:sp>
      <p:sp>
        <p:nvSpPr>
          <p:cNvPr id="6" name="badgetxt-329"/>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7" name="q-330"/>
          <p:cNvSpPr txBox="1"/>
          <p:nvPr/>
        </p:nvSpPr>
        <p:spPr>
          <a:xfrm>
            <a:off x="1280160"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grant networkUser per subnet, not per project?</a:t>
            </a:r>
            <a:endParaRPr lang="en-US" sz="1600" dirty="0"/>
          </a:p>
        </p:txBody>
      </p:sp>
      <p:sp>
        <p:nvSpPr>
          <p:cNvPr id="8" name="aback-331"/>
          <p:cNvSpPr/>
          <p:nvPr/>
        </p:nvSpPr>
        <p:spPr>
          <a:xfrm>
            <a:off x="685800" y="2651760"/>
            <a:ext cx="3240938" cy="1005840"/>
          </a:xfrm>
          <a:prstGeom prst="roundRect">
            <a:avLst>
              <a:gd name="adj" fmla="val 5455"/>
            </a:avLst>
          </a:prstGeom>
          <a:solidFill>
            <a:schemeClr val="bg2"/>
          </a:solidFill>
          <a:ln w="12700">
            <a:solidFill>
              <a:schemeClr val="bg2"/>
            </a:solidFill>
            <a:prstDash val="solid"/>
          </a:ln>
        </p:spPr>
      </p:sp>
      <p:sp>
        <p:nvSpPr>
          <p:cNvPr id="9" name="a-332"/>
          <p:cNvSpPr txBox="1"/>
          <p:nvPr/>
        </p:nvSpPr>
        <p:spPr>
          <a:xfrm>
            <a:off x="822960"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So each environment can only deploy into its own subnets (least privilege).</a:t>
            </a:r>
            <a:endParaRPr lang="en-US" sz="1500" dirty="0"/>
          </a:p>
        </p:txBody>
      </p:sp>
      <p:sp>
        <p:nvSpPr>
          <p:cNvPr id="10" name="qcard-333"/>
          <p:cNvSpPr/>
          <p:nvPr/>
        </p:nvSpPr>
        <p:spPr>
          <a:xfrm>
            <a:off x="4338218" y="1600200"/>
            <a:ext cx="3515258" cy="2194560"/>
          </a:xfrm>
          <a:prstGeom prst="roundRect">
            <a:avLst>
              <a:gd name="adj" fmla="val 3333"/>
            </a:avLst>
          </a:prstGeom>
          <a:solidFill>
            <a:schemeClr val="bg1"/>
          </a:solidFill>
          <a:ln w="15875">
            <a:solidFill>
              <a:schemeClr val="accent1"/>
            </a:solidFill>
            <a:prstDash val="solid"/>
          </a:ln>
        </p:spPr>
      </p:sp>
      <p:sp>
        <p:nvSpPr>
          <p:cNvPr id="11" name="badge-334"/>
          <p:cNvSpPr/>
          <p:nvPr/>
        </p:nvSpPr>
        <p:spPr>
          <a:xfrm>
            <a:off x="4521098" y="1783080"/>
            <a:ext cx="420624" cy="420624"/>
          </a:xfrm>
          <a:prstGeom prst="ellipse">
            <a:avLst/>
          </a:prstGeom>
          <a:solidFill>
            <a:schemeClr val="accent2"/>
          </a:solidFill>
          <a:ln w="12700">
            <a:solidFill>
              <a:schemeClr val="accent2"/>
            </a:solidFill>
            <a:prstDash val="solid"/>
          </a:ln>
        </p:spPr>
      </p:sp>
      <p:sp>
        <p:nvSpPr>
          <p:cNvPr id="12" name="badgetxt-335"/>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3" name="q-336"/>
          <p:cNvSpPr txBox="1"/>
          <p:nvPr/>
        </p:nvSpPr>
        <p:spPr>
          <a:xfrm>
            <a:off x="5069738"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A /30 route at priority 2000 vs 0.0.0.0/0 at 100: which wins?</a:t>
            </a:r>
            <a:endParaRPr lang="en-US" sz="1600" dirty="0"/>
          </a:p>
        </p:txBody>
      </p:sp>
      <p:sp>
        <p:nvSpPr>
          <p:cNvPr id="14" name="aback-337"/>
          <p:cNvSpPr/>
          <p:nvPr/>
        </p:nvSpPr>
        <p:spPr>
          <a:xfrm>
            <a:off x="4475378" y="2651760"/>
            <a:ext cx="3240938" cy="1005840"/>
          </a:xfrm>
          <a:prstGeom prst="roundRect">
            <a:avLst>
              <a:gd name="adj" fmla="val 5455"/>
            </a:avLst>
          </a:prstGeom>
          <a:solidFill>
            <a:schemeClr val="bg2"/>
          </a:solidFill>
          <a:ln w="12700">
            <a:solidFill>
              <a:schemeClr val="bg2"/>
            </a:solidFill>
            <a:prstDash val="solid"/>
          </a:ln>
        </p:spPr>
      </p:sp>
      <p:sp>
        <p:nvSpPr>
          <p:cNvPr id="15" name="a-338"/>
          <p:cNvSpPr txBox="1"/>
          <p:nvPr/>
        </p:nvSpPr>
        <p:spPr>
          <a:xfrm>
            <a:off x="4612538"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The /30. Most specific prefix is chosen before priority.</a:t>
            </a:r>
            <a:endParaRPr lang="en-US" sz="1500" dirty="0"/>
          </a:p>
        </p:txBody>
      </p:sp>
      <p:sp>
        <p:nvSpPr>
          <p:cNvPr id="16" name="qcard-339"/>
          <p:cNvSpPr/>
          <p:nvPr/>
        </p:nvSpPr>
        <p:spPr>
          <a:xfrm>
            <a:off x="8127797" y="1600200"/>
            <a:ext cx="3515258" cy="2194560"/>
          </a:xfrm>
          <a:prstGeom prst="roundRect">
            <a:avLst>
              <a:gd name="adj" fmla="val 3333"/>
            </a:avLst>
          </a:prstGeom>
          <a:solidFill>
            <a:schemeClr val="bg1"/>
          </a:solidFill>
          <a:ln w="15875">
            <a:solidFill>
              <a:schemeClr val="accent1"/>
            </a:solidFill>
            <a:prstDash val="solid"/>
          </a:ln>
        </p:spPr>
      </p:sp>
      <p:sp>
        <p:nvSpPr>
          <p:cNvPr id="17" name="badge-340"/>
          <p:cNvSpPr/>
          <p:nvPr/>
        </p:nvSpPr>
        <p:spPr>
          <a:xfrm>
            <a:off x="8310677" y="1783080"/>
            <a:ext cx="420624" cy="420624"/>
          </a:xfrm>
          <a:prstGeom prst="ellipse">
            <a:avLst/>
          </a:prstGeom>
          <a:solidFill>
            <a:schemeClr val="accent2"/>
          </a:solidFill>
          <a:ln w="12700">
            <a:solidFill>
              <a:schemeClr val="accent2"/>
            </a:solidFill>
            <a:prstDash val="solid"/>
          </a:ln>
        </p:spPr>
      </p:sp>
      <p:sp>
        <p:nvSpPr>
          <p:cNvPr id="18" name="badgetxt-341"/>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9" name="q-342"/>
          <p:cNvSpPr txBox="1"/>
          <p:nvPr/>
        </p:nvSpPr>
        <p:spPr>
          <a:xfrm>
            <a:off x="8859317"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 does Private Google Access do?</a:t>
            </a:r>
            <a:endParaRPr lang="en-US" sz="1600" dirty="0"/>
          </a:p>
        </p:txBody>
      </p:sp>
      <p:sp>
        <p:nvSpPr>
          <p:cNvPr id="20" name="aback-343"/>
          <p:cNvSpPr/>
          <p:nvPr/>
        </p:nvSpPr>
        <p:spPr>
          <a:xfrm>
            <a:off x="8264957" y="2651760"/>
            <a:ext cx="3240938" cy="1005840"/>
          </a:xfrm>
          <a:prstGeom prst="roundRect">
            <a:avLst>
              <a:gd name="adj" fmla="val 5455"/>
            </a:avLst>
          </a:prstGeom>
          <a:solidFill>
            <a:schemeClr val="bg2"/>
          </a:solidFill>
          <a:ln w="12700">
            <a:solidFill>
              <a:schemeClr val="bg2"/>
            </a:solidFill>
            <a:prstDash val="solid"/>
          </a:ln>
        </p:spPr>
      </p:sp>
      <p:sp>
        <p:nvSpPr>
          <p:cNvPr id="21" name="a-344"/>
          <p:cNvSpPr txBox="1"/>
          <p:nvPr/>
        </p:nvSpPr>
        <p:spPr>
          <a:xfrm>
            <a:off x="8402117"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Lets VMs with only internal IPs reach Google APIs.</a:t>
            </a:r>
            <a:endParaRPr lang="en-US" sz="1500" dirty="0"/>
          </a:p>
        </p:txBody>
      </p:sp>
      <p:sp>
        <p:nvSpPr>
          <p:cNvPr id="22" name="qcard-345"/>
          <p:cNvSpPr/>
          <p:nvPr/>
        </p:nvSpPr>
        <p:spPr>
          <a:xfrm>
            <a:off x="548640" y="4069080"/>
            <a:ext cx="3515258" cy="2194560"/>
          </a:xfrm>
          <a:prstGeom prst="roundRect">
            <a:avLst>
              <a:gd name="adj" fmla="val 3333"/>
            </a:avLst>
          </a:prstGeom>
          <a:solidFill>
            <a:schemeClr val="bg1"/>
          </a:solidFill>
          <a:ln w="15875">
            <a:solidFill>
              <a:schemeClr val="accent1"/>
            </a:solidFill>
            <a:prstDash val="solid"/>
          </a:ln>
        </p:spPr>
      </p:sp>
      <p:sp>
        <p:nvSpPr>
          <p:cNvPr id="23" name="badge-346"/>
          <p:cNvSpPr/>
          <p:nvPr/>
        </p:nvSpPr>
        <p:spPr>
          <a:xfrm>
            <a:off x="731520" y="4251960"/>
            <a:ext cx="420624" cy="420624"/>
          </a:xfrm>
          <a:prstGeom prst="ellipse">
            <a:avLst/>
          </a:prstGeom>
          <a:solidFill>
            <a:schemeClr val="accent2"/>
          </a:solidFill>
          <a:ln w="12700">
            <a:solidFill>
              <a:schemeClr val="accent2"/>
            </a:solidFill>
            <a:prstDash val="solid"/>
          </a:ln>
        </p:spPr>
      </p:sp>
      <p:sp>
        <p:nvSpPr>
          <p:cNvPr id="24" name="badgetxt-347"/>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25" name="q-348"/>
          <p:cNvSpPr txBox="1"/>
          <p:nvPr/>
        </p:nvSpPr>
        <p:spPr>
          <a:xfrm>
            <a:off x="1280160"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Where do firewall logs for a service-project VM appear?</a:t>
            </a:r>
            <a:endParaRPr lang="en-US" sz="1600" dirty="0"/>
          </a:p>
        </p:txBody>
      </p:sp>
      <p:sp>
        <p:nvSpPr>
          <p:cNvPr id="26" name="aback-349"/>
          <p:cNvSpPr/>
          <p:nvPr/>
        </p:nvSpPr>
        <p:spPr>
          <a:xfrm>
            <a:off x="685800" y="5120640"/>
            <a:ext cx="3240938" cy="1005840"/>
          </a:xfrm>
          <a:prstGeom prst="roundRect">
            <a:avLst>
              <a:gd name="adj" fmla="val 5455"/>
            </a:avLst>
          </a:prstGeom>
          <a:solidFill>
            <a:schemeClr val="bg2"/>
          </a:solidFill>
          <a:ln w="12700">
            <a:solidFill>
              <a:schemeClr val="bg2"/>
            </a:solidFill>
            <a:prstDash val="solid"/>
          </a:ln>
        </p:spPr>
      </p:sp>
      <p:sp>
        <p:nvSpPr>
          <p:cNvPr id="27" name="a-350"/>
          <p:cNvSpPr txBox="1"/>
          <p:nvPr/>
        </p:nvSpPr>
        <p:spPr>
          <a:xfrm>
            <a:off x="822960"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In the host project, which owns the network and the rules.</a:t>
            </a:r>
            <a:endParaRPr lang="en-US" sz="1500" dirty="0"/>
          </a:p>
        </p:txBody>
      </p:sp>
      <p:sp>
        <p:nvSpPr>
          <p:cNvPr id="28" name="qcard-351"/>
          <p:cNvSpPr/>
          <p:nvPr/>
        </p:nvSpPr>
        <p:spPr>
          <a:xfrm>
            <a:off x="4338218" y="4069080"/>
            <a:ext cx="3515258" cy="2194560"/>
          </a:xfrm>
          <a:prstGeom prst="roundRect">
            <a:avLst>
              <a:gd name="adj" fmla="val 3333"/>
            </a:avLst>
          </a:prstGeom>
          <a:solidFill>
            <a:schemeClr val="bg1"/>
          </a:solidFill>
          <a:ln w="15875">
            <a:solidFill>
              <a:schemeClr val="accent1"/>
            </a:solidFill>
            <a:prstDash val="solid"/>
          </a:ln>
        </p:spPr>
      </p:sp>
      <p:sp>
        <p:nvSpPr>
          <p:cNvPr id="29" name="badge-352"/>
          <p:cNvSpPr/>
          <p:nvPr/>
        </p:nvSpPr>
        <p:spPr>
          <a:xfrm>
            <a:off x="4521098" y="4251960"/>
            <a:ext cx="420624" cy="420624"/>
          </a:xfrm>
          <a:prstGeom prst="ellipse">
            <a:avLst/>
          </a:prstGeom>
          <a:solidFill>
            <a:schemeClr val="accent2"/>
          </a:solidFill>
          <a:ln w="12700">
            <a:solidFill>
              <a:schemeClr val="accent2"/>
            </a:solidFill>
            <a:prstDash val="solid"/>
          </a:ln>
        </p:spPr>
      </p:sp>
      <p:sp>
        <p:nvSpPr>
          <p:cNvPr id="30" name="badgetxt-353"/>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1" name="q-354"/>
          <p:cNvSpPr txBox="1"/>
          <p:nvPr/>
        </p:nvSpPr>
        <p:spPr>
          <a:xfrm>
            <a:off x="5069738"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delete the default route?</a:t>
            </a:r>
            <a:endParaRPr lang="en-US" sz="1600" dirty="0"/>
          </a:p>
        </p:txBody>
      </p:sp>
      <p:sp>
        <p:nvSpPr>
          <p:cNvPr id="32" name="aback-355"/>
          <p:cNvSpPr/>
          <p:nvPr/>
        </p:nvSpPr>
        <p:spPr>
          <a:xfrm>
            <a:off x="4475378" y="5120640"/>
            <a:ext cx="3240938" cy="1005840"/>
          </a:xfrm>
          <a:prstGeom prst="roundRect">
            <a:avLst>
              <a:gd name="adj" fmla="val 5455"/>
            </a:avLst>
          </a:prstGeom>
          <a:solidFill>
            <a:schemeClr val="bg2"/>
          </a:solidFill>
          <a:ln w="12700">
            <a:solidFill>
              <a:schemeClr val="bg2"/>
            </a:solidFill>
            <a:prstDash val="solid"/>
          </a:ln>
        </p:spPr>
      </p:sp>
      <p:sp>
        <p:nvSpPr>
          <p:cNvPr id="33" name="a-356"/>
          <p:cNvSpPr txBox="1"/>
          <p:nvPr/>
        </p:nvSpPr>
        <p:spPr>
          <a:xfrm>
            <a:off x="4612538"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So every route is explicit, owned by Terraform, and any change is visible as drift.</a:t>
            </a:r>
            <a:endParaRPr lang="en-US" sz="1500" dirty="0"/>
          </a:p>
        </p:txBody>
      </p:sp>
      <p:sp>
        <p:nvSpPr>
          <p:cNvPr id="34" name="qcard-357"/>
          <p:cNvSpPr/>
          <p:nvPr/>
        </p:nvSpPr>
        <p:spPr>
          <a:xfrm>
            <a:off x="8127797" y="4069080"/>
            <a:ext cx="3515258" cy="2194560"/>
          </a:xfrm>
          <a:prstGeom prst="roundRect">
            <a:avLst>
              <a:gd name="adj" fmla="val 3333"/>
            </a:avLst>
          </a:prstGeom>
          <a:solidFill>
            <a:schemeClr val="bg1"/>
          </a:solidFill>
          <a:ln w="15875">
            <a:solidFill>
              <a:schemeClr val="accent1"/>
            </a:solidFill>
            <a:prstDash val="solid"/>
          </a:ln>
        </p:spPr>
      </p:sp>
      <p:sp>
        <p:nvSpPr>
          <p:cNvPr id="35" name="badge-358"/>
          <p:cNvSpPr/>
          <p:nvPr/>
        </p:nvSpPr>
        <p:spPr>
          <a:xfrm>
            <a:off x="8310677" y="4251960"/>
            <a:ext cx="420624" cy="420624"/>
          </a:xfrm>
          <a:prstGeom prst="ellipse">
            <a:avLst/>
          </a:prstGeom>
          <a:solidFill>
            <a:schemeClr val="accent2"/>
          </a:solidFill>
          <a:ln w="12700">
            <a:solidFill>
              <a:schemeClr val="accent2"/>
            </a:solidFill>
            <a:prstDash val="solid"/>
          </a:ln>
        </p:spPr>
      </p:sp>
      <p:sp>
        <p:nvSpPr>
          <p:cNvPr id="36" name="badgetxt-359"/>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7" name="q-360"/>
          <p:cNvSpPr txBox="1"/>
          <p:nvPr/>
        </p:nvSpPr>
        <p:spPr>
          <a:xfrm>
            <a:off x="8859317"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store state remotely with versioning?</a:t>
            </a:r>
            <a:endParaRPr lang="en-US" sz="1600" dirty="0"/>
          </a:p>
        </p:txBody>
      </p:sp>
      <p:sp>
        <p:nvSpPr>
          <p:cNvPr id="38" name="aback-361"/>
          <p:cNvSpPr/>
          <p:nvPr/>
        </p:nvSpPr>
        <p:spPr>
          <a:xfrm>
            <a:off x="8264957" y="5120640"/>
            <a:ext cx="3240938" cy="1005840"/>
          </a:xfrm>
          <a:prstGeom prst="roundRect">
            <a:avLst>
              <a:gd name="adj" fmla="val 5455"/>
            </a:avLst>
          </a:prstGeom>
          <a:solidFill>
            <a:schemeClr val="bg2"/>
          </a:solidFill>
          <a:ln w="12700">
            <a:solidFill>
              <a:schemeClr val="bg2"/>
            </a:solidFill>
            <a:prstDash val="solid"/>
          </a:ln>
        </p:spPr>
      </p:sp>
      <p:sp>
        <p:nvSpPr>
          <p:cNvPr id="39" name="a-362"/>
          <p:cNvSpPr txBox="1"/>
          <p:nvPr/>
        </p:nvSpPr>
        <p:spPr>
          <a:xfrm>
            <a:off x="8402117"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Shared truth with locking for teams, and rollback if state is corrupted.</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num-363"/>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04</a:t>
            </a:r>
            <a:endParaRPr lang="en-US" sz="13000" dirty="0"/>
          </a:p>
        </p:txBody>
      </p:sp>
      <p:sp>
        <p:nvSpPr>
          <p:cNvPr id="3" name="sectag-364"/>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4</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Network peering</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Give each tenant its own VPC in its own project, peer them hub-and-spoke with the shared VPC, and allow only tenant to shared-services traffic, proven with a 7-test connectivity matrix.</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ag-365"/>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4 · NETWORK PEERING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VPC Network Peering explained</a:t>
            </a:r>
            <a:endParaRPr lang="en-US" sz="3200" dirty="0"/>
          </a:p>
        </p:txBody>
      </p:sp>
      <p:sp>
        <p:nvSpPr>
          <p:cNvPr id="5" name="card-366"/>
          <p:cNvSpPr/>
          <p:nvPr/>
        </p:nvSpPr>
        <p:spPr>
          <a:xfrm>
            <a:off x="548640" y="1600200"/>
            <a:ext cx="3515258" cy="2194560"/>
          </a:xfrm>
          <a:prstGeom prst="roundRect">
            <a:avLst>
              <a:gd name="adj" fmla="val 3333"/>
            </a:avLst>
          </a:prstGeom>
          <a:solidFill>
            <a:schemeClr val="bg2"/>
          </a:solidFill>
          <a:ln w="12700">
            <a:solidFill>
              <a:schemeClr val="bg2"/>
            </a:solidFill>
            <a:prstDash val="solid"/>
          </a:ln>
        </p:spPr>
      </p:sp>
      <p:sp>
        <p:nvSpPr>
          <p:cNvPr id="6" name="badge-367"/>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368"/>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369"/>
          <p:cNvSpPr txBox="1"/>
          <p:nvPr/>
        </p:nvSpPr>
        <p:spPr>
          <a:xfrm>
            <a:off x="1280160"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Private connectivity</a:t>
            </a:r>
            <a:endParaRPr lang="en-US" sz="1800" dirty="0"/>
          </a:p>
        </p:txBody>
      </p:sp>
      <p:sp>
        <p:nvSpPr>
          <p:cNvPr id="9" name="cardb-370"/>
          <p:cNvSpPr txBox="1"/>
          <p:nvPr/>
        </p:nvSpPr>
        <p:spPr>
          <a:xfrm>
            <a:off x="777240"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Internal IP traffic between two VPCs over Google's backbone. No gateway, no VPN, no single point of failure, full bandwidth.</a:t>
            </a:r>
            <a:endParaRPr lang="en-US" sz="1600" dirty="0"/>
          </a:p>
        </p:txBody>
      </p:sp>
      <p:sp>
        <p:nvSpPr>
          <p:cNvPr id="10" name="card-371"/>
          <p:cNvSpPr/>
          <p:nvPr/>
        </p:nvSpPr>
        <p:spPr>
          <a:xfrm>
            <a:off x="4338218" y="1600200"/>
            <a:ext cx="3515258" cy="2194560"/>
          </a:xfrm>
          <a:prstGeom prst="roundRect">
            <a:avLst>
              <a:gd name="adj" fmla="val 3333"/>
            </a:avLst>
          </a:prstGeom>
          <a:solidFill>
            <a:schemeClr val="bg2"/>
          </a:solidFill>
          <a:ln w="12700">
            <a:solidFill>
              <a:schemeClr val="bg2"/>
            </a:solidFill>
            <a:prstDash val="solid"/>
          </a:ln>
        </p:spPr>
      </p:sp>
      <p:sp>
        <p:nvSpPr>
          <p:cNvPr id="11" name="badge-372"/>
          <p:cNvSpPr/>
          <p:nvPr/>
        </p:nvSpPr>
        <p:spPr>
          <a:xfrm>
            <a:off x="4521098" y="1783080"/>
            <a:ext cx="420624" cy="420624"/>
          </a:xfrm>
          <a:prstGeom prst="ellipse">
            <a:avLst/>
          </a:prstGeom>
          <a:solidFill>
            <a:schemeClr val="accent1"/>
          </a:solidFill>
          <a:ln w="12700">
            <a:solidFill>
              <a:schemeClr val="accent1"/>
            </a:solidFill>
            <a:prstDash val="solid"/>
          </a:ln>
        </p:spPr>
      </p:sp>
      <p:sp>
        <p:nvSpPr>
          <p:cNvPr id="12" name="badgetxt-373"/>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374"/>
          <p:cNvSpPr txBox="1"/>
          <p:nvPr/>
        </p:nvSpPr>
        <p:spPr>
          <a:xfrm>
            <a:off x="5069738"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Both sides must agree</a:t>
            </a:r>
            <a:endParaRPr lang="en-US" sz="1800" dirty="0"/>
          </a:p>
        </p:txBody>
      </p:sp>
      <p:sp>
        <p:nvSpPr>
          <p:cNvPr id="14" name="cardb-375"/>
          <p:cNvSpPr txBox="1"/>
          <p:nvPr/>
        </p:nvSpPr>
        <p:spPr>
          <a:xfrm>
            <a:off x="4566818"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Each VPC creates its own peering to the other. The state is ACTIVE only when both exist; one side alone shows INACTIVE.</a:t>
            </a:r>
            <a:endParaRPr lang="en-US" sz="1600" dirty="0"/>
          </a:p>
        </p:txBody>
      </p:sp>
      <p:sp>
        <p:nvSpPr>
          <p:cNvPr id="15" name="card-376"/>
          <p:cNvSpPr/>
          <p:nvPr/>
        </p:nvSpPr>
        <p:spPr>
          <a:xfrm>
            <a:off x="8127797" y="1600200"/>
            <a:ext cx="3515258" cy="2194560"/>
          </a:xfrm>
          <a:prstGeom prst="roundRect">
            <a:avLst>
              <a:gd name="adj" fmla="val 3333"/>
            </a:avLst>
          </a:prstGeom>
          <a:solidFill>
            <a:schemeClr val="bg2"/>
          </a:solidFill>
          <a:ln w="12700">
            <a:solidFill>
              <a:schemeClr val="bg2"/>
            </a:solidFill>
            <a:prstDash val="solid"/>
          </a:ln>
        </p:spPr>
      </p:sp>
      <p:sp>
        <p:nvSpPr>
          <p:cNvPr id="16" name="badge-377"/>
          <p:cNvSpPr/>
          <p:nvPr/>
        </p:nvSpPr>
        <p:spPr>
          <a:xfrm>
            <a:off x="8310677" y="1783080"/>
            <a:ext cx="420624" cy="420624"/>
          </a:xfrm>
          <a:prstGeom prst="ellipse">
            <a:avLst/>
          </a:prstGeom>
          <a:solidFill>
            <a:schemeClr val="accent1"/>
          </a:solidFill>
          <a:ln w="12700">
            <a:solidFill>
              <a:schemeClr val="accent1"/>
            </a:solidFill>
            <a:prstDash val="solid"/>
          </a:ln>
        </p:spPr>
      </p:sp>
      <p:sp>
        <p:nvSpPr>
          <p:cNvPr id="17" name="badgetxt-378"/>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379"/>
          <p:cNvSpPr txBox="1"/>
          <p:nvPr/>
        </p:nvSpPr>
        <p:spPr>
          <a:xfrm>
            <a:off x="8859317"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Non-transitive</a:t>
            </a:r>
            <a:endParaRPr lang="en-US" sz="1800" dirty="0"/>
          </a:p>
        </p:txBody>
      </p:sp>
      <p:sp>
        <p:nvSpPr>
          <p:cNvPr id="19" name="cardb-380"/>
          <p:cNvSpPr txBox="1"/>
          <p:nvPr/>
        </p:nvSpPr>
        <p:spPr>
          <a:xfrm>
            <a:off x="8356397"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Hub–fintech and hub–health doesn't connect fintech to health. Isolation comes from routing itself.</a:t>
            </a:r>
            <a:endParaRPr lang="en-US" sz="1600" dirty="0"/>
          </a:p>
        </p:txBody>
      </p:sp>
      <p:sp>
        <p:nvSpPr>
          <p:cNvPr id="20" name="card-381"/>
          <p:cNvSpPr/>
          <p:nvPr/>
        </p:nvSpPr>
        <p:spPr>
          <a:xfrm>
            <a:off x="548640" y="4069080"/>
            <a:ext cx="3515258" cy="2194560"/>
          </a:xfrm>
          <a:prstGeom prst="roundRect">
            <a:avLst>
              <a:gd name="adj" fmla="val 3333"/>
            </a:avLst>
          </a:prstGeom>
          <a:solidFill>
            <a:schemeClr val="bg2"/>
          </a:solidFill>
          <a:ln w="12700">
            <a:solidFill>
              <a:schemeClr val="bg2"/>
            </a:solidFill>
            <a:prstDash val="solid"/>
          </a:ln>
        </p:spPr>
      </p:sp>
      <p:sp>
        <p:nvSpPr>
          <p:cNvPr id="21" name="badge-382"/>
          <p:cNvSpPr/>
          <p:nvPr/>
        </p:nvSpPr>
        <p:spPr>
          <a:xfrm>
            <a:off x="731520" y="4251960"/>
            <a:ext cx="420624" cy="420624"/>
          </a:xfrm>
          <a:prstGeom prst="ellipse">
            <a:avLst/>
          </a:prstGeom>
          <a:solidFill>
            <a:schemeClr val="accent1"/>
          </a:solidFill>
          <a:ln w="12700">
            <a:solidFill>
              <a:schemeClr val="accent1"/>
            </a:solidFill>
            <a:prstDash val="solid"/>
          </a:ln>
        </p:spPr>
      </p:sp>
      <p:sp>
        <p:nvSpPr>
          <p:cNvPr id="22" name="badgetxt-383"/>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384"/>
          <p:cNvSpPr txBox="1"/>
          <p:nvPr/>
        </p:nvSpPr>
        <p:spPr>
          <a:xfrm>
            <a:off x="1280160"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Route exchange</a:t>
            </a:r>
            <a:endParaRPr lang="en-US" sz="1800" dirty="0"/>
          </a:p>
        </p:txBody>
      </p:sp>
      <p:sp>
        <p:nvSpPr>
          <p:cNvPr id="24" name="cardb-385"/>
          <p:cNvSpPr txBox="1"/>
          <p:nvPr/>
        </p:nvSpPr>
        <p:spPr>
          <a:xfrm>
            <a:off x="777240"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Subnet routes are always exchanged. Custom routes (static, BGP) only if import/export is enabled; we keep it off.</a:t>
            </a:r>
            <a:endParaRPr lang="en-US" sz="1600" dirty="0"/>
          </a:p>
        </p:txBody>
      </p:sp>
      <p:sp>
        <p:nvSpPr>
          <p:cNvPr id="25" name="card-386"/>
          <p:cNvSpPr/>
          <p:nvPr/>
        </p:nvSpPr>
        <p:spPr>
          <a:xfrm>
            <a:off x="4338218" y="4069080"/>
            <a:ext cx="3515258" cy="2194560"/>
          </a:xfrm>
          <a:prstGeom prst="roundRect">
            <a:avLst>
              <a:gd name="adj" fmla="val 3333"/>
            </a:avLst>
          </a:prstGeom>
          <a:solidFill>
            <a:schemeClr val="bg2"/>
          </a:solidFill>
          <a:ln w="12700">
            <a:solidFill>
              <a:schemeClr val="bg2"/>
            </a:solidFill>
            <a:prstDash val="solid"/>
          </a:ln>
        </p:spPr>
      </p:sp>
      <p:sp>
        <p:nvSpPr>
          <p:cNvPr id="26" name="badge-387"/>
          <p:cNvSpPr/>
          <p:nvPr/>
        </p:nvSpPr>
        <p:spPr>
          <a:xfrm>
            <a:off x="4521098" y="4251960"/>
            <a:ext cx="420624" cy="420624"/>
          </a:xfrm>
          <a:prstGeom prst="ellipse">
            <a:avLst/>
          </a:prstGeom>
          <a:solidFill>
            <a:schemeClr val="accent1"/>
          </a:solidFill>
          <a:ln w="12700">
            <a:solidFill>
              <a:schemeClr val="accent1"/>
            </a:solidFill>
            <a:prstDash val="solid"/>
          </a:ln>
        </p:spPr>
      </p:sp>
      <p:sp>
        <p:nvSpPr>
          <p:cNvPr id="27" name="badgetxt-388"/>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cardh-389"/>
          <p:cNvSpPr txBox="1"/>
          <p:nvPr/>
        </p:nvSpPr>
        <p:spPr>
          <a:xfrm>
            <a:off x="5069738"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No overlap</a:t>
            </a:r>
            <a:endParaRPr lang="en-US" sz="1800" dirty="0"/>
          </a:p>
        </p:txBody>
      </p:sp>
      <p:sp>
        <p:nvSpPr>
          <p:cNvPr id="29" name="cardb-390"/>
          <p:cNvSpPr txBox="1"/>
          <p:nvPr/>
        </p:nvSpPr>
        <p:spPr>
          <a:xfrm>
            <a:off x="4566818"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Peered VPCs can't have overlapping subnets. Planned /16s guarantee that, including the DR subnets.</a:t>
            </a:r>
            <a:endParaRPr lang="en-US" sz="1600" dirty="0"/>
          </a:p>
        </p:txBody>
      </p:sp>
      <p:sp>
        <p:nvSpPr>
          <p:cNvPr id="30" name="card-391"/>
          <p:cNvSpPr/>
          <p:nvPr/>
        </p:nvSpPr>
        <p:spPr>
          <a:xfrm>
            <a:off x="8127797" y="4069080"/>
            <a:ext cx="3515258" cy="2194560"/>
          </a:xfrm>
          <a:prstGeom prst="roundRect">
            <a:avLst>
              <a:gd name="adj" fmla="val 3333"/>
            </a:avLst>
          </a:prstGeom>
          <a:solidFill>
            <a:schemeClr val="bg2"/>
          </a:solidFill>
          <a:ln w="12700">
            <a:solidFill>
              <a:schemeClr val="bg2"/>
            </a:solidFill>
            <a:prstDash val="solid"/>
          </a:ln>
        </p:spPr>
      </p:sp>
      <p:sp>
        <p:nvSpPr>
          <p:cNvPr id="31" name="badge-392"/>
          <p:cNvSpPr/>
          <p:nvPr/>
        </p:nvSpPr>
        <p:spPr>
          <a:xfrm>
            <a:off x="8310677" y="4251960"/>
            <a:ext cx="420624" cy="420624"/>
          </a:xfrm>
          <a:prstGeom prst="ellipse">
            <a:avLst/>
          </a:prstGeom>
          <a:solidFill>
            <a:schemeClr val="accent1"/>
          </a:solidFill>
          <a:ln w="12700">
            <a:solidFill>
              <a:schemeClr val="accent1"/>
            </a:solidFill>
            <a:prstDash val="solid"/>
          </a:ln>
        </p:spPr>
      </p:sp>
      <p:sp>
        <p:nvSpPr>
          <p:cNvPr id="32" name="badgetxt-393"/>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cardh-394"/>
          <p:cNvSpPr txBox="1"/>
          <p:nvPr/>
        </p:nvSpPr>
        <p:spPr>
          <a:xfrm>
            <a:off x="8859317"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Firewalls stay separate</a:t>
            </a:r>
            <a:endParaRPr lang="en-US" sz="1800" dirty="0"/>
          </a:p>
        </p:txBody>
      </p:sp>
      <p:sp>
        <p:nvSpPr>
          <p:cNvPr id="34" name="cardb-395"/>
          <p:cNvSpPr txBox="1"/>
          <p:nvPr/>
        </p:nvSpPr>
        <p:spPr>
          <a:xfrm>
            <a:off x="8356397"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Each VPC enforces its own rules: egress checked in the source VPC, ingress in the destination VPC.</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ag-39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4 · NETWORK PEERING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Firewall fundamentals</a:t>
            </a:r>
            <a:endParaRPr lang="en-US" sz="3200" dirty="0"/>
          </a:p>
        </p:txBody>
      </p:sp>
      <p:sp>
        <p:nvSpPr>
          <p:cNvPr id="5" name="card-397"/>
          <p:cNvSpPr/>
          <p:nvPr/>
        </p:nvSpPr>
        <p:spPr>
          <a:xfrm>
            <a:off x="548640" y="1600200"/>
            <a:ext cx="3515258" cy="2194560"/>
          </a:xfrm>
          <a:prstGeom prst="roundRect">
            <a:avLst>
              <a:gd name="adj" fmla="val 3333"/>
            </a:avLst>
          </a:prstGeom>
          <a:solidFill>
            <a:schemeClr val="bg2"/>
          </a:solidFill>
          <a:ln w="12700">
            <a:solidFill>
              <a:schemeClr val="bg2"/>
            </a:solidFill>
            <a:prstDash val="solid"/>
          </a:ln>
        </p:spPr>
      </p:sp>
      <p:sp>
        <p:nvSpPr>
          <p:cNvPr id="6" name="badge-398"/>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399"/>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400"/>
          <p:cNvSpPr txBox="1"/>
          <p:nvPr/>
        </p:nvSpPr>
        <p:spPr>
          <a:xfrm>
            <a:off x="1280160"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Stateful</a:t>
            </a:r>
            <a:endParaRPr lang="en-US" sz="1800" dirty="0"/>
          </a:p>
        </p:txBody>
      </p:sp>
      <p:sp>
        <p:nvSpPr>
          <p:cNvPr id="9" name="cardb-401"/>
          <p:cNvSpPr txBox="1"/>
          <p:nvPr/>
        </p:nvSpPr>
        <p:spPr>
          <a:xfrm>
            <a:off x="777240"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Allowing a connection automatically allows its return traffic. You write rules for who starts the connection.</a:t>
            </a:r>
            <a:endParaRPr lang="en-US" sz="1600" dirty="0"/>
          </a:p>
        </p:txBody>
      </p:sp>
      <p:sp>
        <p:nvSpPr>
          <p:cNvPr id="10" name="card-402"/>
          <p:cNvSpPr/>
          <p:nvPr/>
        </p:nvSpPr>
        <p:spPr>
          <a:xfrm>
            <a:off x="4338218" y="1600200"/>
            <a:ext cx="3515258" cy="2194560"/>
          </a:xfrm>
          <a:prstGeom prst="roundRect">
            <a:avLst>
              <a:gd name="adj" fmla="val 3333"/>
            </a:avLst>
          </a:prstGeom>
          <a:solidFill>
            <a:schemeClr val="bg2"/>
          </a:solidFill>
          <a:ln w="12700">
            <a:solidFill>
              <a:schemeClr val="bg2"/>
            </a:solidFill>
            <a:prstDash val="solid"/>
          </a:ln>
        </p:spPr>
      </p:sp>
      <p:sp>
        <p:nvSpPr>
          <p:cNvPr id="11" name="badge-403"/>
          <p:cNvSpPr/>
          <p:nvPr/>
        </p:nvSpPr>
        <p:spPr>
          <a:xfrm>
            <a:off x="4521098" y="1783080"/>
            <a:ext cx="420624" cy="420624"/>
          </a:xfrm>
          <a:prstGeom prst="ellipse">
            <a:avLst/>
          </a:prstGeom>
          <a:solidFill>
            <a:schemeClr val="accent1"/>
          </a:solidFill>
          <a:ln w="12700">
            <a:solidFill>
              <a:schemeClr val="accent1"/>
            </a:solidFill>
            <a:prstDash val="solid"/>
          </a:ln>
        </p:spPr>
      </p:sp>
      <p:sp>
        <p:nvSpPr>
          <p:cNvPr id="12" name="badgetxt-404"/>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405"/>
          <p:cNvSpPr txBox="1"/>
          <p:nvPr/>
        </p:nvSpPr>
        <p:spPr>
          <a:xfrm>
            <a:off x="5069738"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Implied rules</a:t>
            </a:r>
            <a:endParaRPr lang="en-US" sz="1800" dirty="0"/>
          </a:p>
        </p:txBody>
      </p:sp>
      <p:sp>
        <p:nvSpPr>
          <p:cNvPr id="14" name="cardb-406"/>
          <p:cNvSpPr txBox="1"/>
          <p:nvPr/>
        </p:nvSpPr>
        <p:spPr>
          <a:xfrm>
            <a:off x="4566818"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Every VPC has an implied deny-all ingress and allow-all egress at priority 65535. We add explicit deny-all egress too.</a:t>
            </a:r>
            <a:endParaRPr lang="en-US" sz="1600" dirty="0"/>
          </a:p>
        </p:txBody>
      </p:sp>
      <p:sp>
        <p:nvSpPr>
          <p:cNvPr id="15" name="card-407"/>
          <p:cNvSpPr/>
          <p:nvPr/>
        </p:nvSpPr>
        <p:spPr>
          <a:xfrm>
            <a:off x="8127797" y="1600200"/>
            <a:ext cx="3515258" cy="2194560"/>
          </a:xfrm>
          <a:prstGeom prst="roundRect">
            <a:avLst>
              <a:gd name="adj" fmla="val 3333"/>
            </a:avLst>
          </a:prstGeom>
          <a:solidFill>
            <a:schemeClr val="bg2"/>
          </a:solidFill>
          <a:ln w="12700">
            <a:solidFill>
              <a:schemeClr val="bg2"/>
            </a:solidFill>
            <a:prstDash val="solid"/>
          </a:ln>
        </p:spPr>
      </p:sp>
      <p:sp>
        <p:nvSpPr>
          <p:cNvPr id="16" name="badge-408"/>
          <p:cNvSpPr/>
          <p:nvPr/>
        </p:nvSpPr>
        <p:spPr>
          <a:xfrm>
            <a:off x="8310677" y="1783080"/>
            <a:ext cx="420624" cy="420624"/>
          </a:xfrm>
          <a:prstGeom prst="ellipse">
            <a:avLst/>
          </a:prstGeom>
          <a:solidFill>
            <a:schemeClr val="accent1"/>
          </a:solidFill>
          <a:ln w="12700">
            <a:solidFill>
              <a:schemeClr val="accent1"/>
            </a:solidFill>
            <a:prstDash val="solid"/>
          </a:ln>
        </p:spPr>
      </p:sp>
      <p:sp>
        <p:nvSpPr>
          <p:cNvPr id="17" name="badgetxt-409"/>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410"/>
          <p:cNvSpPr txBox="1"/>
          <p:nvPr/>
        </p:nvSpPr>
        <p:spPr>
          <a:xfrm>
            <a:off x="8859317"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Priority</a:t>
            </a:r>
            <a:endParaRPr lang="en-US" sz="1800" dirty="0"/>
          </a:p>
        </p:txBody>
      </p:sp>
      <p:sp>
        <p:nvSpPr>
          <p:cNvPr id="19" name="cardb-411"/>
          <p:cNvSpPr txBox="1"/>
          <p:nvPr/>
        </p:nvSpPr>
        <p:spPr>
          <a:xfrm>
            <a:off x="8356397"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0–65535, lower wins. On a tie, deny beats allow. The first matching rule decides; later rules are ignored.</a:t>
            </a:r>
            <a:endParaRPr lang="en-US" sz="1600" dirty="0"/>
          </a:p>
        </p:txBody>
      </p:sp>
      <p:sp>
        <p:nvSpPr>
          <p:cNvPr id="20" name="card-412"/>
          <p:cNvSpPr/>
          <p:nvPr/>
        </p:nvSpPr>
        <p:spPr>
          <a:xfrm>
            <a:off x="548640" y="4069080"/>
            <a:ext cx="3515258" cy="2194560"/>
          </a:xfrm>
          <a:prstGeom prst="roundRect">
            <a:avLst>
              <a:gd name="adj" fmla="val 3333"/>
            </a:avLst>
          </a:prstGeom>
          <a:solidFill>
            <a:schemeClr val="bg2"/>
          </a:solidFill>
          <a:ln w="12700">
            <a:solidFill>
              <a:schemeClr val="bg2"/>
            </a:solidFill>
            <a:prstDash val="solid"/>
          </a:ln>
        </p:spPr>
      </p:sp>
      <p:sp>
        <p:nvSpPr>
          <p:cNvPr id="21" name="badge-413"/>
          <p:cNvSpPr/>
          <p:nvPr/>
        </p:nvSpPr>
        <p:spPr>
          <a:xfrm>
            <a:off x="731520" y="4251960"/>
            <a:ext cx="420624" cy="420624"/>
          </a:xfrm>
          <a:prstGeom prst="ellipse">
            <a:avLst/>
          </a:prstGeom>
          <a:solidFill>
            <a:schemeClr val="accent1"/>
          </a:solidFill>
          <a:ln w="12700">
            <a:solidFill>
              <a:schemeClr val="accent1"/>
            </a:solidFill>
            <a:prstDash val="solid"/>
          </a:ln>
        </p:spPr>
      </p:sp>
      <p:sp>
        <p:nvSpPr>
          <p:cNvPr id="22" name="badgetxt-414"/>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415"/>
          <p:cNvSpPr txBox="1"/>
          <p:nvPr/>
        </p:nvSpPr>
        <p:spPr>
          <a:xfrm>
            <a:off x="1280160"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Targets</a:t>
            </a:r>
            <a:endParaRPr lang="en-US" sz="1800" dirty="0"/>
          </a:p>
        </p:txBody>
      </p:sp>
      <p:sp>
        <p:nvSpPr>
          <p:cNvPr id="24" name="cardb-416"/>
          <p:cNvSpPr txBox="1"/>
          <p:nvPr/>
        </p:nvSpPr>
        <p:spPr>
          <a:xfrm>
            <a:off x="777240"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All instances, network tags, or service accounts. SAs are stronger: changing a VM's SA needs more privilege than editing a tag.</a:t>
            </a:r>
            <a:endParaRPr lang="en-US" sz="1600" dirty="0"/>
          </a:p>
        </p:txBody>
      </p:sp>
      <p:sp>
        <p:nvSpPr>
          <p:cNvPr id="25" name="card-417"/>
          <p:cNvSpPr/>
          <p:nvPr/>
        </p:nvSpPr>
        <p:spPr>
          <a:xfrm>
            <a:off x="4338218" y="4069080"/>
            <a:ext cx="3515258" cy="2194560"/>
          </a:xfrm>
          <a:prstGeom prst="roundRect">
            <a:avLst>
              <a:gd name="adj" fmla="val 3333"/>
            </a:avLst>
          </a:prstGeom>
          <a:solidFill>
            <a:schemeClr val="bg2"/>
          </a:solidFill>
          <a:ln w="12700">
            <a:solidFill>
              <a:schemeClr val="bg2"/>
            </a:solidFill>
            <a:prstDash val="solid"/>
          </a:ln>
        </p:spPr>
      </p:sp>
      <p:sp>
        <p:nvSpPr>
          <p:cNvPr id="26" name="badge-418"/>
          <p:cNvSpPr/>
          <p:nvPr/>
        </p:nvSpPr>
        <p:spPr>
          <a:xfrm>
            <a:off x="4521098" y="4251960"/>
            <a:ext cx="420624" cy="420624"/>
          </a:xfrm>
          <a:prstGeom prst="ellipse">
            <a:avLst/>
          </a:prstGeom>
          <a:solidFill>
            <a:schemeClr val="accent1"/>
          </a:solidFill>
          <a:ln w="12700">
            <a:solidFill>
              <a:schemeClr val="accent1"/>
            </a:solidFill>
            <a:prstDash val="solid"/>
          </a:ln>
        </p:spPr>
      </p:sp>
      <p:sp>
        <p:nvSpPr>
          <p:cNvPr id="27" name="badgetxt-419"/>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cardh-420"/>
          <p:cNvSpPr txBox="1"/>
          <p:nvPr/>
        </p:nvSpPr>
        <p:spPr>
          <a:xfrm>
            <a:off x="5069738"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Direction</a:t>
            </a:r>
            <a:endParaRPr lang="en-US" sz="1800" dirty="0"/>
          </a:p>
        </p:txBody>
      </p:sp>
      <p:sp>
        <p:nvSpPr>
          <p:cNvPr id="29" name="cardb-421"/>
          <p:cNvSpPr txBox="1"/>
          <p:nvPr/>
        </p:nvSpPr>
        <p:spPr>
          <a:xfrm>
            <a:off x="4566818"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Ingress rules use source ranges; egress rules use destination ranges. Both can target SAs.</a:t>
            </a:r>
            <a:endParaRPr lang="en-US" sz="1600" dirty="0"/>
          </a:p>
        </p:txBody>
      </p:sp>
      <p:sp>
        <p:nvSpPr>
          <p:cNvPr id="30" name="card-422"/>
          <p:cNvSpPr/>
          <p:nvPr/>
        </p:nvSpPr>
        <p:spPr>
          <a:xfrm>
            <a:off x="8127797" y="4069080"/>
            <a:ext cx="3515258" cy="2194560"/>
          </a:xfrm>
          <a:prstGeom prst="roundRect">
            <a:avLst>
              <a:gd name="adj" fmla="val 3333"/>
            </a:avLst>
          </a:prstGeom>
          <a:solidFill>
            <a:schemeClr val="bg2"/>
          </a:solidFill>
          <a:ln w="12700">
            <a:solidFill>
              <a:schemeClr val="bg2"/>
            </a:solidFill>
            <a:prstDash val="solid"/>
          </a:ln>
        </p:spPr>
      </p:sp>
      <p:sp>
        <p:nvSpPr>
          <p:cNvPr id="31" name="badge-423"/>
          <p:cNvSpPr/>
          <p:nvPr/>
        </p:nvSpPr>
        <p:spPr>
          <a:xfrm>
            <a:off x="8310677" y="4251960"/>
            <a:ext cx="420624" cy="420624"/>
          </a:xfrm>
          <a:prstGeom prst="ellipse">
            <a:avLst/>
          </a:prstGeom>
          <a:solidFill>
            <a:schemeClr val="accent1"/>
          </a:solidFill>
          <a:ln w="12700">
            <a:solidFill>
              <a:schemeClr val="accent1"/>
            </a:solidFill>
            <a:prstDash val="solid"/>
          </a:ln>
        </p:spPr>
      </p:sp>
      <p:sp>
        <p:nvSpPr>
          <p:cNvPr id="32" name="badgetxt-424"/>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cardh-425"/>
          <p:cNvSpPr txBox="1"/>
          <p:nvPr/>
        </p:nvSpPr>
        <p:spPr>
          <a:xfrm>
            <a:off x="8859317"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Logging</a:t>
            </a:r>
            <a:endParaRPr lang="en-US" sz="1800" dirty="0"/>
          </a:p>
        </p:txBody>
      </p:sp>
      <p:sp>
        <p:nvSpPr>
          <p:cNvPr id="34" name="cardb-426"/>
          <p:cNvSpPr txBox="1"/>
          <p:nvPr/>
        </p:nvSpPr>
        <p:spPr>
          <a:xfrm>
            <a:off x="8356397"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Per rule, records allowed or denied connections with rule name and disposition. Essential for proving controls.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ag-42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4 · NETWORK PEERING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How peering was built and tested</a:t>
            </a:r>
            <a:endParaRPr lang="en-US" sz="3200" dirty="0"/>
          </a:p>
        </p:txBody>
      </p:sp>
      <p:sp>
        <p:nvSpPr>
          <p:cNvPr id="4" name="step-428"/>
          <p:cNvSpPr/>
          <p:nvPr/>
        </p:nvSpPr>
        <p:spPr>
          <a:xfrm>
            <a:off x="548640" y="1920240"/>
            <a:ext cx="2464994" cy="2651760"/>
          </a:xfrm>
          <a:prstGeom prst="roundRect">
            <a:avLst>
              <a:gd name="adj" fmla="val 2968"/>
            </a:avLst>
          </a:prstGeom>
          <a:solidFill>
            <a:schemeClr val="bg2"/>
          </a:solidFill>
          <a:ln w="15875">
            <a:solidFill>
              <a:schemeClr val="accent1"/>
            </a:solidFill>
            <a:prstDash val="solid"/>
          </a:ln>
        </p:spPr>
      </p:sp>
      <p:sp>
        <p:nvSpPr>
          <p:cNvPr id="5" name="badge-429"/>
          <p:cNvSpPr/>
          <p:nvPr/>
        </p:nvSpPr>
        <p:spPr>
          <a:xfrm>
            <a:off x="1570825" y="1709928"/>
            <a:ext cx="420624" cy="420624"/>
          </a:xfrm>
          <a:prstGeom prst="ellipse">
            <a:avLst/>
          </a:prstGeom>
          <a:solidFill>
            <a:schemeClr val="accent1"/>
          </a:solidFill>
          <a:ln w="12700">
            <a:solidFill>
              <a:schemeClr val="accent1"/>
            </a:solidFill>
            <a:prstDash val="solid"/>
          </a:ln>
        </p:spPr>
      </p:sp>
      <p:sp>
        <p:nvSpPr>
          <p:cNvPr id="6" name="badgetxt-430"/>
          <p:cNvSpPr txBox="1"/>
          <p:nvPr/>
        </p:nvSpPr>
        <p:spPr>
          <a:xfrm>
            <a:off x="1570825"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steph-431"/>
          <p:cNvSpPr txBox="1"/>
          <p:nvPr/>
        </p:nvSpPr>
        <p:spPr>
          <a:xfrm>
            <a:off x="658368" y="2240280"/>
            <a:ext cx="2245538" cy="640080"/>
          </a:xfrm>
          <a:prstGeom prst="rect">
            <a:avLst/>
          </a:prstGeom>
          <a:noFill/>
          <a:ln/>
        </p:spPr>
        <p:txBody>
          <a:bodyPr wrap="square" lIns="0" tIns="0" rIns="0" bIns="0" rtlCol="0" anchor="ctr"/>
          <a:lstStyle/>
          <a:p>
            <a:pPr algn="ctr" indent="0" marL="0">
              <a:buNone/>
            </a:pPr>
            <a:r>
              <a:rPr lang="en-US" sz="1700" b="1" dirty="0">
                <a:solidFill>
                  <a:schemeClr val="tx2"/>
                </a:solidFill>
              </a:rPr>
              <a:t>Tenant VPCs</a:t>
            </a:r>
            <a:endParaRPr lang="en-US" sz="1700" dirty="0"/>
          </a:p>
        </p:txBody>
      </p:sp>
      <p:sp>
        <p:nvSpPr>
          <p:cNvPr id="8" name="stepb-432"/>
          <p:cNvSpPr txBox="1"/>
          <p:nvPr/>
        </p:nvSpPr>
        <p:spPr>
          <a:xfrm>
            <a:off x="685800" y="2926080"/>
            <a:ext cx="2190674" cy="1554480"/>
          </a:xfrm>
          <a:prstGeom prst="rect">
            <a:avLst/>
          </a:prstGeom>
          <a:noFill/>
          <a:ln/>
        </p:spPr>
        <p:txBody>
          <a:bodyPr wrap="square" lIns="0" tIns="0" rIns="0" bIns="0" rtlCol="0" anchor="t"/>
          <a:lstStyle/>
          <a:p>
            <a:pPr algn="l" indent="0" marL="0">
              <a:buNone/>
            </a:pPr>
            <a:r>
              <a:rPr lang="en-US" sz="1600" dirty="0">
                <a:solidFill>
                  <a:schemeClr val="tx1"/>
                </a:solidFill>
              </a:rPr>
              <a:t>Same vpc module with REGIONAL routing, one /20 each, own project. Flow logs on.</a:t>
            </a:r>
            <a:endParaRPr lang="en-US" sz="1600" dirty="0"/>
          </a:p>
        </p:txBody>
      </p:sp>
      <p:sp>
        <p:nvSpPr>
          <p:cNvPr id="9" name="arrow-433"/>
          <p:cNvSpPr/>
          <p:nvPr/>
        </p:nvSpPr>
        <p:spPr>
          <a:xfrm>
            <a:off x="3077642" y="3108960"/>
            <a:ext cx="283464" cy="274320"/>
          </a:xfrm>
          <a:prstGeom prst="rightArrow">
            <a:avLst/>
          </a:prstGeom>
          <a:solidFill>
            <a:schemeClr val="accent2"/>
          </a:solidFill>
          <a:ln w="12700">
            <a:solidFill>
              <a:schemeClr val="accent2"/>
            </a:solidFill>
            <a:prstDash val="solid"/>
          </a:ln>
        </p:spPr>
      </p:sp>
      <p:sp>
        <p:nvSpPr>
          <p:cNvPr id="10" name="step-434"/>
          <p:cNvSpPr/>
          <p:nvPr/>
        </p:nvSpPr>
        <p:spPr>
          <a:xfrm>
            <a:off x="3425114" y="1920240"/>
            <a:ext cx="2464994" cy="2651760"/>
          </a:xfrm>
          <a:prstGeom prst="roundRect">
            <a:avLst>
              <a:gd name="adj" fmla="val 2968"/>
            </a:avLst>
          </a:prstGeom>
          <a:solidFill>
            <a:schemeClr val="bg2"/>
          </a:solidFill>
          <a:ln w="15875">
            <a:solidFill>
              <a:schemeClr val="accent1"/>
            </a:solidFill>
            <a:prstDash val="solid"/>
          </a:ln>
        </p:spPr>
      </p:sp>
      <p:sp>
        <p:nvSpPr>
          <p:cNvPr id="11" name="badge-435"/>
          <p:cNvSpPr/>
          <p:nvPr/>
        </p:nvSpPr>
        <p:spPr>
          <a:xfrm>
            <a:off x="4447299" y="1709928"/>
            <a:ext cx="420624" cy="420624"/>
          </a:xfrm>
          <a:prstGeom prst="ellipse">
            <a:avLst/>
          </a:prstGeom>
          <a:solidFill>
            <a:schemeClr val="accent1"/>
          </a:solidFill>
          <a:ln w="12700">
            <a:solidFill>
              <a:schemeClr val="accent1"/>
            </a:solidFill>
            <a:prstDash val="solid"/>
          </a:ln>
        </p:spPr>
      </p:sp>
      <p:sp>
        <p:nvSpPr>
          <p:cNvPr id="12" name="badgetxt-436"/>
          <p:cNvSpPr txBox="1"/>
          <p:nvPr/>
        </p:nvSpPr>
        <p:spPr>
          <a:xfrm>
            <a:off x="4447299"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steph-437"/>
          <p:cNvSpPr txBox="1"/>
          <p:nvPr/>
        </p:nvSpPr>
        <p:spPr>
          <a:xfrm>
            <a:off x="3534842" y="2240280"/>
            <a:ext cx="2245538" cy="640080"/>
          </a:xfrm>
          <a:prstGeom prst="rect">
            <a:avLst/>
          </a:prstGeom>
          <a:noFill/>
          <a:ln/>
        </p:spPr>
        <p:txBody>
          <a:bodyPr wrap="square" lIns="0" tIns="0" rIns="0" bIns="0" rtlCol="0" anchor="ctr"/>
          <a:lstStyle/>
          <a:p>
            <a:pPr algn="ctr" indent="0" marL="0">
              <a:buNone/>
            </a:pPr>
            <a:r>
              <a:rPr lang="en-US" sz="1700" b="1" dirty="0">
                <a:solidFill>
                  <a:schemeClr val="tx2"/>
                </a:solidFill>
              </a:rPr>
              <a:t>Chained peerings</a:t>
            </a:r>
            <a:endParaRPr lang="en-US" sz="1700" dirty="0"/>
          </a:p>
        </p:txBody>
      </p:sp>
      <p:sp>
        <p:nvSpPr>
          <p:cNvPr id="14" name="stepb-438"/>
          <p:cNvSpPr txBox="1"/>
          <p:nvPr/>
        </p:nvSpPr>
        <p:spPr>
          <a:xfrm>
            <a:off x="3562274" y="2926080"/>
            <a:ext cx="2190674" cy="1554480"/>
          </a:xfrm>
          <a:prstGeom prst="rect">
            <a:avLst/>
          </a:prstGeom>
          <a:noFill/>
          <a:ln/>
        </p:spPr>
        <p:txBody>
          <a:bodyPr wrap="square" lIns="0" tIns="0" rIns="0" bIns="0" rtlCol="0" anchor="t"/>
          <a:lstStyle/>
          <a:p>
            <a:pPr algn="l" indent="0" marL="0">
              <a:buNone/>
            </a:pPr>
            <a:r>
              <a:rPr lang="en-US" sz="1600" dirty="0">
                <a:solidFill>
                  <a:schemeClr val="tx1"/>
                </a:solidFill>
              </a:rPr>
              <a:t>Four peering resources linked with depends_on: GCP rejects concurrent peering operations on one network.</a:t>
            </a:r>
            <a:endParaRPr lang="en-US" sz="1600" dirty="0"/>
          </a:p>
        </p:txBody>
      </p:sp>
      <p:sp>
        <p:nvSpPr>
          <p:cNvPr id="15" name="arrow-439"/>
          <p:cNvSpPr/>
          <p:nvPr/>
        </p:nvSpPr>
        <p:spPr>
          <a:xfrm>
            <a:off x="5954116" y="3108960"/>
            <a:ext cx="283464" cy="274320"/>
          </a:xfrm>
          <a:prstGeom prst="rightArrow">
            <a:avLst/>
          </a:prstGeom>
          <a:solidFill>
            <a:schemeClr val="accent2"/>
          </a:solidFill>
          <a:ln w="12700">
            <a:solidFill>
              <a:schemeClr val="accent2"/>
            </a:solidFill>
            <a:prstDash val="solid"/>
          </a:ln>
        </p:spPr>
      </p:sp>
      <p:sp>
        <p:nvSpPr>
          <p:cNvPr id="16" name="step-440"/>
          <p:cNvSpPr/>
          <p:nvPr/>
        </p:nvSpPr>
        <p:spPr>
          <a:xfrm>
            <a:off x="6301588" y="1920240"/>
            <a:ext cx="2464994" cy="2651760"/>
          </a:xfrm>
          <a:prstGeom prst="roundRect">
            <a:avLst>
              <a:gd name="adj" fmla="val 2968"/>
            </a:avLst>
          </a:prstGeom>
          <a:solidFill>
            <a:schemeClr val="tx2"/>
          </a:solidFill>
          <a:ln w="15875">
            <a:solidFill>
              <a:schemeClr val="accent1"/>
            </a:solidFill>
            <a:prstDash val="solid"/>
          </a:ln>
        </p:spPr>
      </p:sp>
      <p:sp>
        <p:nvSpPr>
          <p:cNvPr id="17" name="badge-441"/>
          <p:cNvSpPr/>
          <p:nvPr/>
        </p:nvSpPr>
        <p:spPr>
          <a:xfrm>
            <a:off x="7323773" y="1709928"/>
            <a:ext cx="420624" cy="420624"/>
          </a:xfrm>
          <a:prstGeom prst="ellipse">
            <a:avLst/>
          </a:prstGeom>
          <a:solidFill>
            <a:schemeClr val="accent2"/>
          </a:solidFill>
          <a:ln w="12700">
            <a:solidFill>
              <a:schemeClr val="accent2"/>
            </a:solidFill>
            <a:prstDash val="solid"/>
          </a:ln>
        </p:spPr>
      </p:sp>
      <p:sp>
        <p:nvSpPr>
          <p:cNvPr id="18" name="badgetxt-442"/>
          <p:cNvSpPr txBox="1"/>
          <p:nvPr/>
        </p:nvSpPr>
        <p:spPr>
          <a:xfrm>
            <a:off x="7323773"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steph-443"/>
          <p:cNvSpPr txBox="1"/>
          <p:nvPr/>
        </p:nvSpPr>
        <p:spPr>
          <a:xfrm>
            <a:off x="6411316" y="2240280"/>
            <a:ext cx="2245538" cy="640080"/>
          </a:xfrm>
          <a:prstGeom prst="rect">
            <a:avLst/>
          </a:prstGeom>
          <a:noFill/>
          <a:ln/>
        </p:spPr>
        <p:txBody>
          <a:bodyPr wrap="square" lIns="0" tIns="0" rIns="0" bIns="0" rtlCol="0" anchor="ctr"/>
          <a:lstStyle/>
          <a:p>
            <a:pPr algn="ctr" indent="0" marL="0">
              <a:buNone/>
            </a:pPr>
            <a:r>
              <a:rPr lang="en-US" sz="1700" b="1" dirty="0">
                <a:solidFill>
                  <a:schemeClr val="bg1"/>
                </a:solidFill>
              </a:rPr>
              <a:t>Firewall rules</a:t>
            </a:r>
            <a:endParaRPr lang="en-US" sz="1700" dirty="0"/>
          </a:p>
        </p:txBody>
      </p:sp>
      <p:sp>
        <p:nvSpPr>
          <p:cNvPr id="20" name="stepb-444"/>
          <p:cNvSpPr txBox="1"/>
          <p:nvPr/>
        </p:nvSpPr>
        <p:spPr>
          <a:xfrm>
            <a:off x="6438748" y="2926080"/>
            <a:ext cx="2190674" cy="1554480"/>
          </a:xfrm>
          <a:prstGeom prst="rect">
            <a:avLst/>
          </a:prstGeom>
          <a:noFill/>
          <a:ln/>
        </p:spPr>
        <p:txBody>
          <a:bodyPr wrap="square" lIns="0" tIns="0" rIns="0" bIns="0" rtlCol="0" anchor="t"/>
          <a:lstStyle/>
          <a:p>
            <a:pPr algn="l" indent="0" marL="0">
              <a:buNone/>
            </a:pPr>
            <a:r>
              <a:rPr lang="en-US" sz="1600" dirty="0">
                <a:solidFill>
                  <a:schemeClr val="bg1"/>
                </a:solidFill>
              </a:rPr>
              <a:t>IAP SSH; tenant → shared-svc :443 (target sa-shared-svc); shared-svc → tenant callbacks :443.</a:t>
            </a:r>
            <a:endParaRPr lang="en-US" sz="1600" dirty="0"/>
          </a:p>
        </p:txBody>
      </p:sp>
      <p:sp>
        <p:nvSpPr>
          <p:cNvPr id="21" name="arrow-445"/>
          <p:cNvSpPr/>
          <p:nvPr/>
        </p:nvSpPr>
        <p:spPr>
          <a:xfrm>
            <a:off x="8830589" y="3108960"/>
            <a:ext cx="283464" cy="274320"/>
          </a:xfrm>
          <a:prstGeom prst="rightArrow">
            <a:avLst/>
          </a:prstGeom>
          <a:solidFill>
            <a:schemeClr val="accent2"/>
          </a:solidFill>
          <a:ln w="12700">
            <a:solidFill>
              <a:schemeClr val="accent2"/>
            </a:solidFill>
            <a:prstDash val="solid"/>
          </a:ln>
        </p:spPr>
      </p:sp>
      <p:sp>
        <p:nvSpPr>
          <p:cNvPr id="22" name="step-446"/>
          <p:cNvSpPr/>
          <p:nvPr/>
        </p:nvSpPr>
        <p:spPr>
          <a:xfrm>
            <a:off x="9178061" y="1920240"/>
            <a:ext cx="2464994" cy="2651760"/>
          </a:xfrm>
          <a:prstGeom prst="roundRect">
            <a:avLst>
              <a:gd name="adj" fmla="val 2968"/>
            </a:avLst>
          </a:prstGeom>
          <a:solidFill>
            <a:schemeClr val="bg2"/>
          </a:solidFill>
          <a:ln w="15875">
            <a:solidFill>
              <a:schemeClr val="accent1"/>
            </a:solidFill>
            <a:prstDash val="solid"/>
          </a:ln>
        </p:spPr>
      </p:sp>
      <p:sp>
        <p:nvSpPr>
          <p:cNvPr id="23" name="badge-447"/>
          <p:cNvSpPr/>
          <p:nvPr/>
        </p:nvSpPr>
        <p:spPr>
          <a:xfrm>
            <a:off x="10200246" y="1709928"/>
            <a:ext cx="420624" cy="420624"/>
          </a:xfrm>
          <a:prstGeom prst="ellipse">
            <a:avLst/>
          </a:prstGeom>
          <a:solidFill>
            <a:schemeClr val="accent1"/>
          </a:solidFill>
          <a:ln w="12700">
            <a:solidFill>
              <a:schemeClr val="accent1"/>
            </a:solidFill>
            <a:prstDash val="solid"/>
          </a:ln>
        </p:spPr>
      </p:sp>
      <p:sp>
        <p:nvSpPr>
          <p:cNvPr id="24" name="badgetxt-448"/>
          <p:cNvSpPr txBox="1"/>
          <p:nvPr/>
        </p:nvSpPr>
        <p:spPr>
          <a:xfrm>
            <a:off x="10200246"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steph-449"/>
          <p:cNvSpPr txBox="1"/>
          <p:nvPr/>
        </p:nvSpPr>
        <p:spPr>
          <a:xfrm>
            <a:off x="9287789" y="2240280"/>
            <a:ext cx="2245538" cy="640080"/>
          </a:xfrm>
          <a:prstGeom prst="rect">
            <a:avLst/>
          </a:prstGeom>
          <a:noFill/>
          <a:ln/>
        </p:spPr>
        <p:txBody>
          <a:bodyPr wrap="square" lIns="0" tIns="0" rIns="0" bIns="0" rtlCol="0" anchor="ctr"/>
          <a:lstStyle/>
          <a:p>
            <a:pPr algn="ctr" indent="0" marL="0">
              <a:buNone/>
            </a:pPr>
            <a:r>
              <a:rPr lang="en-US" sz="1700" b="1" dirty="0">
                <a:solidFill>
                  <a:schemeClr val="tx2"/>
                </a:solidFill>
              </a:rPr>
              <a:t>Connectivity tests</a:t>
            </a:r>
            <a:endParaRPr lang="en-US" sz="1700" dirty="0"/>
          </a:p>
        </p:txBody>
      </p:sp>
      <p:sp>
        <p:nvSpPr>
          <p:cNvPr id="26" name="stepb-450"/>
          <p:cNvSpPr txBox="1"/>
          <p:nvPr/>
        </p:nvSpPr>
        <p:spPr>
          <a:xfrm>
            <a:off x="9315221" y="2926080"/>
            <a:ext cx="2190674" cy="1554480"/>
          </a:xfrm>
          <a:prstGeom prst="rect">
            <a:avLst/>
          </a:prstGeom>
          <a:noFill/>
          <a:ln/>
        </p:spPr>
        <p:txBody>
          <a:bodyPr wrap="square" lIns="0" tIns="0" rIns="0" bIns="0" rtlCol="0" anchor="t"/>
          <a:lstStyle/>
          <a:p>
            <a:pPr algn="l" indent="0" marL="0">
              <a:buNone/>
            </a:pPr>
            <a:r>
              <a:rPr lang="en-US" sz="1600" dirty="0">
                <a:solidFill>
                  <a:schemeClr val="tx1"/>
                </a:solidFill>
              </a:rPr>
              <a:t>Script creates VMs, probes TCP paths over IAP and checks: tenant→svc OPEN, tenant↔tenant BLOCKED. 7/7.</a:t>
            </a:r>
            <a:endParaRPr lang="en-US" sz="1600" dirty="0"/>
          </a:p>
        </p:txBody>
      </p:sp>
      <p:sp>
        <p:nvSpPr>
          <p:cNvPr id="27" name="belowbox-451"/>
          <p:cNvSpPr/>
          <p:nvPr/>
        </p:nvSpPr>
        <p:spPr>
          <a:xfrm>
            <a:off x="548640" y="4892040"/>
            <a:ext cx="11094415" cy="1371600"/>
          </a:xfrm>
          <a:prstGeom prst="roundRect">
            <a:avLst>
              <a:gd name="adj" fmla="val 4000"/>
            </a:avLst>
          </a:prstGeom>
          <a:solidFill>
            <a:schemeClr val="bg2"/>
          </a:solidFill>
          <a:ln w="12700">
            <a:solidFill>
              <a:schemeClr val="bg2"/>
            </a:solidFill>
            <a:prstDash val="solid"/>
          </a:ln>
        </p:spPr>
      </p:sp>
      <p:sp>
        <p:nvSpPr>
          <p:cNvPr id="28" name="below-452"/>
          <p:cNvSpPr txBox="1"/>
          <p:nvPr/>
        </p:nvSpPr>
        <p:spPr>
          <a:xfrm>
            <a:off x="822960" y="4983480"/>
            <a:ext cx="10545775" cy="1188720"/>
          </a:xfrm>
          <a:prstGeom prst="rect">
            <a:avLst/>
          </a:prstGeom>
          <a:noFill/>
          <a:ln/>
        </p:spPr>
        <p:txBody>
          <a:bodyPr wrap="square" lIns="0" tIns="0" rIns="0" bIns="0" rtlCol="0" anchor="ctr"/>
          <a:lstStyle/>
          <a:p>
            <a:pPr indent="0" marL="0">
              <a:buNone/>
            </a:pPr>
            <a:r>
              <a:rPr lang="en-US" sz="1600" dirty="0">
                <a:solidFill>
                  <a:schemeClr val="tx1"/>
                </a:solidFill>
              </a:rPr>
              <a:t>IAP TCP forwarding: admins SSH through Google's Identity-Aware Proxy, which connects to the VM from 35.235.240.0/20. So VMs need no public IP; only a firewall allow from that range on tcp:22, and the user needs roles/iap.tunnelResourceAccessor.</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ag-453"/>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4 · NETWORK PEERING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Lessons learned: Phase 4</a:t>
            </a:r>
            <a:endParaRPr lang="en-US" sz="3200" dirty="0"/>
          </a:p>
        </p:txBody>
      </p:sp>
      <p:graphicFrame>
        <p:nvGraphicFramePr>
          <p:cNvPr id="29" name="table-454"/>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8960"/>
                <a:gridCol w="3931920"/>
                <a:gridCol w="4050792"/>
              </a:tblGrid>
              <a:tr h="0">
                <a:tc>
                  <a:txBody>
                    <a:bodyPr/>
                    <a:lstStyle/>
                    <a:p>
                      <a:pPr indent="0" marL="0">
                        <a:buNone/>
                      </a:pPr>
                      <a:r>
                        <a:rPr lang="en-US" sz="1700" b="1" dirty="0">
                          <a:solidFill>
                            <a:schemeClr val="bg1"/>
                          </a:solidFill>
                        </a:rPr>
                        <a:t>Problem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Root cause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Fix</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Outputs showed INACTIVE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State recorded before the second side existed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terraform apply -refresh-only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Test VM 'network not found'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Plan was run but never applied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Applied, then re-ran the test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Files saved as main_(1).tf</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Cloud Shell won't overwrite on single-file upload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mv -f, or upload a zip and unzip -o</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Script 'Permission denied'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Executable bit missing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chmod +x, and git update-index --chmod=+x</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ag-455"/>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4 · NETWORK PEERING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Test yourself</a:t>
            </a:r>
            <a:endParaRPr lang="en-US" sz="3200" dirty="0"/>
          </a:p>
        </p:txBody>
      </p:sp>
      <p:sp>
        <p:nvSpPr>
          <p:cNvPr id="4" name="qcard-456"/>
          <p:cNvSpPr/>
          <p:nvPr/>
        </p:nvSpPr>
        <p:spPr>
          <a:xfrm>
            <a:off x="548640" y="1600200"/>
            <a:ext cx="3515258" cy="2194560"/>
          </a:xfrm>
          <a:prstGeom prst="roundRect">
            <a:avLst>
              <a:gd name="adj" fmla="val 3333"/>
            </a:avLst>
          </a:prstGeom>
          <a:solidFill>
            <a:schemeClr val="bg1"/>
          </a:solidFill>
          <a:ln w="15875">
            <a:solidFill>
              <a:schemeClr val="accent1"/>
            </a:solidFill>
            <a:prstDash val="solid"/>
          </a:ln>
        </p:spPr>
      </p:sp>
      <p:sp>
        <p:nvSpPr>
          <p:cNvPr id="5" name="badge-457"/>
          <p:cNvSpPr/>
          <p:nvPr/>
        </p:nvSpPr>
        <p:spPr>
          <a:xfrm>
            <a:off x="731520" y="1783080"/>
            <a:ext cx="420624" cy="420624"/>
          </a:xfrm>
          <a:prstGeom prst="ellipse">
            <a:avLst/>
          </a:prstGeom>
          <a:solidFill>
            <a:schemeClr val="accent2"/>
          </a:solidFill>
          <a:ln w="12700">
            <a:solidFill>
              <a:schemeClr val="accent2"/>
            </a:solidFill>
            <a:prstDash val="solid"/>
          </a:ln>
        </p:spPr>
      </p:sp>
      <p:sp>
        <p:nvSpPr>
          <p:cNvPr id="6" name="badgetxt-458"/>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7" name="q-459"/>
          <p:cNvSpPr txBox="1"/>
          <p:nvPr/>
        </p:nvSpPr>
        <p:spPr>
          <a:xfrm>
            <a:off x="1280160"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Peering shows INACTIVE. Why?</a:t>
            </a:r>
            <a:endParaRPr lang="en-US" sz="1600" dirty="0"/>
          </a:p>
        </p:txBody>
      </p:sp>
      <p:sp>
        <p:nvSpPr>
          <p:cNvPr id="8" name="aback-460"/>
          <p:cNvSpPr/>
          <p:nvPr/>
        </p:nvSpPr>
        <p:spPr>
          <a:xfrm>
            <a:off x="685800" y="2651760"/>
            <a:ext cx="3240938" cy="1005840"/>
          </a:xfrm>
          <a:prstGeom prst="roundRect">
            <a:avLst>
              <a:gd name="adj" fmla="val 5455"/>
            </a:avLst>
          </a:prstGeom>
          <a:solidFill>
            <a:schemeClr val="bg2"/>
          </a:solidFill>
          <a:ln w="12700">
            <a:solidFill>
              <a:schemeClr val="bg2"/>
            </a:solidFill>
            <a:prstDash val="solid"/>
          </a:ln>
        </p:spPr>
      </p:sp>
      <p:sp>
        <p:nvSpPr>
          <p:cNvPr id="9" name="a-461"/>
          <p:cNvSpPr txBox="1"/>
          <p:nvPr/>
        </p:nvSpPr>
        <p:spPr>
          <a:xfrm>
            <a:off x="822960"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Only one side exists. Both VPCs must create a peering to each other.</a:t>
            </a:r>
            <a:endParaRPr lang="en-US" sz="1500" dirty="0"/>
          </a:p>
        </p:txBody>
      </p:sp>
      <p:sp>
        <p:nvSpPr>
          <p:cNvPr id="10" name="qcard-462"/>
          <p:cNvSpPr/>
          <p:nvPr/>
        </p:nvSpPr>
        <p:spPr>
          <a:xfrm>
            <a:off x="4338218" y="1600200"/>
            <a:ext cx="3515258" cy="2194560"/>
          </a:xfrm>
          <a:prstGeom prst="roundRect">
            <a:avLst>
              <a:gd name="adj" fmla="val 3333"/>
            </a:avLst>
          </a:prstGeom>
          <a:solidFill>
            <a:schemeClr val="bg1"/>
          </a:solidFill>
          <a:ln w="15875">
            <a:solidFill>
              <a:schemeClr val="accent1"/>
            </a:solidFill>
            <a:prstDash val="solid"/>
          </a:ln>
        </p:spPr>
      </p:sp>
      <p:sp>
        <p:nvSpPr>
          <p:cNvPr id="11" name="badge-463"/>
          <p:cNvSpPr/>
          <p:nvPr/>
        </p:nvSpPr>
        <p:spPr>
          <a:xfrm>
            <a:off x="4521098" y="1783080"/>
            <a:ext cx="420624" cy="420624"/>
          </a:xfrm>
          <a:prstGeom prst="ellipse">
            <a:avLst/>
          </a:prstGeom>
          <a:solidFill>
            <a:schemeClr val="accent2"/>
          </a:solidFill>
          <a:ln w="12700">
            <a:solidFill>
              <a:schemeClr val="accent2"/>
            </a:solidFill>
            <a:prstDash val="solid"/>
          </a:ln>
        </p:spPr>
      </p:sp>
      <p:sp>
        <p:nvSpPr>
          <p:cNvPr id="12" name="badgetxt-464"/>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3" name="q-465"/>
          <p:cNvSpPr txBox="1"/>
          <p:nvPr/>
        </p:nvSpPr>
        <p:spPr>
          <a:xfrm>
            <a:off x="5069738"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Can fintech reach healthcare through the hub?</a:t>
            </a:r>
            <a:endParaRPr lang="en-US" sz="1600" dirty="0"/>
          </a:p>
        </p:txBody>
      </p:sp>
      <p:sp>
        <p:nvSpPr>
          <p:cNvPr id="14" name="aback-466"/>
          <p:cNvSpPr/>
          <p:nvPr/>
        </p:nvSpPr>
        <p:spPr>
          <a:xfrm>
            <a:off x="4475378" y="2651760"/>
            <a:ext cx="3240938" cy="1005840"/>
          </a:xfrm>
          <a:prstGeom prst="roundRect">
            <a:avLst>
              <a:gd name="adj" fmla="val 5455"/>
            </a:avLst>
          </a:prstGeom>
          <a:solidFill>
            <a:schemeClr val="bg2"/>
          </a:solidFill>
          <a:ln w="12700">
            <a:solidFill>
              <a:schemeClr val="bg2"/>
            </a:solidFill>
            <a:prstDash val="solid"/>
          </a:ln>
        </p:spPr>
      </p:sp>
      <p:sp>
        <p:nvSpPr>
          <p:cNvPr id="15" name="a-467"/>
          <p:cNvSpPr txBox="1"/>
          <p:nvPr/>
        </p:nvSpPr>
        <p:spPr>
          <a:xfrm>
            <a:off x="4612538"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No. Peering is non-transitive; there's no route.</a:t>
            </a:r>
            <a:endParaRPr lang="en-US" sz="1500" dirty="0"/>
          </a:p>
        </p:txBody>
      </p:sp>
      <p:sp>
        <p:nvSpPr>
          <p:cNvPr id="16" name="qcard-468"/>
          <p:cNvSpPr/>
          <p:nvPr/>
        </p:nvSpPr>
        <p:spPr>
          <a:xfrm>
            <a:off x="8127797" y="1600200"/>
            <a:ext cx="3515258" cy="2194560"/>
          </a:xfrm>
          <a:prstGeom prst="roundRect">
            <a:avLst>
              <a:gd name="adj" fmla="val 3333"/>
            </a:avLst>
          </a:prstGeom>
          <a:solidFill>
            <a:schemeClr val="bg1"/>
          </a:solidFill>
          <a:ln w="15875">
            <a:solidFill>
              <a:schemeClr val="accent1"/>
            </a:solidFill>
            <a:prstDash val="solid"/>
          </a:ln>
        </p:spPr>
      </p:sp>
      <p:sp>
        <p:nvSpPr>
          <p:cNvPr id="17" name="badge-469"/>
          <p:cNvSpPr/>
          <p:nvPr/>
        </p:nvSpPr>
        <p:spPr>
          <a:xfrm>
            <a:off x="8310677" y="1783080"/>
            <a:ext cx="420624" cy="420624"/>
          </a:xfrm>
          <a:prstGeom prst="ellipse">
            <a:avLst/>
          </a:prstGeom>
          <a:solidFill>
            <a:schemeClr val="accent2"/>
          </a:solidFill>
          <a:ln w="12700">
            <a:solidFill>
              <a:schemeClr val="accent2"/>
            </a:solidFill>
            <a:prstDash val="solid"/>
          </a:ln>
        </p:spPr>
      </p:sp>
      <p:sp>
        <p:nvSpPr>
          <p:cNvPr id="18" name="badgetxt-470"/>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9" name="q-471"/>
          <p:cNvSpPr txBox="1"/>
          <p:nvPr/>
        </p:nvSpPr>
        <p:spPr>
          <a:xfrm>
            <a:off x="8859317"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keep custom route exchange off?</a:t>
            </a:r>
            <a:endParaRPr lang="en-US" sz="1600" dirty="0"/>
          </a:p>
        </p:txBody>
      </p:sp>
      <p:sp>
        <p:nvSpPr>
          <p:cNvPr id="20" name="aback-472"/>
          <p:cNvSpPr/>
          <p:nvPr/>
        </p:nvSpPr>
        <p:spPr>
          <a:xfrm>
            <a:off x="8264957" y="2651760"/>
            <a:ext cx="3240938" cy="1005840"/>
          </a:xfrm>
          <a:prstGeom prst="roundRect">
            <a:avLst>
              <a:gd name="adj" fmla="val 5455"/>
            </a:avLst>
          </a:prstGeom>
          <a:solidFill>
            <a:schemeClr val="bg2"/>
          </a:solidFill>
          <a:ln w="12700">
            <a:solidFill>
              <a:schemeClr val="bg2"/>
            </a:solidFill>
            <a:prstDash val="solid"/>
          </a:ln>
        </p:spPr>
      </p:sp>
      <p:sp>
        <p:nvSpPr>
          <p:cNvPr id="21" name="a-473"/>
          <p:cNvSpPr txBox="1"/>
          <p:nvPr/>
        </p:nvSpPr>
        <p:spPr>
          <a:xfrm>
            <a:off x="8402117"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Tenants must not learn the hub's internet route or on-prem BGP routes.</a:t>
            </a:r>
            <a:endParaRPr lang="en-US" sz="1500" dirty="0"/>
          </a:p>
        </p:txBody>
      </p:sp>
      <p:sp>
        <p:nvSpPr>
          <p:cNvPr id="22" name="qcard-474"/>
          <p:cNvSpPr/>
          <p:nvPr/>
        </p:nvSpPr>
        <p:spPr>
          <a:xfrm>
            <a:off x="548640" y="4069080"/>
            <a:ext cx="3515258" cy="2194560"/>
          </a:xfrm>
          <a:prstGeom prst="roundRect">
            <a:avLst>
              <a:gd name="adj" fmla="val 3333"/>
            </a:avLst>
          </a:prstGeom>
          <a:solidFill>
            <a:schemeClr val="bg1"/>
          </a:solidFill>
          <a:ln w="15875">
            <a:solidFill>
              <a:schemeClr val="accent1"/>
            </a:solidFill>
            <a:prstDash val="solid"/>
          </a:ln>
        </p:spPr>
      </p:sp>
      <p:sp>
        <p:nvSpPr>
          <p:cNvPr id="23" name="badge-475"/>
          <p:cNvSpPr/>
          <p:nvPr/>
        </p:nvSpPr>
        <p:spPr>
          <a:xfrm>
            <a:off x="731520" y="4251960"/>
            <a:ext cx="420624" cy="420624"/>
          </a:xfrm>
          <a:prstGeom prst="ellipse">
            <a:avLst/>
          </a:prstGeom>
          <a:solidFill>
            <a:schemeClr val="accent2"/>
          </a:solidFill>
          <a:ln w="12700">
            <a:solidFill>
              <a:schemeClr val="accent2"/>
            </a:solidFill>
            <a:prstDash val="solid"/>
          </a:ln>
        </p:spPr>
      </p:sp>
      <p:sp>
        <p:nvSpPr>
          <p:cNvPr id="24" name="badgetxt-476"/>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25" name="q-477"/>
          <p:cNvSpPr txBox="1"/>
          <p:nvPr/>
        </p:nvSpPr>
        <p:spPr>
          <a:xfrm>
            <a:off x="1280160"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Allow at 1000 vs deny at 2000: which applies?</a:t>
            </a:r>
            <a:endParaRPr lang="en-US" sz="1600" dirty="0"/>
          </a:p>
        </p:txBody>
      </p:sp>
      <p:sp>
        <p:nvSpPr>
          <p:cNvPr id="26" name="aback-478"/>
          <p:cNvSpPr/>
          <p:nvPr/>
        </p:nvSpPr>
        <p:spPr>
          <a:xfrm>
            <a:off x="685800" y="5120640"/>
            <a:ext cx="3240938" cy="1005840"/>
          </a:xfrm>
          <a:prstGeom prst="roundRect">
            <a:avLst>
              <a:gd name="adj" fmla="val 5455"/>
            </a:avLst>
          </a:prstGeom>
          <a:solidFill>
            <a:schemeClr val="bg2"/>
          </a:solidFill>
          <a:ln w="12700">
            <a:solidFill>
              <a:schemeClr val="bg2"/>
            </a:solidFill>
            <a:prstDash val="solid"/>
          </a:ln>
        </p:spPr>
      </p:sp>
      <p:sp>
        <p:nvSpPr>
          <p:cNvPr id="27" name="a-479"/>
          <p:cNvSpPr txBox="1"/>
          <p:nvPr/>
        </p:nvSpPr>
        <p:spPr>
          <a:xfrm>
            <a:off x="822960"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The allow. Lower priority number wins; deny only wins a tie.</a:t>
            </a:r>
            <a:endParaRPr lang="en-US" sz="1500" dirty="0"/>
          </a:p>
        </p:txBody>
      </p:sp>
      <p:sp>
        <p:nvSpPr>
          <p:cNvPr id="28" name="qcard-480"/>
          <p:cNvSpPr/>
          <p:nvPr/>
        </p:nvSpPr>
        <p:spPr>
          <a:xfrm>
            <a:off x="4338218" y="4069080"/>
            <a:ext cx="3515258" cy="2194560"/>
          </a:xfrm>
          <a:prstGeom prst="roundRect">
            <a:avLst>
              <a:gd name="adj" fmla="val 3333"/>
            </a:avLst>
          </a:prstGeom>
          <a:solidFill>
            <a:schemeClr val="bg1"/>
          </a:solidFill>
          <a:ln w="15875">
            <a:solidFill>
              <a:schemeClr val="accent1"/>
            </a:solidFill>
            <a:prstDash val="solid"/>
          </a:ln>
        </p:spPr>
      </p:sp>
      <p:sp>
        <p:nvSpPr>
          <p:cNvPr id="29" name="badge-481"/>
          <p:cNvSpPr/>
          <p:nvPr/>
        </p:nvSpPr>
        <p:spPr>
          <a:xfrm>
            <a:off x="4521098" y="4251960"/>
            <a:ext cx="420624" cy="420624"/>
          </a:xfrm>
          <a:prstGeom prst="ellipse">
            <a:avLst/>
          </a:prstGeom>
          <a:solidFill>
            <a:schemeClr val="accent2"/>
          </a:solidFill>
          <a:ln w="12700">
            <a:solidFill>
              <a:schemeClr val="accent2"/>
            </a:solidFill>
            <a:prstDash val="solid"/>
          </a:ln>
        </p:spPr>
      </p:sp>
      <p:sp>
        <p:nvSpPr>
          <p:cNvPr id="30" name="badgetxt-482"/>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1" name="q-483"/>
          <p:cNvSpPr txBox="1"/>
          <p:nvPr/>
        </p:nvSpPr>
        <p:spPr>
          <a:xfrm>
            <a:off x="5069738"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target service accounts rather than tags?</a:t>
            </a:r>
            <a:endParaRPr lang="en-US" sz="1600" dirty="0"/>
          </a:p>
        </p:txBody>
      </p:sp>
      <p:sp>
        <p:nvSpPr>
          <p:cNvPr id="32" name="aback-484"/>
          <p:cNvSpPr/>
          <p:nvPr/>
        </p:nvSpPr>
        <p:spPr>
          <a:xfrm>
            <a:off x="4475378" y="5120640"/>
            <a:ext cx="3240938" cy="1005840"/>
          </a:xfrm>
          <a:prstGeom prst="roundRect">
            <a:avLst>
              <a:gd name="adj" fmla="val 5455"/>
            </a:avLst>
          </a:prstGeom>
          <a:solidFill>
            <a:schemeClr val="bg2"/>
          </a:solidFill>
          <a:ln w="12700">
            <a:solidFill>
              <a:schemeClr val="bg2"/>
            </a:solidFill>
            <a:prstDash val="solid"/>
          </a:ln>
        </p:spPr>
      </p:sp>
      <p:sp>
        <p:nvSpPr>
          <p:cNvPr id="33" name="a-485"/>
          <p:cNvSpPr txBox="1"/>
          <p:nvPr/>
        </p:nvSpPr>
        <p:spPr>
          <a:xfrm>
            <a:off x="4612538"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Anyone who can edit instance metadata can add a tag; changing a VM's SA needs stronger rights.</a:t>
            </a:r>
            <a:endParaRPr lang="en-US" sz="1500" dirty="0"/>
          </a:p>
        </p:txBody>
      </p:sp>
      <p:sp>
        <p:nvSpPr>
          <p:cNvPr id="34" name="qcard-486"/>
          <p:cNvSpPr/>
          <p:nvPr/>
        </p:nvSpPr>
        <p:spPr>
          <a:xfrm>
            <a:off x="8127797" y="4069080"/>
            <a:ext cx="3515258" cy="2194560"/>
          </a:xfrm>
          <a:prstGeom prst="roundRect">
            <a:avLst>
              <a:gd name="adj" fmla="val 3333"/>
            </a:avLst>
          </a:prstGeom>
          <a:solidFill>
            <a:schemeClr val="bg1"/>
          </a:solidFill>
          <a:ln w="15875">
            <a:solidFill>
              <a:schemeClr val="accent1"/>
            </a:solidFill>
            <a:prstDash val="solid"/>
          </a:ln>
        </p:spPr>
      </p:sp>
      <p:sp>
        <p:nvSpPr>
          <p:cNvPr id="35" name="badge-487"/>
          <p:cNvSpPr/>
          <p:nvPr/>
        </p:nvSpPr>
        <p:spPr>
          <a:xfrm>
            <a:off x="8310677" y="4251960"/>
            <a:ext cx="420624" cy="420624"/>
          </a:xfrm>
          <a:prstGeom prst="ellipse">
            <a:avLst/>
          </a:prstGeom>
          <a:solidFill>
            <a:schemeClr val="accent2"/>
          </a:solidFill>
          <a:ln w="12700">
            <a:solidFill>
              <a:schemeClr val="accent2"/>
            </a:solidFill>
            <a:prstDash val="solid"/>
          </a:ln>
        </p:spPr>
      </p:sp>
      <p:sp>
        <p:nvSpPr>
          <p:cNvPr id="36" name="badgetxt-488"/>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7" name="q-489"/>
          <p:cNvSpPr txBox="1"/>
          <p:nvPr/>
        </p:nvSpPr>
        <p:spPr>
          <a:xfrm>
            <a:off x="8859317"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Which range must be allowed for IAP SSH?</a:t>
            </a:r>
            <a:endParaRPr lang="en-US" sz="1600" dirty="0"/>
          </a:p>
        </p:txBody>
      </p:sp>
      <p:sp>
        <p:nvSpPr>
          <p:cNvPr id="38" name="aback-490"/>
          <p:cNvSpPr/>
          <p:nvPr/>
        </p:nvSpPr>
        <p:spPr>
          <a:xfrm>
            <a:off x="8264957" y="5120640"/>
            <a:ext cx="3240938" cy="1005840"/>
          </a:xfrm>
          <a:prstGeom prst="roundRect">
            <a:avLst>
              <a:gd name="adj" fmla="val 5455"/>
            </a:avLst>
          </a:prstGeom>
          <a:solidFill>
            <a:schemeClr val="bg2"/>
          </a:solidFill>
          <a:ln w="12700">
            <a:solidFill>
              <a:schemeClr val="bg2"/>
            </a:solidFill>
            <a:prstDash val="solid"/>
          </a:ln>
        </p:spPr>
      </p:sp>
      <p:sp>
        <p:nvSpPr>
          <p:cNvPr id="39" name="a-491"/>
          <p:cNvSpPr txBox="1"/>
          <p:nvPr/>
        </p:nvSpPr>
        <p:spPr>
          <a:xfrm>
            <a:off x="8402117"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35.235.240.0/20 on tcp:22.</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num-492"/>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05</a:t>
            </a:r>
            <a:endParaRPr lang="en-US" sz="13000" dirty="0"/>
          </a:p>
        </p:txBody>
      </p:sp>
      <p:sp>
        <p:nvSpPr>
          <p:cNvPr id="3" name="sectag-493"/>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5</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Security controls</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Turn the firewall matrix into zero trust: org-level guardrails no project can bypass, identity-targeted VPC rules in priority bands, default deny in both directions, private DNS for Google APIs, IAP + OS Login for admins, and Security Command Center.</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ag-494"/>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Firewall evaluation order</a:t>
            </a:r>
            <a:endParaRPr lang="en-US" sz="3200" dirty="0"/>
          </a:p>
        </p:txBody>
      </p:sp>
      <p:sp>
        <p:nvSpPr>
          <p:cNvPr id="5" name="step-495"/>
          <p:cNvSpPr/>
          <p:nvPr/>
        </p:nvSpPr>
        <p:spPr>
          <a:xfrm>
            <a:off x="548640" y="1920240"/>
            <a:ext cx="3423818" cy="2651760"/>
          </a:xfrm>
          <a:prstGeom prst="roundRect">
            <a:avLst>
              <a:gd name="adj" fmla="val 2759"/>
            </a:avLst>
          </a:prstGeom>
          <a:solidFill>
            <a:schemeClr val="tx2"/>
          </a:solidFill>
          <a:ln w="15875">
            <a:solidFill>
              <a:schemeClr val="accent1"/>
            </a:solidFill>
            <a:prstDash val="solid"/>
          </a:ln>
        </p:spPr>
      </p:sp>
      <p:sp>
        <p:nvSpPr>
          <p:cNvPr id="6" name="badge-496"/>
          <p:cNvSpPr/>
          <p:nvPr/>
        </p:nvSpPr>
        <p:spPr>
          <a:xfrm>
            <a:off x="2050237" y="1709928"/>
            <a:ext cx="420624" cy="420624"/>
          </a:xfrm>
          <a:prstGeom prst="ellipse">
            <a:avLst/>
          </a:prstGeom>
          <a:solidFill>
            <a:schemeClr val="accent2"/>
          </a:solidFill>
          <a:ln w="12700">
            <a:solidFill>
              <a:schemeClr val="accent2"/>
            </a:solidFill>
            <a:prstDash val="solid"/>
          </a:ln>
        </p:spPr>
      </p:sp>
      <p:sp>
        <p:nvSpPr>
          <p:cNvPr id="7" name="badgetxt-497"/>
          <p:cNvSpPr txBox="1"/>
          <p:nvPr/>
        </p:nvSpPr>
        <p:spPr>
          <a:xfrm>
            <a:off x="2050237"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steph-498"/>
          <p:cNvSpPr txBox="1"/>
          <p:nvPr/>
        </p:nvSpPr>
        <p:spPr>
          <a:xfrm>
            <a:off x="658368" y="2240280"/>
            <a:ext cx="3204362" cy="640080"/>
          </a:xfrm>
          <a:prstGeom prst="rect">
            <a:avLst/>
          </a:prstGeom>
          <a:noFill/>
          <a:ln/>
        </p:spPr>
        <p:txBody>
          <a:bodyPr wrap="square" lIns="0" tIns="0" rIns="0" bIns="0" rtlCol="0" anchor="ctr"/>
          <a:lstStyle/>
          <a:p>
            <a:pPr algn="ctr" indent="0" marL="0">
              <a:buNone/>
            </a:pPr>
            <a:r>
              <a:rPr lang="en-US" sz="1700" b="1" dirty="0">
                <a:solidFill>
                  <a:schemeClr val="bg1"/>
                </a:solidFill>
              </a:rPr>
              <a:t>Hierarchical policy</a:t>
            </a:r>
            <a:endParaRPr lang="en-US" sz="1700" dirty="0"/>
          </a:p>
        </p:txBody>
      </p:sp>
      <p:sp>
        <p:nvSpPr>
          <p:cNvPr id="9" name="stepb-499"/>
          <p:cNvSpPr txBox="1"/>
          <p:nvPr/>
        </p:nvSpPr>
        <p:spPr>
          <a:xfrm>
            <a:off x="685800" y="2926080"/>
            <a:ext cx="3149498" cy="1554480"/>
          </a:xfrm>
          <a:prstGeom prst="rect">
            <a:avLst/>
          </a:prstGeom>
          <a:noFill/>
          <a:ln/>
        </p:spPr>
        <p:txBody>
          <a:bodyPr wrap="square" lIns="0" tIns="0" rIns="0" bIns="0" rtlCol="0" anchor="t"/>
          <a:lstStyle/>
          <a:p>
            <a:pPr algn="l" indent="0" marL="0">
              <a:buNone/>
            </a:pPr>
            <a:r>
              <a:rPr lang="en-US" sz="1600" dirty="0">
                <a:solidFill>
                  <a:schemeClr val="bg1"/>
                </a:solidFill>
              </a:rPr>
              <a:t>Org or folder policy is evaluated first. Each rule says allow, deny, or goto_next (hand down).</a:t>
            </a:r>
            <a:endParaRPr lang="en-US" sz="1600" dirty="0"/>
          </a:p>
        </p:txBody>
      </p:sp>
      <p:sp>
        <p:nvSpPr>
          <p:cNvPr id="10" name="arrow-500"/>
          <p:cNvSpPr/>
          <p:nvPr/>
        </p:nvSpPr>
        <p:spPr>
          <a:xfrm>
            <a:off x="4036466" y="3108960"/>
            <a:ext cx="283464" cy="274320"/>
          </a:xfrm>
          <a:prstGeom prst="rightArrow">
            <a:avLst/>
          </a:prstGeom>
          <a:solidFill>
            <a:schemeClr val="accent2"/>
          </a:solidFill>
          <a:ln w="12700">
            <a:solidFill>
              <a:schemeClr val="accent2"/>
            </a:solidFill>
            <a:prstDash val="solid"/>
          </a:ln>
        </p:spPr>
      </p:sp>
      <p:sp>
        <p:nvSpPr>
          <p:cNvPr id="11" name="step-501"/>
          <p:cNvSpPr/>
          <p:nvPr/>
        </p:nvSpPr>
        <p:spPr>
          <a:xfrm>
            <a:off x="4383938" y="1920240"/>
            <a:ext cx="3423818" cy="2651760"/>
          </a:xfrm>
          <a:prstGeom prst="roundRect">
            <a:avLst>
              <a:gd name="adj" fmla="val 2759"/>
            </a:avLst>
          </a:prstGeom>
          <a:solidFill>
            <a:schemeClr val="bg2"/>
          </a:solidFill>
          <a:ln w="15875">
            <a:solidFill>
              <a:schemeClr val="accent1"/>
            </a:solidFill>
            <a:prstDash val="solid"/>
          </a:ln>
        </p:spPr>
      </p:sp>
      <p:sp>
        <p:nvSpPr>
          <p:cNvPr id="12" name="badge-502"/>
          <p:cNvSpPr/>
          <p:nvPr/>
        </p:nvSpPr>
        <p:spPr>
          <a:xfrm>
            <a:off x="5885536" y="1709928"/>
            <a:ext cx="420624" cy="420624"/>
          </a:xfrm>
          <a:prstGeom prst="ellipse">
            <a:avLst/>
          </a:prstGeom>
          <a:solidFill>
            <a:schemeClr val="accent1"/>
          </a:solidFill>
          <a:ln w="12700">
            <a:solidFill>
              <a:schemeClr val="accent1"/>
            </a:solidFill>
            <a:prstDash val="solid"/>
          </a:ln>
        </p:spPr>
      </p:sp>
      <p:sp>
        <p:nvSpPr>
          <p:cNvPr id="13" name="badgetxt-503"/>
          <p:cNvSpPr txBox="1"/>
          <p:nvPr/>
        </p:nvSpPr>
        <p:spPr>
          <a:xfrm>
            <a:off x="5885536"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steph-504"/>
          <p:cNvSpPr txBox="1"/>
          <p:nvPr/>
        </p:nvSpPr>
        <p:spPr>
          <a:xfrm>
            <a:off x="4493666" y="2240280"/>
            <a:ext cx="3204362" cy="640080"/>
          </a:xfrm>
          <a:prstGeom prst="rect">
            <a:avLst/>
          </a:prstGeom>
          <a:noFill/>
          <a:ln/>
        </p:spPr>
        <p:txBody>
          <a:bodyPr wrap="square" lIns="0" tIns="0" rIns="0" bIns="0" rtlCol="0" anchor="ctr"/>
          <a:lstStyle/>
          <a:p>
            <a:pPr algn="ctr" indent="0" marL="0">
              <a:buNone/>
            </a:pPr>
            <a:r>
              <a:rPr lang="en-US" sz="1700" b="1" dirty="0">
                <a:solidFill>
                  <a:schemeClr val="tx2"/>
                </a:solidFill>
              </a:rPr>
              <a:t>VPC firewall rules</a:t>
            </a:r>
            <a:endParaRPr lang="en-US" sz="1700" dirty="0"/>
          </a:p>
        </p:txBody>
      </p:sp>
      <p:sp>
        <p:nvSpPr>
          <p:cNvPr id="15" name="stepb-505"/>
          <p:cNvSpPr txBox="1"/>
          <p:nvPr/>
        </p:nvSpPr>
        <p:spPr>
          <a:xfrm>
            <a:off x="4521098" y="2926080"/>
            <a:ext cx="3149498" cy="1554480"/>
          </a:xfrm>
          <a:prstGeom prst="rect">
            <a:avLst/>
          </a:prstGeom>
          <a:noFill/>
          <a:ln/>
        </p:spPr>
        <p:txBody>
          <a:bodyPr wrap="square" lIns="0" tIns="0" rIns="0" bIns="0" rtlCol="0" anchor="t"/>
          <a:lstStyle/>
          <a:p>
            <a:pPr algn="l" indent="0" marL="0">
              <a:buNone/>
            </a:pPr>
            <a:r>
              <a:rPr lang="en-US" sz="1600" dirty="0">
                <a:solidFill>
                  <a:schemeClr val="tx1"/>
                </a:solidFill>
              </a:rPr>
              <a:t>If the org passed with goto_next, the VPC's rules are evaluated by priority, lowest first.</a:t>
            </a:r>
            <a:endParaRPr lang="en-US" sz="1600" dirty="0"/>
          </a:p>
        </p:txBody>
      </p:sp>
      <p:sp>
        <p:nvSpPr>
          <p:cNvPr id="16" name="arrow-506"/>
          <p:cNvSpPr/>
          <p:nvPr/>
        </p:nvSpPr>
        <p:spPr>
          <a:xfrm>
            <a:off x="7871765" y="3108960"/>
            <a:ext cx="283464" cy="274320"/>
          </a:xfrm>
          <a:prstGeom prst="rightArrow">
            <a:avLst/>
          </a:prstGeom>
          <a:solidFill>
            <a:schemeClr val="accent2"/>
          </a:solidFill>
          <a:ln w="12700">
            <a:solidFill>
              <a:schemeClr val="accent2"/>
            </a:solidFill>
            <a:prstDash val="solid"/>
          </a:ln>
        </p:spPr>
      </p:sp>
      <p:sp>
        <p:nvSpPr>
          <p:cNvPr id="17" name="step-507"/>
          <p:cNvSpPr/>
          <p:nvPr/>
        </p:nvSpPr>
        <p:spPr>
          <a:xfrm>
            <a:off x="8219237" y="1920240"/>
            <a:ext cx="3423818" cy="2651760"/>
          </a:xfrm>
          <a:prstGeom prst="roundRect">
            <a:avLst>
              <a:gd name="adj" fmla="val 2759"/>
            </a:avLst>
          </a:prstGeom>
          <a:solidFill>
            <a:schemeClr val="bg2"/>
          </a:solidFill>
          <a:ln w="15875">
            <a:solidFill>
              <a:schemeClr val="accent1"/>
            </a:solidFill>
            <a:prstDash val="solid"/>
          </a:ln>
        </p:spPr>
      </p:sp>
      <p:sp>
        <p:nvSpPr>
          <p:cNvPr id="18" name="badge-508"/>
          <p:cNvSpPr/>
          <p:nvPr/>
        </p:nvSpPr>
        <p:spPr>
          <a:xfrm>
            <a:off x="9720834" y="1709928"/>
            <a:ext cx="420624" cy="420624"/>
          </a:xfrm>
          <a:prstGeom prst="ellipse">
            <a:avLst/>
          </a:prstGeom>
          <a:solidFill>
            <a:schemeClr val="accent1"/>
          </a:solidFill>
          <a:ln w="12700">
            <a:solidFill>
              <a:schemeClr val="accent1"/>
            </a:solidFill>
            <a:prstDash val="solid"/>
          </a:ln>
        </p:spPr>
      </p:sp>
      <p:sp>
        <p:nvSpPr>
          <p:cNvPr id="19" name="badgetxt-509"/>
          <p:cNvSpPr txBox="1"/>
          <p:nvPr/>
        </p:nvSpPr>
        <p:spPr>
          <a:xfrm>
            <a:off x="9720834"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steph-510"/>
          <p:cNvSpPr txBox="1"/>
          <p:nvPr/>
        </p:nvSpPr>
        <p:spPr>
          <a:xfrm>
            <a:off x="8328965" y="2240280"/>
            <a:ext cx="3204362" cy="640080"/>
          </a:xfrm>
          <a:prstGeom prst="rect">
            <a:avLst/>
          </a:prstGeom>
          <a:noFill/>
          <a:ln/>
        </p:spPr>
        <p:txBody>
          <a:bodyPr wrap="square" lIns="0" tIns="0" rIns="0" bIns="0" rtlCol="0" anchor="ctr"/>
          <a:lstStyle/>
          <a:p>
            <a:pPr algn="ctr" indent="0" marL="0">
              <a:buNone/>
            </a:pPr>
            <a:r>
              <a:rPr lang="en-US" sz="1700" b="1" dirty="0">
                <a:solidFill>
                  <a:schemeClr val="tx2"/>
                </a:solidFill>
              </a:rPr>
              <a:t>Implied rules</a:t>
            </a:r>
            <a:endParaRPr lang="en-US" sz="1700" dirty="0"/>
          </a:p>
        </p:txBody>
      </p:sp>
      <p:sp>
        <p:nvSpPr>
          <p:cNvPr id="21" name="stepb-511"/>
          <p:cNvSpPr txBox="1"/>
          <p:nvPr/>
        </p:nvSpPr>
        <p:spPr>
          <a:xfrm>
            <a:off x="8356397" y="2926080"/>
            <a:ext cx="3149498" cy="1554480"/>
          </a:xfrm>
          <a:prstGeom prst="rect">
            <a:avLst/>
          </a:prstGeom>
          <a:noFill/>
          <a:ln/>
        </p:spPr>
        <p:txBody>
          <a:bodyPr wrap="square" lIns="0" tIns="0" rIns="0" bIns="0" rtlCol="0" anchor="t"/>
          <a:lstStyle/>
          <a:p>
            <a:pPr algn="l" indent="0" marL="0">
              <a:buNone/>
            </a:pPr>
            <a:r>
              <a:rPr lang="en-US" sz="1600" dirty="0">
                <a:solidFill>
                  <a:schemeClr val="tx1"/>
                </a:solidFill>
              </a:rPr>
              <a:t>Nothing matched: implied deny ingress, allow egress. Our explicit deny-all at 65000 decides first.</a:t>
            </a:r>
            <a:endParaRPr lang="en-US" sz="1600" dirty="0"/>
          </a:p>
        </p:txBody>
      </p:sp>
      <p:sp>
        <p:nvSpPr>
          <p:cNvPr id="22" name="belowbox-512"/>
          <p:cNvSpPr/>
          <p:nvPr/>
        </p:nvSpPr>
        <p:spPr>
          <a:xfrm>
            <a:off x="548640" y="4892040"/>
            <a:ext cx="11094415" cy="1371600"/>
          </a:xfrm>
          <a:prstGeom prst="roundRect">
            <a:avLst>
              <a:gd name="adj" fmla="val 4000"/>
            </a:avLst>
          </a:prstGeom>
          <a:solidFill>
            <a:schemeClr val="bg2"/>
          </a:solidFill>
          <a:ln w="12700">
            <a:solidFill>
              <a:schemeClr val="bg2"/>
            </a:solidFill>
            <a:prstDash val="solid"/>
          </a:ln>
        </p:spPr>
      </p:sp>
      <p:sp>
        <p:nvSpPr>
          <p:cNvPr id="23" name="below-513"/>
          <p:cNvSpPr txBox="1"/>
          <p:nvPr/>
        </p:nvSpPr>
        <p:spPr>
          <a:xfrm>
            <a:off x="822960" y="4983480"/>
            <a:ext cx="10545775" cy="1188720"/>
          </a:xfrm>
          <a:prstGeom prst="rect">
            <a:avLst/>
          </a:prstGeom>
          <a:noFill/>
          <a:ln/>
        </p:spPr>
        <p:txBody>
          <a:bodyPr wrap="square" lIns="0" tIns="0" rIns="0" bIns="0" rtlCol="0" anchor="ctr"/>
          <a:lstStyle/>
          <a:p>
            <a:pPr indent="0" marL="0">
              <a:buNone/>
            </a:pPr>
            <a:r>
              <a:rPr lang="en-US" sz="1600" dirty="0">
                <a:solidFill>
                  <a:schemeClr val="tx1"/>
                </a:solidFill>
              </a:rPr>
              <a:t>Our org policy: 1000 goto_next for IAP to tcp:22/3389 · 1100 deny tcp:22/3389 from anywhere else · 1200/1210 deny fintech ↔ healthcare in both directions. A project admin can't override these, because they're evaluated before any VPC rule.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ag-514"/>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Organization policy guardrails</a:t>
            </a:r>
            <a:endParaRPr lang="en-US" sz="3200" dirty="0"/>
          </a:p>
        </p:txBody>
      </p:sp>
      <p:graphicFrame>
        <p:nvGraphicFramePr>
          <p:cNvPr id="33" name="table-515"/>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4023360"/>
                <a:gridCol w="2926080"/>
                <a:gridCol w="4142232"/>
              </a:tblGrid>
              <a:tr h="0">
                <a:tc>
                  <a:txBody>
                    <a:bodyPr/>
                    <a:lstStyle/>
                    <a:p>
                      <a:pPr indent="0" marL="0">
                        <a:buNone/>
                      </a:pPr>
                      <a:r>
                        <a:rPr lang="en-US" sz="1700" b="1" dirty="0">
                          <a:solidFill>
                            <a:schemeClr val="bg1"/>
                          </a:solidFill>
                        </a:rPr>
                        <a:t>Constraint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Setting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What it prevents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compute.vmExternalIpAccess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Deny all</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Any VM getting a public IP</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compute.requireOsLogin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Enforced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SSH keys in metadata; SSH tied to IAM identities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iam.disableServiceAccountKeyCreation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Enforced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Long-lived SA keys (impersonation only)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compute.skipDefaultNetworkCreation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Enforced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New projects getting the permissive default VPC</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compute.restrictVpcPeering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under:organizations/ORG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Peering with networks outside the org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bl>
          </a:graphicData>
        </a:graphic>
      </p:graphicFrame>
      <p:sp>
        <p:nvSpPr>
          <p:cNvPr id="6" name="foot-516"/>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300" i="1" dirty="0">
                <a:solidFill>
                  <a:schemeClr val="accent4"/>
                </a:solidFill>
              </a:rPr>
              <a:t>Org policies are preventive (the API call fails); firewall rules filter traffic. Both are needed: one stops the misconfiguration, the other stops the packet.</a:t>
            </a:r>
            <a:endParaRPr lang="en-US" sz="13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ag-51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VPC rule priority bands</a:t>
            </a:r>
            <a:endParaRPr lang="en-US" sz="3200" dirty="0"/>
          </a:p>
        </p:txBody>
      </p:sp>
      <p:sp>
        <p:nvSpPr>
          <p:cNvPr id="4" name="lead-518"/>
          <p:cNvSpPr txBox="1"/>
          <p:nvPr/>
        </p:nvSpPr>
        <p:spPr>
          <a:xfrm>
            <a:off x="548640" y="1508760"/>
            <a:ext cx="11094415" cy="457200"/>
          </a:xfrm>
          <a:prstGeom prst="rect">
            <a:avLst/>
          </a:prstGeom>
          <a:noFill/>
          <a:ln/>
        </p:spPr>
        <p:txBody>
          <a:bodyPr wrap="square" lIns="0" tIns="0" rIns="0" bIns="0" rtlCol="0" anchor="ctr"/>
          <a:lstStyle/>
          <a:p>
            <a:pPr indent="0" marL="0">
              <a:buNone/>
            </a:pPr>
            <a:r>
              <a:rPr lang="en-US" sz="1500" i="1" dirty="0">
                <a:solidFill>
                  <a:schemeClr val="accent3"/>
                </a:solidFill>
              </a:rPr>
              <a:t>Bands make intent readable: a rule's number says what kind of rule it is.</a:t>
            </a:r>
            <a:endParaRPr lang="en-US" sz="1500" dirty="0"/>
          </a:p>
        </p:txBody>
      </p:sp>
      <p:graphicFrame>
        <p:nvGraphicFramePr>
          <p:cNvPr id="34" name="table-519"/>
          <p:cNvGraphicFramePr>
            <a:graphicFrameLocks noGrp="1"/>
          </p:cNvGraphicFramePr>
          <p:nvPr>
            <p:extLst>
              <p:ext uri="{D42A27DB-BD31-4B8C-83A1-F6EECF244321}">
                <p14:modId xmlns:p14="http://schemas.microsoft.com/office/powerpoint/2010/main" val="1579011935"/>
              </p:ext>
            </p:extLst>
          </p:nvPr>
        </p:nvGraphicFramePr>
        <p:xfrm>
          <a:off x="548640" y="2103120"/>
          <a:ext cx="11094415" cy="914400"/>
        </p:xfrm>
        <a:graphic>
          <a:graphicData uri="http://schemas.openxmlformats.org/drawingml/2006/table">
            <a:tbl>
              <a:tblPr/>
              <a:tblGrid>
                <a:gridCol w="2011680"/>
                <a:gridCol w="3931920"/>
                <a:gridCol w="5148072"/>
              </a:tblGrid>
              <a:tr h="0">
                <a:tc>
                  <a:txBody>
                    <a:bodyPr/>
                    <a:lstStyle/>
                    <a:p>
                      <a:pPr indent="0" marL="0">
                        <a:buNone/>
                      </a:pPr>
                      <a:r>
                        <a:rPr lang="en-US" sz="1600" b="1" dirty="0">
                          <a:solidFill>
                            <a:schemeClr val="bg1"/>
                          </a:solidFill>
                        </a:rPr>
                        <a:t>Band</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Purpose</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Examples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600" b="1" dirty="0">
                          <a:solidFill>
                            <a:schemeClr val="tx1"/>
                          </a:solidFill>
                        </a:rPr>
                        <a:t>100–199</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Platform access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allow-iap-ssh, allow-health-checks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500–999</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Isolation denies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deny-nonprod-to-prod, deny-tenants-to-envs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1000–1999</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Environment allows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allow-{env}-internal, allow-envs-to-shared-svc</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2000–2999</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Tenant allows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allow-fintech-to-shared-svc, callbacks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3000–3999</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Hybrid allows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allow-onprem-to-shared-svc (Phase 6)</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4000 / 4100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Egress catch</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deny private ranges / allow internet tcp:443</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65000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Default deny (logged)</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deny-all-ingress, deny-all-egress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ag-52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Private DNS for Google APIs</a:t>
            </a:r>
            <a:endParaRPr lang="en-US" sz="3200" dirty="0"/>
          </a:p>
        </p:txBody>
      </p:sp>
      <p:sp>
        <p:nvSpPr>
          <p:cNvPr id="5" name="lh-521"/>
          <p:cNvSpPr txBox="1"/>
          <p:nvPr/>
        </p:nvSpPr>
        <p:spPr>
          <a:xfrm>
            <a:off x="548640" y="1600200"/>
            <a:ext cx="6400800" cy="365760"/>
          </a:xfrm>
          <a:prstGeom prst="rect">
            <a:avLst/>
          </a:prstGeom>
          <a:noFill/>
          <a:ln/>
        </p:spPr>
        <p:txBody>
          <a:bodyPr wrap="square" lIns="0" tIns="0" rIns="0" bIns="0" rtlCol="0" anchor="ctr"/>
          <a:lstStyle/>
          <a:p>
            <a:pPr indent="0" marL="0">
              <a:buNone/>
            </a:pPr>
            <a:r>
              <a:rPr lang="en-US" sz="1800" b="1" dirty="0">
                <a:solidFill>
                  <a:schemeClr val="accent3"/>
                </a:solidFill>
              </a:rPr>
              <a:t>How API traffic stays private</a:t>
            </a:r>
            <a:endParaRPr lang="en-US" sz="1800" dirty="0"/>
          </a:p>
        </p:txBody>
      </p:sp>
      <p:sp>
        <p:nvSpPr>
          <p:cNvPr id="6" name="left-522"/>
          <p:cNvSpPr txBox="1"/>
          <p:nvPr/>
        </p:nvSpPr>
        <p:spPr>
          <a:xfrm>
            <a:off x="548640" y="2057400"/>
            <a:ext cx="6400800" cy="420624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1"/>
                </a:solidFill>
              </a:rPr>
              <a:t>1. Private zone:</a:t>
            </a:r>
            <a:pPr indent="0" marL="0">
              <a:spcAft>
                <a:spcPts val="600"/>
              </a:spcAft>
              <a:buNone/>
            </a:pPr>
            <a:r>
              <a:rPr lang="en-US" sz="1700" dirty="0">
                <a:solidFill>
                  <a:schemeClr val="tx1"/>
                </a:solidFill>
              </a:rPr>
              <a:t> googleapis.com, visible only to our VPCs.</a:t>
            </a:r>
            <a:endParaRPr lang="en-US" sz="1700" dirty="0"/>
          </a:p>
          <a:p>
            <a:pPr marL="342900" indent="-342900">
              <a:spcAft>
                <a:spcPts val="600"/>
              </a:spcAft>
              <a:buSzPct val="100000"/>
              <a:buChar char="•"/>
            </a:pPr>
            <a:r>
              <a:rPr lang="en-US" sz="1700" b="1" dirty="0">
                <a:solidFill>
                  <a:schemeClr val="tx1"/>
                </a:solidFill>
              </a:rPr>
              <a:t>2. CNAME:</a:t>
            </a:r>
            <a:pPr indent="0" marL="0">
              <a:spcAft>
                <a:spcPts val="600"/>
              </a:spcAft>
              <a:buNone/>
            </a:pPr>
            <a:r>
              <a:rPr lang="en-US" sz="1700" dirty="0">
                <a:solidFill>
                  <a:schemeClr val="tx1"/>
                </a:solidFill>
              </a:rPr>
              <a:t> *.googleapis.com → private.googleapis.com.</a:t>
            </a:r>
            <a:endParaRPr lang="en-US" sz="1700" dirty="0"/>
          </a:p>
          <a:p>
            <a:pPr marL="342900" indent="-342900">
              <a:spcAft>
                <a:spcPts val="600"/>
              </a:spcAft>
              <a:buSzPct val="100000"/>
              <a:buChar char="•"/>
            </a:pPr>
            <a:r>
              <a:rPr lang="en-US" sz="1700" b="1" dirty="0">
                <a:solidFill>
                  <a:schemeClr val="tx1"/>
                </a:solidFill>
              </a:rPr>
              <a:t>3. A record:</a:t>
            </a:r>
            <a:pPr indent="0" marL="0">
              <a:spcAft>
                <a:spcPts val="600"/>
              </a:spcAft>
              <a:buNone/>
            </a:pPr>
            <a:r>
              <a:rPr lang="en-US" sz="1700" dirty="0">
                <a:solidFill>
                  <a:schemeClr val="tx1"/>
                </a:solidFill>
              </a:rPr>
              <a:t> private.googleapis.com → 199.36.153.8–11.</a:t>
            </a:r>
            <a:endParaRPr lang="en-US" sz="1700" dirty="0"/>
          </a:p>
          <a:p>
            <a:pPr marL="342900" indent="-342900">
              <a:spcAft>
                <a:spcPts val="600"/>
              </a:spcAft>
              <a:buSzPct val="100000"/>
              <a:buChar char="•"/>
            </a:pPr>
            <a:r>
              <a:rPr lang="en-US" sz="1700" b="1" dirty="0">
                <a:solidFill>
                  <a:schemeClr val="tx1"/>
                </a:solidFill>
              </a:rPr>
              <a:t>4. Route:</a:t>
            </a:r>
            <a:pPr indent="0" marL="0">
              <a:spcAft>
                <a:spcPts val="600"/>
              </a:spcAft>
              <a:buNone/>
            </a:pPr>
            <a:r>
              <a:rPr lang="en-US" sz="1700" dirty="0">
                <a:solidFill>
                  <a:schemeClr val="tx1"/>
                </a:solidFill>
              </a:rPr>
              <a:t> 199.36.153.8/30 to the default internet gateway (Phase 3) keeps it on Google's network.</a:t>
            </a:r>
            <a:endParaRPr lang="en-US" sz="1700" dirty="0"/>
          </a:p>
          <a:p>
            <a:pPr marL="342900" indent="-342900">
              <a:spcAft>
                <a:spcPts val="600"/>
              </a:spcAft>
              <a:buSzPct val="100000"/>
              <a:buChar char="•"/>
            </a:pPr>
            <a:r>
              <a:rPr lang="en-US" sz="1700" b="1" dirty="0">
                <a:solidFill>
                  <a:schemeClr val="tx1"/>
                </a:solidFill>
              </a:rPr>
              <a:t>5. Firewall:</a:t>
            </a:r>
            <a:pPr indent="0" marL="0">
              <a:spcAft>
                <a:spcPts val="600"/>
              </a:spcAft>
              <a:buNone/>
            </a:pPr>
            <a:r>
              <a:rPr lang="en-US" sz="1700" dirty="0">
                <a:solidFill>
                  <a:schemeClr val="tx1"/>
                </a:solidFill>
              </a:rPr>
              <a:t> allow-egress-google-apis to that /30 on tcp:443.</a:t>
            </a:r>
            <a:endParaRPr lang="en-US" sz="1700" dirty="0"/>
          </a:p>
          <a:p>
            <a:pPr marL="342900" indent="-342900">
              <a:spcAft>
                <a:spcPts val="600"/>
              </a:spcAft>
              <a:buSzPct val="100000"/>
              <a:buChar char="•"/>
            </a:pPr>
            <a:r>
              <a:rPr lang="en-US" sz="1700" b="1" dirty="0">
                <a:solidFill>
                  <a:schemeClr val="tx1"/>
                </a:solidFill>
              </a:rPr>
              <a:t>Result:</a:t>
            </a:r>
            <a:pPr indent="0" marL="0">
              <a:spcAft>
                <a:spcPts val="600"/>
              </a:spcAft>
              <a:buNone/>
            </a:pPr>
            <a:r>
              <a:rPr lang="en-US" sz="1700" dirty="0">
                <a:solidFill>
                  <a:schemeClr val="tx1"/>
                </a:solidFill>
              </a:rPr>
              <a:t> storage.googleapis.com resolved to 199.36.153.10 from a VM with no public IP.</a:t>
            </a:r>
            <a:endParaRPr lang="en-US" sz="1700" dirty="0"/>
          </a:p>
        </p:txBody>
      </p:sp>
      <p:sp>
        <p:nvSpPr>
          <p:cNvPr id="7" name="panel-523"/>
          <p:cNvSpPr/>
          <p:nvPr/>
        </p:nvSpPr>
        <p:spPr>
          <a:xfrm>
            <a:off x="7315200" y="1600200"/>
            <a:ext cx="4327855" cy="4663440"/>
          </a:xfrm>
          <a:prstGeom prst="roundRect">
            <a:avLst>
              <a:gd name="adj" fmla="val 1690"/>
            </a:avLst>
          </a:prstGeom>
          <a:solidFill>
            <a:schemeClr val="tx2"/>
          </a:solidFill>
          <a:ln w="12700">
            <a:solidFill>
              <a:schemeClr val="tx2"/>
            </a:solidFill>
            <a:prstDash val="solid"/>
          </a:ln>
        </p:spPr>
      </p:sp>
      <p:sp>
        <p:nvSpPr>
          <p:cNvPr id="8" name="rh-524"/>
          <p:cNvSpPr txBox="1"/>
          <p:nvPr/>
        </p:nvSpPr>
        <p:spPr>
          <a:xfrm>
            <a:off x="7589520" y="1828800"/>
            <a:ext cx="3779215" cy="411480"/>
          </a:xfrm>
          <a:prstGeom prst="rect">
            <a:avLst/>
          </a:prstGeom>
          <a:noFill/>
          <a:ln/>
        </p:spPr>
        <p:txBody>
          <a:bodyPr wrap="square" lIns="0" tIns="0" rIns="0" bIns="0" rtlCol="0" anchor="ctr"/>
          <a:lstStyle/>
          <a:p>
            <a:pPr indent="0" marL="0">
              <a:buNone/>
            </a:pPr>
            <a:r>
              <a:rPr lang="en-US" sz="1800" b="1" dirty="0">
                <a:solidFill>
                  <a:schemeClr val="accent2"/>
                </a:solidFill>
              </a:rPr>
              <a:t>In this build</a:t>
            </a:r>
            <a:endParaRPr lang="en-US" sz="1800" dirty="0"/>
          </a:p>
        </p:txBody>
      </p:sp>
      <p:sp>
        <p:nvSpPr>
          <p:cNvPr id="9" name="right-525"/>
          <p:cNvSpPr txBox="1"/>
          <p:nvPr/>
        </p:nvSpPr>
        <p:spPr>
          <a:xfrm>
            <a:off x="7589520" y="2377440"/>
            <a:ext cx="3779215" cy="3703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Zone saas.internal: api.saas.internal → 10.0.0.10 (reserved internal IP)</a:t>
            </a:r>
            <a:endParaRPr lang="en-US" sz="1600" dirty="0"/>
          </a:p>
          <a:p>
            <a:pPr marL="342900" indent="-342900">
              <a:spcAft>
                <a:spcPts val="600"/>
              </a:spcAft>
              <a:buSzPct val="100000"/>
              <a:buChar char="•"/>
            </a:pPr>
            <a:r>
              <a:rPr lang="en-US" sz="1600" dirty="0">
                <a:solidFill>
                  <a:schemeClr val="bg1"/>
                </a:solidFill>
              </a:rPr>
              <a:t>DNS logging policy on host and tenant networks: every query is logged</a:t>
            </a:r>
            <a:endParaRPr lang="en-US" sz="1600" dirty="0"/>
          </a:p>
          <a:p>
            <a:pPr marL="342900" indent="-342900">
              <a:spcAft>
                <a:spcPts val="600"/>
              </a:spcAft>
              <a:buSzPct val="100000"/>
              <a:buChar char="•"/>
            </a:pPr>
            <a:r>
              <a:rPr lang="en-US" sz="1600" dirty="0">
                <a:solidFill>
                  <a:schemeClr val="bg1"/>
                </a:solidFill>
              </a:rPr>
              <a:t>IAP + OS Login: admin access by IAM role, no keys in metadata</a:t>
            </a:r>
            <a:endParaRPr lang="en-US" sz="1600" dirty="0"/>
          </a:p>
          <a:p>
            <a:pPr marL="342900" indent="-342900">
              <a:spcAft>
                <a:spcPts val="600"/>
              </a:spcAft>
              <a:buSzPct val="100000"/>
              <a:buChar char="•"/>
            </a:pPr>
            <a:r>
              <a:rPr lang="en-US" sz="1600" dirty="0">
                <a:solidFill>
                  <a:schemeClr val="bg1"/>
                </a:solidFill>
              </a:rPr>
              <a:t>Security Command Center Standard: misconfiguration findings, 0 active</a:t>
            </a:r>
            <a:endParaRPr lang="en-US" sz="1600" dirty="0"/>
          </a:p>
          <a:p>
            <a:pPr marL="342900" indent="-342900">
              <a:spcAft>
                <a:spcPts val="600"/>
              </a:spcAft>
              <a:buSzPct val="100000"/>
              <a:buChar char="•"/>
            </a:pPr>
            <a:r>
              <a:rPr lang="en-US" sz="1600" dirty="0">
                <a:solidFill>
                  <a:schemeClr val="bg1"/>
                </a:solidFill>
              </a:rPr>
              <a:t>12/12 security tests, including VM-with-external-IP blocked by policy</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ag-52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Lessons learned: Phase 5</a:t>
            </a:r>
            <a:endParaRPr lang="en-US" sz="3200" dirty="0"/>
          </a:p>
        </p:txBody>
      </p:sp>
      <p:graphicFrame>
        <p:nvGraphicFramePr>
          <p:cNvPr id="36" name="table-527"/>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8960"/>
                <a:gridCol w="3931920"/>
                <a:gridCol w="4050792"/>
              </a:tblGrid>
              <a:tr h="0">
                <a:tc>
                  <a:txBody>
                    <a:bodyPr/>
                    <a:lstStyle/>
                    <a:p>
                      <a:pPr indent="0" marL="0">
                        <a:buNone/>
                      </a:pPr>
                      <a:r>
                        <a:rPr lang="en-US" sz="1700" b="1" dirty="0">
                          <a:solidFill>
                            <a:schemeClr val="bg1"/>
                          </a:solidFill>
                        </a:rPr>
                        <a:t>Problem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Root cause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Fix</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409 POLICY_ALREADY_EXISTS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Google pre-enforces key creation block</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terraform import into state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SCC / org policy pages denied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Org Admin manages IAM, not these services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Granted read roles; write stays with Terraform SA</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No DENIED logs in nonprod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Shared VPC logs live in the host project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Queried the host project's logs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prod→svc:22 blocked twice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Egress private-range deny hit first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Documented as defence in depth</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ag-52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Test yourself</a:t>
            </a:r>
            <a:endParaRPr lang="en-US" sz="3200" dirty="0"/>
          </a:p>
        </p:txBody>
      </p:sp>
      <p:sp>
        <p:nvSpPr>
          <p:cNvPr id="4" name="qcard-529"/>
          <p:cNvSpPr/>
          <p:nvPr/>
        </p:nvSpPr>
        <p:spPr>
          <a:xfrm>
            <a:off x="548640" y="1600200"/>
            <a:ext cx="3515258" cy="2194560"/>
          </a:xfrm>
          <a:prstGeom prst="roundRect">
            <a:avLst>
              <a:gd name="adj" fmla="val 3333"/>
            </a:avLst>
          </a:prstGeom>
          <a:solidFill>
            <a:schemeClr val="bg1"/>
          </a:solidFill>
          <a:ln w="15875">
            <a:solidFill>
              <a:schemeClr val="accent1"/>
            </a:solidFill>
            <a:prstDash val="solid"/>
          </a:ln>
        </p:spPr>
      </p:sp>
      <p:sp>
        <p:nvSpPr>
          <p:cNvPr id="5" name="badge-530"/>
          <p:cNvSpPr/>
          <p:nvPr/>
        </p:nvSpPr>
        <p:spPr>
          <a:xfrm>
            <a:off x="731520" y="1783080"/>
            <a:ext cx="420624" cy="420624"/>
          </a:xfrm>
          <a:prstGeom prst="ellipse">
            <a:avLst/>
          </a:prstGeom>
          <a:solidFill>
            <a:schemeClr val="accent2"/>
          </a:solidFill>
          <a:ln w="12700">
            <a:solidFill>
              <a:schemeClr val="accent2"/>
            </a:solidFill>
            <a:prstDash val="solid"/>
          </a:ln>
        </p:spPr>
      </p:sp>
      <p:sp>
        <p:nvSpPr>
          <p:cNvPr id="6" name="badgetxt-531"/>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7" name="q-532"/>
          <p:cNvSpPr txBox="1"/>
          <p:nvPr/>
        </p:nvSpPr>
        <p:spPr>
          <a:xfrm>
            <a:off x="1280160"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 does goto_next do in a hierarchical policy?</a:t>
            </a:r>
            <a:endParaRPr lang="en-US" sz="1600" dirty="0"/>
          </a:p>
        </p:txBody>
      </p:sp>
      <p:sp>
        <p:nvSpPr>
          <p:cNvPr id="8" name="aback-533"/>
          <p:cNvSpPr/>
          <p:nvPr/>
        </p:nvSpPr>
        <p:spPr>
          <a:xfrm>
            <a:off x="685800" y="2651760"/>
            <a:ext cx="3240938" cy="1005840"/>
          </a:xfrm>
          <a:prstGeom prst="roundRect">
            <a:avLst>
              <a:gd name="adj" fmla="val 5455"/>
            </a:avLst>
          </a:prstGeom>
          <a:solidFill>
            <a:schemeClr val="bg2"/>
          </a:solidFill>
          <a:ln w="12700">
            <a:solidFill>
              <a:schemeClr val="bg2"/>
            </a:solidFill>
            <a:prstDash val="solid"/>
          </a:ln>
        </p:spPr>
      </p:sp>
      <p:sp>
        <p:nvSpPr>
          <p:cNvPr id="9" name="a-534"/>
          <p:cNvSpPr txBox="1"/>
          <p:nvPr/>
        </p:nvSpPr>
        <p:spPr>
          <a:xfrm>
            <a:off x="822960"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Passes the decision to the next level (folder or VPC rules) instead of allowing or denying.</a:t>
            </a:r>
            <a:endParaRPr lang="en-US" sz="1500" dirty="0"/>
          </a:p>
        </p:txBody>
      </p:sp>
      <p:sp>
        <p:nvSpPr>
          <p:cNvPr id="10" name="qcard-535"/>
          <p:cNvSpPr/>
          <p:nvPr/>
        </p:nvSpPr>
        <p:spPr>
          <a:xfrm>
            <a:off x="4338218" y="1600200"/>
            <a:ext cx="3515258" cy="2194560"/>
          </a:xfrm>
          <a:prstGeom prst="roundRect">
            <a:avLst>
              <a:gd name="adj" fmla="val 3333"/>
            </a:avLst>
          </a:prstGeom>
          <a:solidFill>
            <a:schemeClr val="bg1"/>
          </a:solidFill>
          <a:ln w="15875">
            <a:solidFill>
              <a:schemeClr val="accent1"/>
            </a:solidFill>
            <a:prstDash val="solid"/>
          </a:ln>
        </p:spPr>
      </p:sp>
      <p:sp>
        <p:nvSpPr>
          <p:cNvPr id="11" name="badge-536"/>
          <p:cNvSpPr/>
          <p:nvPr/>
        </p:nvSpPr>
        <p:spPr>
          <a:xfrm>
            <a:off x="4521098" y="1783080"/>
            <a:ext cx="420624" cy="420624"/>
          </a:xfrm>
          <a:prstGeom prst="ellipse">
            <a:avLst/>
          </a:prstGeom>
          <a:solidFill>
            <a:schemeClr val="accent2"/>
          </a:solidFill>
          <a:ln w="12700">
            <a:solidFill>
              <a:schemeClr val="accent2"/>
            </a:solidFill>
            <a:prstDash val="solid"/>
          </a:ln>
        </p:spPr>
      </p:sp>
      <p:sp>
        <p:nvSpPr>
          <p:cNvPr id="12" name="badgetxt-537"/>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3" name="q-538"/>
          <p:cNvSpPr txBox="1"/>
          <p:nvPr/>
        </p:nvSpPr>
        <p:spPr>
          <a:xfrm>
            <a:off x="5069738"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Can a project owner bypass an org firewall deny?</a:t>
            </a:r>
            <a:endParaRPr lang="en-US" sz="1600" dirty="0"/>
          </a:p>
        </p:txBody>
      </p:sp>
      <p:sp>
        <p:nvSpPr>
          <p:cNvPr id="14" name="aback-539"/>
          <p:cNvSpPr/>
          <p:nvPr/>
        </p:nvSpPr>
        <p:spPr>
          <a:xfrm>
            <a:off x="4475378" y="2651760"/>
            <a:ext cx="3240938" cy="1005840"/>
          </a:xfrm>
          <a:prstGeom prst="roundRect">
            <a:avLst>
              <a:gd name="adj" fmla="val 5455"/>
            </a:avLst>
          </a:prstGeom>
          <a:solidFill>
            <a:schemeClr val="bg2"/>
          </a:solidFill>
          <a:ln w="12700">
            <a:solidFill>
              <a:schemeClr val="bg2"/>
            </a:solidFill>
            <a:prstDash val="solid"/>
          </a:ln>
        </p:spPr>
      </p:sp>
      <p:sp>
        <p:nvSpPr>
          <p:cNvPr id="15" name="a-540"/>
          <p:cNvSpPr txBox="1"/>
          <p:nvPr/>
        </p:nvSpPr>
        <p:spPr>
          <a:xfrm>
            <a:off x="4612538"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No. Hierarchical rules are evaluated before VPC rules.</a:t>
            </a:r>
            <a:endParaRPr lang="en-US" sz="1500" dirty="0"/>
          </a:p>
        </p:txBody>
      </p:sp>
      <p:sp>
        <p:nvSpPr>
          <p:cNvPr id="16" name="qcard-541"/>
          <p:cNvSpPr/>
          <p:nvPr/>
        </p:nvSpPr>
        <p:spPr>
          <a:xfrm>
            <a:off x="8127797" y="1600200"/>
            <a:ext cx="3515258" cy="2194560"/>
          </a:xfrm>
          <a:prstGeom prst="roundRect">
            <a:avLst>
              <a:gd name="adj" fmla="val 3333"/>
            </a:avLst>
          </a:prstGeom>
          <a:solidFill>
            <a:schemeClr val="bg1"/>
          </a:solidFill>
          <a:ln w="15875">
            <a:solidFill>
              <a:schemeClr val="accent1"/>
            </a:solidFill>
            <a:prstDash val="solid"/>
          </a:ln>
        </p:spPr>
      </p:sp>
      <p:sp>
        <p:nvSpPr>
          <p:cNvPr id="17" name="badge-542"/>
          <p:cNvSpPr/>
          <p:nvPr/>
        </p:nvSpPr>
        <p:spPr>
          <a:xfrm>
            <a:off x="8310677" y="1783080"/>
            <a:ext cx="420624" cy="420624"/>
          </a:xfrm>
          <a:prstGeom prst="ellipse">
            <a:avLst/>
          </a:prstGeom>
          <a:solidFill>
            <a:schemeClr val="accent2"/>
          </a:solidFill>
          <a:ln w="12700">
            <a:solidFill>
              <a:schemeClr val="accent2"/>
            </a:solidFill>
            <a:prstDash val="solid"/>
          </a:ln>
        </p:spPr>
      </p:sp>
      <p:sp>
        <p:nvSpPr>
          <p:cNvPr id="18" name="badgetxt-543"/>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9" name="q-544"/>
          <p:cNvSpPr txBox="1"/>
          <p:nvPr/>
        </p:nvSpPr>
        <p:spPr>
          <a:xfrm>
            <a:off x="8859317"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Org policy vs firewall rule?</a:t>
            </a:r>
            <a:endParaRPr lang="en-US" sz="1600" dirty="0"/>
          </a:p>
        </p:txBody>
      </p:sp>
      <p:sp>
        <p:nvSpPr>
          <p:cNvPr id="20" name="aback-545"/>
          <p:cNvSpPr/>
          <p:nvPr/>
        </p:nvSpPr>
        <p:spPr>
          <a:xfrm>
            <a:off x="8264957" y="2651760"/>
            <a:ext cx="3240938" cy="1005840"/>
          </a:xfrm>
          <a:prstGeom prst="roundRect">
            <a:avLst>
              <a:gd name="adj" fmla="val 5455"/>
            </a:avLst>
          </a:prstGeom>
          <a:solidFill>
            <a:schemeClr val="bg2"/>
          </a:solidFill>
          <a:ln w="12700">
            <a:solidFill>
              <a:schemeClr val="bg2"/>
            </a:solidFill>
            <a:prstDash val="solid"/>
          </a:ln>
        </p:spPr>
      </p:sp>
      <p:sp>
        <p:nvSpPr>
          <p:cNvPr id="21" name="a-546"/>
          <p:cNvSpPr txBox="1"/>
          <p:nvPr/>
        </p:nvSpPr>
        <p:spPr>
          <a:xfrm>
            <a:off x="8402117"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Org policy blocks the API call (no public IP can be created); a firewall blocks packets.</a:t>
            </a:r>
            <a:endParaRPr lang="en-US" sz="1500" dirty="0"/>
          </a:p>
        </p:txBody>
      </p:sp>
      <p:sp>
        <p:nvSpPr>
          <p:cNvPr id="22" name="qcard-547"/>
          <p:cNvSpPr/>
          <p:nvPr/>
        </p:nvSpPr>
        <p:spPr>
          <a:xfrm>
            <a:off x="548640" y="4069080"/>
            <a:ext cx="3515258" cy="2194560"/>
          </a:xfrm>
          <a:prstGeom prst="roundRect">
            <a:avLst>
              <a:gd name="adj" fmla="val 3333"/>
            </a:avLst>
          </a:prstGeom>
          <a:solidFill>
            <a:schemeClr val="bg1"/>
          </a:solidFill>
          <a:ln w="15875">
            <a:solidFill>
              <a:schemeClr val="accent1"/>
            </a:solidFill>
            <a:prstDash val="solid"/>
          </a:ln>
        </p:spPr>
      </p:sp>
      <p:sp>
        <p:nvSpPr>
          <p:cNvPr id="23" name="badge-548"/>
          <p:cNvSpPr/>
          <p:nvPr/>
        </p:nvSpPr>
        <p:spPr>
          <a:xfrm>
            <a:off x="731520" y="4251960"/>
            <a:ext cx="420624" cy="420624"/>
          </a:xfrm>
          <a:prstGeom prst="ellipse">
            <a:avLst/>
          </a:prstGeom>
          <a:solidFill>
            <a:schemeClr val="accent2"/>
          </a:solidFill>
          <a:ln w="12700">
            <a:solidFill>
              <a:schemeClr val="accent2"/>
            </a:solidFill>
            <a:prstDash val="solid"/>
          </a:ln>
        </p:spPr>
      </p:sp>
      <p:sp>
        <p:nvSpPr>
          <p:cNvPr id="24" name="badgetxt-549"/>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25" name="q-550"/>
          <p:cNvSpPr txBox="1"/>
          <p:nvPr/>
        </p:nvSpPr>
        <p:spPr>
          <a:xfrm>
            <a:off x="1280160"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How does a VM without a public IP reach Cloud Storage?</a:t>
            </a:r>
            <a:endParaRPr lang="en-US" sz="1600" dirty="0"/>
          </a:p>
        </p:txBody>
      </p:sp>
      <p:sp>
        <p:nvSpPr>
          <p:cNvPr id="26" name="aback-551"/>
          <p:cNvSpPr/>
          <p:nvPr/>
        </p:nvSpPr>
        <p:spPr>
          <a:xfrm>
            <a:off x="685800" y="5120640"/>
            <a:ext cx="3240938" cy="1005840"/>
          </a:xfrm>
          <a:prstGeom prst="roundRect">
            <a:avLst>
              <a:gd name="adj" fmla="val 5455"/>
            </a:avLst>
          </a:prstGeom>
          <a:solidFill>
            <a:schemeClr val="bg2"/>
          </a:solidFill>
          <a:ln w="12700">
            <a:solidFill>
              <a:schemeClr val="bg2"/>
            </a:solidFill>
            <a:prstDash val="solid"/>
          </a:ln>
        </p:spPr>
      </p:sp>
      <p:sp>
        <p:nvSpPr>
          <p:cNvPr id="27" name="a-552"/>
          <p:cNvSpPr txBox="1"/>
          <p:nvPr/>
        </p:nvSpPr>
        <p:spPr>
          <a:xfrm>
            <a:off x="822960"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Private Google Access + 199.36.153.8/30 route + private DNS CNAME to private.googleapis.com.</a:t>
            </a:r>
            <a:endParaRPr lang="en-US" sz="1500" dirty="0"/>
          </a:p>
        </p:txBody>
      </p:sp>
      <p:sp>
        <p:nvSpPr>
          <p:cNvPr id="28" name="qcard-553"/>
          <p:cNvSpPr/>
          <p:nvPr/>
        </p:nvSpPr>
        <p:spPr>
          <a:xfrm>
            <a:off x="4338218" y="4069080"/>
            <a:ext cx="3515258" cy="2194560"/>
          </a:xfrm>
          <a:prstGeom prst="roundRect">
            <a:avLst>
              <a:gd name="adj" fmla="val 3333"/>
            </a:avLst>
          </a:prstGeom>
          <a:solidFill>
            <a:schemeClr val="bg1"/>
          </a:solidFill>
          <a:ln w="15875">
            <a:solidFill>
              <a:schemeClr val="accent1"/>
            </a:solidFill>
            <a:prstDash val="solid"/>
          </a:ln>
        </p:spPr>
      </p:sp>
      <p:sp>
        <p:nvSpPr>
          <p:cNvPr id="29" name="badge-554"/>
          <p:cNvSpPr/>
          <p:nvPr/>
        </p:nvSpPr>
        <p:spPr>
          <a:xfrm>
            <a:off x="4521098" y="4251960"/>
            <a:ext cx="420624" cy="420624"/>
          </a:xfrm>
          <a:prstGeom prst="ellipse">
            <a:avLst/>
          </a:prstGeom>
          <a:solidFill>
            <a:schemeClr val="accent2"/>
          </a:solidFill>
          <a:ln w="12700">
            <a:solidFill>
              <a:schemeClr val="accent2"/>
            </a:solidFill>
            <a:prstDash val="solid"/>
          </a:ln>
        </p:spPr>
      </p:sp>
      <p:sp>
        <p:nvSpPr>
          <p:cNvPr id="30" name="badgetxt-555"/>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1" name="q-556"/>
          <p:cNvSpPr txBox="1"/>
          <p:nvPr/>
        </p:nvSpPr>
        <p:spPr>
          <a:xfrm>
            <a:off x="5069738"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log the default-deny rules?</a:t>
            </a:r>
            <a:endParaRPr lang="en-US" sz="1600" dirty="0"/>
          </a:p>
        </p:txBody>
      </p:sp>
      <p:sp>
        <p:nvSpPr>
          <p:cNvPr id="32" name="aback-557"/>
          <p:cNvSpPr/>
          <p:nvPr/>
        </p:nvSpPr>
        <p:spPr>
          <a:xfrm>
            <a:off x="4475378" y="5120640"/>
            <a:ext cx="3240938" cy="1005840"/>
          </a:xfrm>
          <a:prstGeom prst="roundRect">
            <a:avLst>
              <a:gd name="adj" fmla="val 5455"/>
            </a:avLst>
          </a:prstGeom>
          <a:solidFill>
            <a:schemeClr val="bg2"/>
          </a:solidFill>
          <a:ln w="12700">
            <a:solidFill>
              <a:schemeClr val="bg2"/>
            </a:solidFill>
            <a:prstDash val="solid"/>
          </a:ln>
        </p:spPr>
      </p:sp>
      <p:sp>
        <p:nvSpPr>
          <p:cNvPr id="33" name="a-558"/>
          <p:cNvSpPr txBox="1"/>
          <p:nvPr/>
        </p:nvSpPr>
        <p:spPr>
          <a:xfrm>
            <a:off x="4612538"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To prove the controls work and to detect scans or misrouted traffic.</a:t>
            </a:r>
            <a:endParaRPr lang="en-US" sz="1500" dirty="0"/>
          </a:p>
        </p:txBody>
      </p:sp>
      <p:sp>
        <p:nvSpPr>
          <p:cNvPr id="34" name="qcard-559"/>
          <p:cNvSpPr/>
          <p:nvPr/>
        </p:nvSpPr>
        <p:spPr>
          <a:xfrm>
            <a:off x="8127797" y="4069080"/>
            <a:ext cx="3515258" cy="2194560"/>
          </a:xfrm>
          <a:prstGeom prst="roundRect">
            <a:avLst>
              <a:gd name="adj" fmla="val 3333"/>
            </a:avLst>
          </a:prstGeom>
          <a:solidFill>
            <a:schemeClr val="bg1"/>
          </a:solidFill>
          <a:ln w="15875">
            <a:solidFill>
              <a:schemeClr val="accent1"/>
            </a:solidFill>
            <a:prstDash val="solid"/>
          </a:ln>
        </p:spPr>
      </p:sp>
      <p:sp>
        <p:nvSpPr>
          <p:cNvPr id="35" name="badge-560"/>
          <p:cNvSpPr/>
          <p:nvPr/>
        </p:nvSpPr>
        <p:spPr>
          <a:xfrm>
            <a:off x="8310677" y="4251960"/>
            <a:ext cx="420624" cy="420624"/>
          </a:xfrm>
          <a:prstGeom prst="ellipse">
            <a:avLst/>
          </a:prstGeom>
          <a:solidFill>
            <a:schemeClr val="accent2"/>
          </a:solidFill>
          <a:ln w="12700">
            <a:solidFill>
              <a:schemeClr val="accent2"/>
            </a:solidFill>
            <a:prstDash val="solid"/>
          </a:ln>
        </p:spPr>
      </p:sp>
      <p:sp>
        <p:nvSpPr>
          <p:cNvPr id="36" name="badgetxt-561"/>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7" name="q-562"/>
          <p:cNvSpPr txBox="1"/>
          <p:nvPr/>
        </p:nvSpPr>
        <p:spPr>
          <a:xfrm>
            <a:off x="8859317"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 does OS Login change?</a:t>
            </a:r>
            <a:endParaRPr lang="en-US" sz="1600" dirty="0"/>
          </a:p>
        </p:txBody>
      </p:sp>
      <p:sp>
        <p:nvSpPr>
          <p:cNvPr id="38" name="aback-563"/>
          <p:cNvSpPr/>
          <p:nvPr/>
        </p:nvSpPr>
        <p:spPr>
          <a:xfrm>
            <a:off x="8264957" y="5120640"/>
            <a:ext cx="3240938" cy="1005840"/>
          </a:xfrm>
          <a:prstGeom prst="roundRect">
            <a:avLst>
              <a:gd name="adj" fmla="val 5455"/>
            </a:avLst>
          </a:prstGeom>
          <a:solidFill>
            <a:schemeClr val="bg2"/>
          </a:solidFill>
          <a:ln w="12700">
            <a:solidFill>
              <a:schemeClr val="bg2"/>
            </a:solidFill>
            <a:prstDash val="solid"/>
          </a:ln>
        </p:spPr>
      </p:sp>
      <p:sp>
        <p:nvSpPr>
          <p:cNvPr id="39" name="a-564"/>
          <p:cNvSpPr txBox="1"/>
          <p:nvPr/>
        </p:nvSpPr>
        <p:spPr>
          <a:xfrm>
            <a:off x="8402117"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SSH access is granted by IAM roles and tied to identities; no metadata SSH keys.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ecnum-565"/>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06</a:t>
            </a:r>
            <a:endParaRPr lang="en-US" sz="13000" dirty="0"/>
          </a:p>
        </p:txBody>
      </p:sp>
      <p:sp>
        <p:nvSpPr>
          <p:cNvPr id="3" name="sectag-566"/>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6</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Egress and hybrid connectivity</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Give every environment and tenant a controlled, auditable internet path through Cloud NAT with fixed IPs, connect a simulated on-prem network with HA VPN and BGP, and make NAT failover a tested runbook.</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ag-56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6 · EGRESS AND HYBRID CONNECTIVITY</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Cloud NAT explained</a:t>
            </a:r>
            <a:endParaRPr lang="en-US" sz="3200" dirty="0"/>
          </a:p>
        </p:txBody>
      </p:sp>
      <p:sp>
        <p:nvSpPr>
          <p:cNvPr id="5" name="card-568"/>
          <p:cNvSpPr/>
          <p:nvPr/>
        </p:nvSpPr>
        <p:spPr>
          <a:xfrm>
            <a:off x="548640" y="1600200"/>
            <a:ext cx="3515258" cy="2194560"/>
          </a:xfrm>
          <a:prstGeom prst="roundRect">
            <a:avLst>
              <a:gd name="adj" fmla="val 3333"/>
            </a:avLst>
          </a:prstGeom>
          <a:solidFill>
            <a:schemeClr val="bg2"/>
          </a:solidFill>
          <a:ln w="12700">
            <a:solidFill>
              <a:schemeClr val="bg2"/>
            </a:solidFill>
            <a:prstDash val="solid"/>
          </a:ln>
        </p:spPr>
      </p:sp>
      <p:sp>
        <p:nvSpPr>
          <p:cNvPr id="6" name="badge-569"/>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570"/>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571"/>
          <p:cNvSpPr txBox="1"/>
          <p:nvPr/>
        </p:nvSpPr>
        <p:spPr>
          <a:xfrm>
            <a:off x="1280160"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9" name="cardb-572"/>
          <p:cNvSpPr txBox="1"/>
          <p:nvPr/>
        </p:nvSpPr>
        <p:spPr>
          <a:xfrm>
            <a:off x="777240"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Managed, software-defined source NAT on Google's network. No proxy VM, no bottleneck. Outbound-initiated traffic only.</a:t>
            </a:r>
            <a:endParaRPr lang="en-US" sz="1600" dirty="0"/>
          </a:p>
        </p:txBody>
      </p:sp>
      <p:sp>
        <p:nvSpPr>
          <p:cNvPr id="10" name="card-573"/>
          <p:cNvSpPr/>
          <p:nvPr/>
        </p:nvSpPr>
        <p:spPr>
          <a:xfrm>
            <a:off x="4338218" y="1600200"/>
            <a:ext cx="3515258" cy="2194560"/>
          </a:xfrm>
          <a:prstGeom prst="roundRect">
            <a:avLst>
              <a:gd name="adj" fmla="val 3333"/>
            </a:avLst>
          </a:prstGeom>
          <a:solidFill>
            <a:schemeClr val="bg2"/>
          </a:solidFill>
          <a:ln w="12700">
            <a:solidFill>
              <a:schemeClr val="bg2"/>
            </a:solidFill>
            <a:prstDash val="solid"/>
          </a:ln>
        </p:spPr>
      </p:sp>
      <p:sp>
        <p:nvSpPr>
          <p:cNvPr id="11" name="badge-574"/>
          <p:cNvSpPr/>
          <p:nvPr/>
        </p:nvSpPr>
        <p:spPr>
          <a:xfrm>
            <a:off x="4521098" y="1783080"/>
            <a:ext cx="420624" cy="420624"/>
          </a:xfrm>
          <a:prstGeom prst="ellipse">
            <a:avLst/>
          </a:prstGeom>
          <a:solidFill>
            <a:schemeClr val="accent1"/>
          </a:solidFill>
          <a:ln w="12700">
            <a:solidFill>
              <a:schemeClr val="accent1"/>
            </a:solidFill>
            <a:prstDash val="solid"/>
          </a:ln>
        </p:spPr>
      </p:sp>
      <p:sp>
        <p:nvSpPr>
          <p:cNvPr id="12" name="badgetxt-575"/>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576"/>
          <p:cNvSpPr txBox="1"/>
          <p:nvPr/>
        </p:nvSpPr>
        <p:spPr>
          <a:xfrm>
            <a:off x="5069738"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Scope</a:t>
            </a:r>
            <a:endParaRPr lang="en-US" sz="1800" dirty="0"/>
          </a:p>
        </p:txBody>
      </p:sp>
      <p:sp>
        <p:nvSpPr>
          <p:cNvPr id="14" name="cardb-577"/>
          <p:cNvSpPr txBox="1"/>
          <p:nvPr/>
        </p:nvSpPr>
        <p:spPr>
          <a:xfrm>
            <a:off x="4566818"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Regional and attached to a Cloud Router. NAT can cover all subnets in the region, or a chosen list.</a:t>
            </a:r>
            <a:endParaRPr lang="en-US" sz="1600" dirty="0"/>
          </a:p>
        </p:txBody>
      </p:sp>
      <p:sp>
        <p:nvSpPr>
          <p:cNvPr id="15" name="card-578"/>
          <p:cNvSpPr/>
          <p:nvPr/>
        </p:nvSpPr>
        <p:spPr>
          <a:xfrm>
            <a:off x="8127797" y="1600200"/>
            <a:ext cx="3515258" cy="2194560"/>
          </a:xfrm>
          <a:prstGeom prst="roundRect">
            <a:avLst>
              <a:gd name="adj" fmla="val 3333"/>
            </a:avLst>
          </a:prstGeom>
          <a:solidFill>
            <a:schemeClr val="bg2"/>
          </a:solidFill>
          <a:ln w="12700">
            <a:solidFill>
              <a:schemeClr val="bg2"/>
            </a:solidFill>
            <a:prstDash val="solid"/>
          </a:ln>
        </p:spPr>
      </p:sp>
      <p:sp>
        <p:nvSpPr>
          <p:cNvPr id="16" name="badge-579"/>
          <p:cNvSpPr/>
          <p:nvPr/>
        </p:nvSpPr>
        <p:spPr>
          <a:xfrm>
            <a:off x="8310677" y="1783080"/>
            <a:ext cx="420624" cy="420624"/>
          </a:xfrm>
          <a:prstGeom prst="ellipse">
            <a:avLst/>
          </a:prstGeom>
          <a:solidFill>
            <a:schemeClr val="accent1"/>
          </a:solidFill>
          <a:ln w="12700">
            <a:solidFill>
              <a:schemeClr val="accent1"/>
            </a:solidFill>
            <a:prstDash val="solid"/>
          </a:ln>
        </p:spPr>
      </p:sp>
      <p:sp>
        <p:nvSpPr>
          <p:cNvPr id="17" name="badgetxt-580"/>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581"/>
          <p:cNvSpPr txBox="1"/>
          <p:nvPr/>
        </p:nvSpPr>
        <p:spPr>
          <a:xfrm>
            <a:off x="8859317"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IP allocation</a:t>
            </a:r>
            <a:endParaRPr lang="en-US" sz="1800" dirty="0"/>
          </a:p>
        </p:txBody>
      </p:sp>
      <p:sp>
        <p:nvSpPr>
          <p:cNvPr id="19" name="cardb-582"/>
          <p:cNvSpPr txBox="1"/>
          <p:nvPr/>
        </p:nvSpPr>
        <p:spPr>
          <a:xfrm>
            <a:off x="8356397"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Auto (Google picks, can change) or manual static IPs (fixed, so customers can allowlist them). We use manual.</a:t>
            </a:r>
            <a:endParaRPr lang="en-US" sz="1600" dirty="0"/>
          </a:p>
        </p:txBody>
      </p:sp>
      <p:sp>
        <p:nvSpPr>
          <p:cNvPr id="20" name="card-583"/>
          <p:cNvSpPr/>
          <p:nvPr/>
        </p:nvSpPr>
        <p:spPr>
          <a:xfrm>
            <a:off x="548640" y="4069080"/>
            <a:ext cx="3515258" cy="2194560"/>
          </a:xfrm>
          <a:prstGeom prst="roundRect">
            <a:avLst>
              <a:gd name="adj" fmla="val 3333"/>
            </a:avLst>
          </a:prstGeom>
          <a:solidFill>
            <a:schemeClr val="bg2"/>
          </a:solidFill>
          <a:ln w="12700">
            <a:solidFill>
              <a:schemeClr val="bg2"/>
            </a:solidFill>
            <a:prstDash val="solid"/>
          </a:ln>
        </p:spPr>
      </p:sp>
      <p:sp>
        <p:nvSpPr>
          <p:cNvPr id="21" name="badge-584"/>
          <p:cNvSpPr/>
          <p:nvPr/>
        </p:nvSpPr>
        <p:spPr>
          <a:xfrm>
            <a:off x="731520" y="4251960"/>
            <a:ext cx="420624" cy="420624"/>
          </a:xfrm>
          <a:prstGeom prst="ellipse">
            <a:avLst/>
          </a:prstGeom>
          <a:solidFill>
            <a:schemeClr val="accent1"/>
          </a:solidFill>
          <a:ln w="12700">
            <a:solidFill>
              <a:schemeClr val="accent1"/>
            </a:solidFill>
            <a:prstDash val="solid"/>
          </a:ln>
        </p:spPr>
      </p:sp>
      <p:sp>
        <p:nvSpPr>
          <p:cNvPr id="22" name="badgetxt-585"/>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586"/>
          <p:cNvSpPr txBox="1"/>
          <p:nvPr/>
        </p:nvSpPr>
        <p:spPr>
          <a:xfrm>
            <a:off x="1280160"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Ports</a:t>
            </a:r>
            <a:endParaRPr lang="en-US" sz="1800" dirty="0"/>
          </a:p>
        </p:txBody>
      </p:sp>
      <p:sp>
        <p:nvSpPr>
          <p:cNvPr id="24" name="cardb-587"/>
          <p:cNvSpPr txBox="1"/>
          <p:nvPr/>
        </p:nvSpPr>
        <p:spPr>
          <a:xfrm>
            <a:off x="777240"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Each IP has 64,512 usable ports. Each VM gets a slice: static minimum, or dynamic 64→4,096 as it needs more.</a:t>
            </a:r>
            <a:endParaRPr lang="en-US" sz="1600" dirty="0"/>
          </a:p>
        </p:txBody>
      </p:sp>
      <p:sp>
        <p:nvSpPr>
          <p:cNvPr id="25" name="card-588"/>
          <p:cNvSpPr/>
          <p:nvPr/>
        </p:nvSpPr>
        <p:spPr>
          <a:xfrm>
            <a:off x="4338218" y="4069080"/>
            <a:ext cx="3515258" cy="2194560"/>
          </a:xfrm>
          <a:prstGeom prst="roundRect">
            <a:avLst>
              <a:gd name="adj" fmla="val 3333"/>
            </a:avLst>
          </a:prstGeom>
          <a:solidFill>
            <a:schemeClr val="bg2"/>
          </a:solidFill>
          <a:ln w="12700">
            <a:solidFill>
              <a:schemeClr val="bg2"/>
            </a:solidFill>
            <a:prstDash val="solid"/>
          </a:ln>
        </p:spPr>
      </p:sp>
      <p:sp>
        <p:nvSpPr>
          <p:cNvPr id="26" name="badge-589"/>
          <p:cNvSpPr/>
          <p:nvPr/>
        </p:nvSpPr>
        <p:spPr>
          <a:xfrm>
            <a:off x="4521098" y="4251960"/>
            <a:ext cx="420624" cy="420624"/>
          </a:xfrm>
          <a:prstGeom prst="ellipse">
            <a:avLst/>
          </a:prstGeom>
          <a:solidFill>
            <a:schemeClr val="accent1"/>
          </a:solidFill>
          <a:ln w="12700">
            <a:solidFill>
              <a:schemeClr val="accent1"/>
            </a:solidFill>
            <a:prstDash val="solid"/>
          </a:ln>
        </p:spPr>
      </p:sp>
      <p:sp>
        <p:nvSpPr>
          <p:cNvPr id="27" name="badgetxt-590"/>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cardh-591"/>
          <p:cNvSpPr txBox="1"/>
          <p:nvPr/>
        </p:nvSpPr>
        <p:spPr>
          <a:xfrm>
            <a:off x="5069738"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Logging</a:t>
            </a:r>
            <a:endParaRPr lang="en-US" sz="1800" dirty="0"/>
          </a:p>
        </p:txBody>
      </p:sp>
      <p:sp>
        <p:nvSpPr>
          <p:cNvPr id="29" name="cardb-592"/>
          <p:cNvSpPr txBox="1"/>
          <p:nvPr/>
        </p:nvSpPr>
        <p:spPr>
          <a:xfrm>
            <a:off x="4566818"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ALL, ERRORS_ONLY or TRANSLATIONS_ONLY. Shows src_ip:port → nat_ip:port → destination, and drops.</a:t>
            </a:r>
            <a:endParaRPr lang="en-US" sz="1600" dirty="0"/>
          </a:p>
        </p:txBody>
      </p:sp>
      <p:sp>
        <p:nvSpPr>
          <p:cNvPr id="30" name="card-593"/>
          <p:cNvSpPr/>
          <p:nvPr/>
        </p:nvSpPr>
        <p:spPr>
          <a:xfrm>
            <a:off x="8127797" y="4069080"/>
            <a:ext cx="3515258" cy="2194560"/>
          </a:xfrm>
          <a:prstGeom prst="roundRect">
            <a:avLst>
              <a:gd name="adj" fmla="val 3333"/>
            </a:avLst>
          </a:prstGeom>
          <a:solidFill>
            <a:schemeClr val="bg2"/>
          </a:solidFill>
          <a:ln w="12700">
            <a:solidFill>
              <a:schemeClr val="bg2"/>
            </a:solidFill>
            <a:prstDash val="solid"/>
          </a:ln>
        </p:spPr>
      </p:sp>
      <p:sp>
        <p:nvSpPr>
          <p:cNvPr id="31" name="badge-594"/>
          <p:cNvSpPr/>
          <p:nvPr/>
        </p:nvSpPr>
        <p:spPr>
          <a:xfrm>
            <a:off x="8310677" y="4251960"/>
            <a:ext cx="420624" cy="420624"/>
          </a:xfrm>
          <a:prstGeom prst="ellipse">
            <a:avLst/>
          </a:prstGeom>
          <a:solidFill>
            <a:schemeClr val="accent1"/>
          </a:solidFill>
          <a:ln w="12700">
            <a:solidFill>
              <a:schemeClr val="accent1"/>
            </a:solidFill>
            <a:prstDash val="solid"/>
          </a:ln>
        </p:spPr>
      </p:sp>
      <p:sp>
        <p:nvSpPr>
          <p:cNvPr id="32" name="badgetxt-595"/>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cardh-596"/>
          <p:cNvSpPr txBox="1"/>
          <p:nvPr/>
        </p:nvSpPr>
        <p:spPr>
          <a:xfrm>
            <a:off x="8859317"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One NAT per tenant</a:t>
            </a:r>
            <a:endParaRPr lang="en-US" sz="1800" dirty="0"/>
          </a:p>
        </p:txBody>
      </p:sp>
      <p:sp>
        <p:nvSpPr>
          <p:cNvPr id="34" name="cardb-597"/>
          <p:cNvSpPr txBox="1"/>
          <p:nvPr/>
        </p:nvSpPr>
        <p:spPr>
          <a:xfrm>
            <a:off x="8356397"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Separate egress identity and port budget per customer; one tenant can't exhaust another's ports.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ag-59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6 · EGRESS AND HYBRID CONNECTIVITY</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Egress policy: three layers</a:t>
            </a:r>
            <a:endParaRPr lang="en-US" sz="3200" dirty="0"/>
          </a:p>
        </p:txBody>
      </p:sp>
      <p:sp>
        <p:nvSpPr>
          <p:cNvPr id="5" name="step-599"/>
          <p:cNvSpPr/>
          <p:nvPr/>
        </p:nvSpPr>
        <p:spPr>
          <a:xfrm>
            <a:off x="548640" y="1920240"/>
            <a:ext cx="3423818" cy="2651760"/>
          </a:xfrm>
          <a:prstGeom prst="roundRect">
            <a:avLst>
              <a:gd name="adj" fmla="val 2759"/>
            </a:avLst>
          </a:prstGeom>
          <a:solidFill>
            <a:schemeClr val="bg2"/>
          </a:solidFill>
          <a:ln w="15875">
            <a:solidFill>
              <a:schemeClr val="accent1"/>
            </a:solidFill>
            <a:prstDash val="solid"/>
          </a:ln>
        </p:spPr>
      </p:sp>
      <p:sp>
        <p:nvSpPr>
          <p:cNvPr id="6" name="badge-600"/>
          <p:cNvSpPr/>
          <p:nvPr/>
        </p:nvSpPr>
        <p:spPr>
          <a:xfrm>
            <a:off x="2050237" y="1709928"/>
            <a:ext cx="420624" cy="420624"/>
          </a:xfrm>
          <a:prstGeom prst="ellipse">
            <a:avLst/>
          </a:prstGeom>
          <a:solidFill>
            <a:schemeClr val="accent1"/>
          </a:solidFill>
          <a:ln w="12700">
            <a:solidFill>
              <a:schemeClr val="accent1"/>
            </a:solidFill>
            <a:prstDash val="solid"/>
          </a:ln>
        </p:spPr>
      </p:sp>
      <p:sp>
        <p:nvSpPr>
          <p:cNvPr id="7" name="badgetxt-601"/>
          <p:cNvSpPr txBox="1"/>
          <p:nvPr/>
        </p:nvSpPr>
        <p:spPr>
          <a:xfrm>
            <a:off x="2050237"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steph-602"/>
          <p:cNvSpPr txBox="1"/>
          <p:nvPr/>
        </p:nvSpPr>
        <p:spPr>
          <a:xfrm>
            <a:off x="658368" y="2240280"/>
            <a:ext cx="3204362" cy="640080"/>
          </a:xfrm>
          <a:prstGeom prst="rect">
            <a:avLst/>
          </a:prstGeom>
          <a:noFill/>
          <a:ln/>
        </p:spPr>
        <p:txBody>
          <a:bodyPr wrap="square" lIns="0" tIns="0" rIns="0" bIns="0" rtlCol="0" anchor="ctr"/>
          <a:lstStyle/>
          <a:p>
            <a:pPr algn="ctr" indent="0" marL="0">
              <a:buNone/>
            </a:pPr>
            <a:r>
              <a:rPr lang="en-US" sz="1700" b="1" dirty="0">
                <a:solidFill>
                  <a:schemeClr val="tx2"/>
                </a:solidFill>
              </a:rPr>
              <a:t>Route</a:t>
            </a:r>
            <a:endParaRPr lang="en-US" sz="1700" dirty="0"/>
          </a:p>
        </p:txBody>
      </p:sp>
      <p:sp>
        <p:nvSpPr>
          <p:cNvPr id="9" name="stepb-603"/>
          <p:cNvSpPr txBox="1"/>
          <p:nvPr/>
        </p:nvSpPr>
        <p:spPr>
          <a:xfrm>
            <a:off x="685800" y="2926080"/>
            <a:ext cx="3149498" cy="1554480"/>
          </a:xfrm>
          <a:prstGeom prst="rect">
            <a:avLst/>
          </a:prstGeom>
          <a:noFill/>
          <a:ln/>
        </p:spPr>
        <p:txBody>
          <a:bodyPr wrap="square" lIns="0" tIns="0" rIns="0" bIns="0" rtlCol="0" anchor="t"/>
          <a:lstStyle/>
          <a:p>
            <a:pPr algn="l" indent="0" marL="0">
              <a:buNone/>
            </a:pPr>
            <a:r>
              <a:rPr lang="en-US" sz="1600" dirty="0">
                <a:solidFill>
                  <a:schemeClr val="tx1"/>
                </a:solidFill>
              </a:rPr>
              <a:t>0.0.0.0/0 to the default internet gateway exists (Phases 3–4), so there's a path out.</a:t>
            </a:r>
            <a:endParaRPr lang="en-US" sz="1600" dirty="0"/>
          </a:p>
        </p:txBody>
      </p:sp>
      <p:sp>
        <p:nvSpPr>
          <p:cNvPr id="10" name="arrow-604"/>
          <p:cNvSpPr/>
          <p:nvPr/>
        </p:nvSpPr>
        <p:spPr>
          <a:xfrm>
            <a:off x="4036466" y="3108960"/>
            <a:ext cx="283464" cy="274320"/>
          </a:xfrm>
          <a:prstGeom prst="rightArrow">
            <a:avLst/>
          </a:prstGeom>
          <a:solidFill>
            <a:schemeClr val="accent2"/>
          </a:solidFill>
          <a:ln w="12700">
            <a:solidFill>
              <a:schemeClr val="accent2"/>
            </a:solidFill>
            <a:prstDash val="solid"/>
          </a:ln>
        </p:spPr>
      </p:sp>
      <p:sp>
        <p:nvSpPr>
          <p:cNvPr id="11" name="step-605"/>
          <p:cNvSpPr/>
          <p:nvPr/>
        </p:nvSpPr>
        <p:spPr>
          <a:xfrm>
            <a:off x="4383938" y="1920240"/>
            <a:ext cx="3423818" cy="2651760"/>
          </a:xfrm>
          <a:prstGeom prst="roundRect">
            <a:avLst>
              <a:gd name="adj" fmla="val 2759"/>
            </a:avLst>
          </a:prstGeom>
          <a:solidFill>
            <a:schemeClr val="tx2"/>
          </a:solidFill>
          <a:ln w="15875">
            <a:solidFill>
              <a:schemeClr val="accent1"/>
            </a:solidFill>
            <a:prstDash val="solid"/>
          </a:ln>
        </p:spPr>
      </p:sp>
      <p:sp>
        <p:nvSpPr>
          <p:cNvPr id="12" name="badge-606"/>
          <p:cNvSpPr/>
          <p:nvPr/>
        </p:nvSpPr>
        <p:spPr>
          <a:xfrm>
            <a:off x="5885536" y="1709928"/>
            <a:ext cx="420624" cy="420624"/>
          </a:xfrm>
          <a:prstGeom prst="ellipse">
            <a:avLst/>
          </a:prstGeom>
          <a:solidFill>
            <a:schemeClr val="accent2"/>
          </a:solidFill>
          <a:ln w="12700">
            <a:solidFill>
              <a:schemeClr val="accent2"/>
            </a:solidFill>
            <a:prstDash val="solid"/>
          </a:ln>
        </p:spPr>
      </p:sp>
      <p:sp>
        <p:nvSpPr>
          <p:cNvPr id="13" name="badgetxt-607"/>
          <p:cNvSpPr txBox="1"/>
          <p:nvPr/>
        </p:nvSpPr>
        <p:spPr>
          <a:xfrm>
            <a:off x="5885536"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steph-608"/>
          <p:cNvSpPr txBox="1"/>
          <p:nvPr/>
        </p:nvSpPr>
        <p:spPr>
          <a:xfrm>
            <a:off x="4493666" y="2240280"/>
            <a:ext cx="3204362" cy="640080"/>
          </a:xfrm>
          <a:prstGeom prst="rect">
            <a:avLst/>
          </a:prstGeom>
          <a:noFill/>
          <a:ln/>
        </p:spPr>
        <p:txBody>
          <a:bodyPr wrap="square" lIns="0" tIns="0" rIns="0" bIns="0" rtlCol="0" anchor="ctr"/>
          <a:lstStyle/>
          <a:p>
            <a:pPr algn="ctr" indent="0" marL="0">
              <a:buNone/>
            </a:pPr>
            <a:r>
              <a:rPr lang="en-US" sz="1700" b="1" dirty="0">
                <a:solidFill>
                  <a:schemeClr val="bg1"/>
                </a:solidFill>
              </a:rPr>
              <a:t>NAT mapping</a:t>
            </a:r>
            <a:endParaRPr lang="en-US" sz="1700" dirty="0"/>
          </a:p>
        </p:txBody>
      </p:sp>
      <p:sp>
        <p:nvSpPr>
          <p:cNvPr id="15" name="stepb-609"/>
          <p:cNvSpPr txBox="1"/>
          <p:nvPr/>
        </p:nvSpPr>
        <p:spPr>
          <a:xfrm>
            <a:off x="4521098" y="2926080"/>
            <a:ext cx="3149498" cy="1554480"/>
          </a:xfrm>
          <a:prstGeom prst="rect">
            <a:avLst/>
          </a:prstGeom>
          <a:noFill/>
          <a:ln/>
        </p:spPr>
        <p:txBody>
          <a:bodyPr wrap="square" lIns="0" tIns="0" rIns="0" bIns="0" rtlCol="0" anchor="t"/>
          <a:lstStyle/>
          <a:p>
            <a:pPr algn="l" indent="0" marL="0">
              <a:buNone/>
            </a:pPr>
            <a:r>
              <a:rPr lang="en-US" sz="1600" dirty="0">
                <a:solidFill>
                  <a:schemeClr val="bg1"/>
                </a:solidFill>
              </a:rPr>
              <a:t>The subnet decides which gateway and so which public IP. prod → 2 IPs; nonprod → 1; each tenant → its own.</a:t>
            </a:r>
            <a:endParaRPr lang="en-US" sz="1600" dirty="0"/>
          </a:p>
        </p:txBody>
      </p:sp>
      <p:sp>
        <p:nvSpPr>
          <p:cNvPr id="16" name="arrow-610"/>
          <p:cNvSpPr/>
          <p:nvPr/>
        </p:nvSpPr>
        <p:spPr>
          <a:xfrm>
            <a:off x="7871765" y="3108960"/>
            <a:ext cx="283464" cy="274320"/>
          </a:xfrm>
          <a:prstGeom prst="rightArrow">
            <a:avLst/>
          </a:prstGeom>
          <a:solidFill>
            <a:schemeClr val="accent2"/>
          </a:solidFill>
          <a:ln w="12700">
            <a:solidFill>
              <a:schemeClr val="accent2"/>
            </a:solidFill>
            <a:prstDash val="solid"/>
          </a:ln>
        </p:spPr>
      </p:sp>
      <p:sp>
        <p:nvSpPr>
          <p:cNvPr id="17" name="step-611"/>
          <p:cNvSpPr/>
          <p:nvPr/>
        </p:nvSpPr>
        <p:spPr>
          <a:xfrm>
            <a:off x="8219237" y="1920240"/>
            <a:ext cx="3423818" cy="2651760"/>
          </a:xfrm>
          <a:prstGeom prst="roundRect">
            <a:avLst>
              <a:gd name="adj" fmla="val 2759"/>
            </a:avLst>
          </a:prstGeom>
          <a:solidFill>
            <a:schemeClr val="bg2"/>
          </a:solidFill>
          <a:ln w="15875">
            <a:solidFill>
              <a:schemeClr val="accent1"/>
            </a:solidFill>
            <a:prstDash val="solid"/>
          </a:ln>
        </p:spPr>
      </p:sp>
      <p:sp>
        <p:nvSpPr>
          <p:cNvPr id="18" name="badge-612"/>
          <p:cNvSpPr/>
          <p:nvPr/>
        </p:nvSpPr>
        <p:spPr>
          <a:xfrm>
            <a:off x="9720834" y="1709928"/>
            <a:ext cx="420624" cy="420624"/>
          </a:xfrm>
          <a:prstGeom prst="ellipse">
            <a:avLst/>
          </a:prstGeom>
          <a:solidFill>
            <a:schemeClr val="accent1"/>
          </a:solidFill>
          <a:ln w="12700">
            <a:solidFill>
              <a:schemeClr val="accent1"/>
            </a:solidFill>
            <a:prstDash val="solid"/>
          </a:ln>
        </p:spPr>
      </p:sp>
      <p:sp>
        <p:nvSpPr>
          <p:cNvPr id="19" name="badgetxt-613"/>
          <p:cNvSpPr txBox="1"/>
          <p:nvPr/>
        </p:nvSpPr>
        <p:spPr>
          <a:xfrm>
            <a:off x="9720834"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steph-614"/>
          <p:cNvSpPr txBox="1"/>
          <p:nvPr/>
        </p:nvSpPr>
        <p:spPr>
          <a:xfrm>
            <a:off x="8328965" y="2240280"/>
            <a:ext cx="3204362" cy="640080"/>
          </a:xfrm>
          <a:prstGeom prst="rect">
            <a:avLst/>
          </a:prstGeom>
          <a:noFill/>
          <a:ln/>
        </p:spPr>
        <p:txBody>
          <a:bodyPr wrap="square" lIns="0" tIns="0" rIns="0" bIns="0" rtlCol="0" anchor="ctr"/>
          <a:lstStyle/>
          <a:p>
            <a:pPr algn="ctr" indent="0" marL="0">
              <a:buNone/>
            </a:pPr>
            <a:r>
              <a:rPr lang="en-US" sz="1700" b="1" dirty="0">
                <a:solidFill>
                  <a:schemeClr val="tx2"/>
                </a:solidFill>
              </a:rPr>
              <a:t>Firewall</a:t>
            </a:r>
            <a:endParaRPr lang="en-US" sz="1700" dirty="0"/>
          </a:p>
        </p:txBody>
      </p:sp>
      <p:sp>
        <p:nvSpPr>
          <p:cNvPr id="21" name="stepb-615"/>
          <p:cNvSpPr txBox="1"/>
          <p:nvPr/>
        </p:nvSpPr>
        <p:spPr>
          <a:xfrm>
            <a:off x="8356397" y="2926080"/>
            <a:ext cx="3149498" cy="1554480"/>
          </a:xfrm>
          <a:prstGeom prst="rect">
            <a:avLst/>
          </a:prstGeom>
          <a:noFill/>
          <a:ln/>
        </p:spPr>
        <p:txBody>
          <a:bodyPr wrap="square" lIns="0" tIns="0" rIns="0" bIns="0" rtlCol="0" anchor="t"/>
          <a:lstStyle/>
          <a:p>
            <a:pPr algn="l" indent="0" marL="0">
              <a:buNone/>
            </a:pPr>
            <a:r>
              <a:rPr lang="en-US" sz="1600" dirty="0">
                <a:solidFill>
                  <a:schemeClr val="tx1"/>
                </a:solidFill>
              </a:rPr>
              <a:t>Only tcp:443 to the internet, only for env and shared-svc SAs (priority 4100). Everything else hits deny-all.</a:t>
            </a:r>
            <a:endParaRPr lang="en-US" sz="1600" dirty="0"/>
          </a:p>
        </p:txBody>
      </p:sp>
      <p:sp>
        <p:nvSpPr>
          <p:cNvPr id="22" name="belowbox-616"/>
          <p:cNvSpPr/>
          <p:nvPr/>
        </p:nvSpPr>
        <p:spPr>
          <a:xfrm>
            <a:off x="548640" y="4892040"/>
            <a:ext cx="11094415" cy="1371600"/>
          </a:xfrm>
          <a:prstGeom prst="roundRect">
            <a:avLst>
              <a:gd name="adj" fmla="val 4000"/>
            </a:avLst>
          </a:prstGeom>
          <a:solidFill>
            <a:schemeClr val="bg2"/>
          </a:solidFill>
          <a:ln w="12700">
            <a:solidFill>
              <a:schemeClr val="bg2"/>
            </a:solidFill>
            <a:prstDash val="solid"/>
          </a:ln>
        </p:spPr>
      </p:sp>
      <p:sp>
        <p:nvSpPr>
          <p:cNvPr id="23" name="below-617"/>
          <p:cNvSpPr txBox="1"/>
          <p:nvPr/>
        </p:nvSpPr>
        <p:spPr>
          <a:xfrm>
            <a:off x="822960" y="4983480"/>
            <a:ext cx="10545775" cy="1188720"/>
          </a:xfrm>
          <a:prstGeom prst="rect">
            <a:avLst/>
          </a:prstGeom>
          <a:noFill/>
          <a:ln/>
        </p:spPr>
        <p:txBody>
          <a:bodyPr wrap="square" lIns="0" tIns="0" rIns="0" bIns="0" rtlCol="0" anchor="ctr"/>
          <a:lstStyle/>
          <a:p>
            <a:pPr indent="0" marL="0">
              <a:buNone/>
            </a:pPr>
            <a:r>
              <a:rPr lang="en-US" sz="1600" dirty="0">
                <a:solidFill>
                  <a:schemeClr val="tx1"/>
                </a:solidFill>
              </a:rPr>
              <a:t>Failover runbook (tested): drain ip-0 so traffic moves to ip-1 with no VM change (egress changed 34.132.81.101 → 34.60.101.104). To restore, release the drain pool first; the API won't move an IP straight from drain to active. Then terraform apply.</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ag-61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6 · EGRESS AND HYBRID CONNECTIVITY</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HA VPN and BGP</a:t>
            </a:r>
            <a:endParaRPr lang="en-US" sz="3200" dirty="0"/>
          </a:p>
        </p:txBody>
      </p:sp>
      <p:sp>
        <p:nvSpPr>
          <p:cNvPr id="5" name="lh-619"/>
          <p:cNvSpPr txBox="1"/>
          <p:nvPr/>
        </p:nvSpPr>
        <p:spPr>
          <a:xfrm>
            <a:off x="548640" y="1600200"/>
            <a:ext cx="6400800" cy="365760"/>
          </a:xfrm>
          <a:prstGeom prst="rect">
            <a:avLst/>
          </a:prstGeom>
          <a:noFill/>
          <a:ln/>
        </p:spPr>
        <p:txBody>
          <a:bodyPr wrap="square" lIns="0" tIns="0" rIns="0" bIns="0" rtlCol="0" anchor="ctr"/>
          <a:lstStyle/>
          <a:p>
            <a:pPr indent="0" marL="0">
              <a:buNone/>
            </a:pPr>
            <a:r>
              <a:rPr lang="en-US" sz="1800" b="1" dirty="0">
                <a:solidFill>
                  <a:schemeClr val="accent3"/>
                </a:solidFill>
              </a:rPr>
              <a:t>Concepts</a:t>
            </a:r>
            <a:endParaRPr lang="en-US" sz="1800" dirty="0"/>
          </a:p>
        </p:txBody>
      </p:sp>
      <p:sp>
        <p:nvSpPr>
          <p:cNvPr id="6" name="left-620"/>
          <p:cNvSpPr txBox="1"/>
          <p:nvPr/>
        </p:nvSpPr>
        <p:spPr>
          <a:xfrm>
            <a:off x="548640" y="2057400"/>
            <a:ext cx="6400800" cy="420624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1"/>
                </a:solidFill>
              </a:rPr>
              <a:t>HA VPN gateway:</a:t>
            </a:r>
            <a:pPr indent="0" marL="0">
              <a:spcAft>
                <a:spcPts val="600"/>
              </a:spcAft>
              <a:buNone/>
            </a:pPr>
            <a:r>
              <a:rPr lang="en-US" sz="1700" dirty="0">
                <a:solidFill>
                  <a:schemeClr val="tx1"/>
                </a:solidFill>
              </a:rPr>
              <a:t> two interfaces, two public IPs. Tunnels on both give the 99.99% SLA.</a:t>
            </a:r>
            <a:endParaRPr lang="en-US" sz="1700" dirty="0"/>
          </a:p>
          <a:p>
            <a:pPr marL="342900" indent="-342900">
              <a:spcAft>
                <a:spcPts val="600"/>
              </a:spcAft>
              <a:buSzPct val="100000"/>
              <a:buChar char="•"/>
            </a:pPr>
            <a:r>
              <a:rPr lang="en-US" sz="1700" b="1" dirty="0">
                <a:solidFill>
                  <a:schemeClr val="tx1"/>
                </a:solidFill>
              </a:rPr>
              <a:t>IPsec / IKEv2:</a:t>
            </a:r>
            <a:pPr indent="0" marL="0">
              <a:spcAft>
                <a:spcPts val="600"/>
              </a:spcAft>
              <a:buNone/>
            </a:pPr>
            <a:r>
              <a:rPr lang="en-US" sz="1700" dirty="0">
                <a:solidFill>
                  <a:schemeClr val="tx1"/>
                </a:solidFill>
              </a:rPr>
              <a:t> encrypted tunnels authenticated by a pre-shared key.</a:t>
            </a:r>
            <a:endParaRPr lang="en-US" sz="1700" dirty="0"/>
          </a:p>
          <a:p>
            <a:pPr marL="342900" indent="-342900">
              <a:spcAft>
                <a:spcPts val="600"/>
              </a:spcAft>
              <a:buSzPct val="100000"/>
              <a:buChar char="•"/>
            </a:pPr>
            <a:r>
              <a:rPr lang="en-US" sz="1700" b="1" dirty="0">
                <a:solidFill>
                  <a:schemeClr val="tx1"/>
                </a:solidFill>
              </a:rPr>
              <a:t>BGP session per tunnel:</a:t>
            </a:r>
            <a:pPr indent="0" marL="0">
              <a:spcAft>
                <a:spcPts val="600"/>
              </a:spcAft>
              <a:buNone/>
            </a:pPr>
            <a:r>
              <a:rPr lang="en-US" sz="1700" dirty="0">
                <a:solidFill>
                  <a:schemeClr val="tx1"/>
                </a:solidFill>
              </a:rPr>
              <a:t> Cloud Routers exchange routes over link-local /30s (169.254.x.x).</a:t>
            </a:r>
            <a:endParaRPr lang="en-US" sz="1700" dirty="0"/>
          </a:p>
          <a:p>
            <a:pPr marL="342900" indent="-342900">
              <a:spcAft>
                <a:spcPts val="600"/>
              </a:spcAft>
              <a:buSzPct val="100000"/>
              <a:buChar char="•"/>
            </a:pPr>
            <a:r>
              <a:rPr lang="en-US" sz="1700" b="1" dirty="0">
                <a:solidFill>
                  <a:schemeClr val="tx1"/>
                </a:solidFill>
              </a:rPr>
              <a:t>Private ASNs:</a:t>
            </a:r>
            <a:pPr indent="0" marL="0">
              <a:spcAft>
                <a:spcPts val="600"/>
              </a:spcAft>
              <a:buNone/>
            </a:pPr>
            <a:r>
              <a:rPr lang="en-US" sz="1700" dirty="0">
                <a:solidFill>
                  <a:schemeClr val="tx1"/>
                </a:solidFill>
              </a:rPr>
              <a:t> 64512–65534. Ours: 64512 (cloud) ↔ 64513 (on-prem).</a:t>
            </a:r>
            <a:endParaRPr lang="en-US" sz="1700" dirty="0"/>
          </a:p>
          <a:p>
            <a:pPr marL="342900" indent="-342900">
              <a:spcAft>
                <a:spcPts val="600"/>
              </a:spcAft>
              <a:buSzPct val="100000"/>
              <a:buChar char="•"/>
            </a:pPr>
            <a:r>
              <a:rPr lang="en-US" sz="1700" b="1" dirty="0">
                <a:solidFill>
                  <a:schemeClr val="tx1"/>
                </a:solidFill>
              </a:rPr>
              <a:t>Dynamic routing:</a:t>
            </a:r>
            <a:pPr indent="0" marL="0">
              <a:spcAft>
                <a:spcPts val="600"/>
              </a:spcAft>
              <a:buNone/>
            </a:pPr>
            <a:r>
              <a:rPr lang="en-US" sz="1700" dirty="0">
                <a:solidFill>
                  <a:schemeClr val="tx1"/>
                </a:solidFill>
              </a:rPr>
              <a:t> if a tunnel fails, its BGP session drops, routes are withdrawn and traffic shifts to the other tunnel.</a:t>
            </a:r>
            <a:endParaRPr lang="en-US" sz="1700" dirty="0"/>
          </a:p>
        </p:txBody>
      </p:sp>
      <p:sp>
        <p:nvSpPr>
          <p:cNvPr id="7" name="panel-621"/>
          <p:cNvSpPr/>
          <p:nvPr/>
        </p:nvSpPr>
        <p:spPr>
          <a:xfrm>
            <a:off x="7315200" y="1600200"/>
            <a:ext cx="4327855" cy="4663440"/>
          </a:xfrm>
          <a:prstGeom prst="roundRect">
            <a:avLst>
              <a:gd name="adj" fmla="val 1690"/>
            </a:avLst>
          </a:prstGeom>
          <a:solidFill>
            <a:schemeClr val="tx2"/>
          </a:solidFill>
          <a:ln w="12700">
            <a:solidFill>
              <a:schemeClr val="tx2"/>
            </a:solidFill>
            <a:prstDash val="solid"/>
          </a:ln>
        </p:spPr>
      </p:sp>
      <p:sp>
        <p:nvSpPr>
          <p:cNvPr id="8" name="rh-622"/>
          <p:cNvSpPr txBox="1"/>
          <p:nvPr/>
        </p:nvSpPr>
        <p:spPr>
          <a:xfrm>
            <a:off x="7589520" y="1828800"/>
            <a:ext cx="3779215" cy="411480"/>
          </a:xfrm>
          <a:prstGeom prst="rect">
            <a:avLst/>
          </a:prstGeom>
          <a:noFill/>
          <a:ln/>
        </p:spPr>
        <p:txBody>
          <a:bodyPr wrap="square" lIns="0" tIns="0" rIns="0" bIns="0" rtlCol="0" anchor="ctr"/>
          <a:lstStyle/>
          <a:p>
            <a:pPr indent="0" marL="0">
              <a:buNone/>
            </a:pPr>
            <a:r>
              <a:rPr lang="en-US" sz="1800" b="1" dirty="0">
                <a:solidFill>
                  <a:schemeClr val="accent2"/>
                </a:solidFill>
              </a:rPr>
              <a:t>In this build</a:t>
            </a:r>
            <a:endParaRPr lang="en-US" sz="1800" dirty="0"/>
          </a:p>
        </p:txBody>
      </p:sp>
      <p:sp>
        <p:nvSpPr>
          <p:cNvPr id="9" name="right-623"/>
          <p:cNvSpPr txBox="1"/>
          <p:nvPr/>
        </p:nvSpPr>
        <p:spPr>
          <a:xfrm>
            <a:off x="7589520" y="2377440"/>
            <a:ext cx="3779215" cy="3703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ha-vpn-shared ⇄ ha-vpn-onprem, 4 tunnels (2 per side), all Established</a:t>
            </a:r>
            <a:endParaRPr lang="en-US" sz="1600" dirty="0"/>
          </a:p>
          <a:p>
            <a:pPr marL="342900" indent="-342900">
              <a:spcAft>
                <a:spcPts val="600"/>
              </a:spcAft>
              <a:buSzPct val="100000"/>
              <a:buChar char="•"/>
            </a:pPr>
            <a:r>
              <a:rPr lang="en-US" sz="1600" dirty="0">
                <a:solidFill>
                  <a:schemeClr val="bg1"/>
                </a:solidFill>
              </a:rPr>
              <a:t>BGP: 169.254.0.1↔.2 and 169.254.1.1↔.2, both sessions Up</a:t>
            </a:r>
            <a:endParaRPr lang="en-US" sz="1600" dirty="0"/>
          </a:p>
          <a:p>
            <a:pPr marL="342900" indent="-342900">
              <a:spcAft>
                <a:spcPts val="600"/>
              </a:spcAft>
              <a:buSzPct val="100000"/>
              <a:buChar char="•"/>
            </a:pPr>
            <a:r>
              <a:rPr lang="en-US" sz="1600" dirty="0">
                <a:solidFill>
                  <a:schemeClr val="bg1"/>
                </a:solidFill>
              </a:rPr>
              <a:t>Shared VPC learned 192.168.0.0/20</a:t>
            </a:r>
            <a:endParaRPr lang="en-US" sz="1600" dirty="0"/>
          </a:p>
          <a:p>
            <a:pPr marL="342900" indent="-342900">
              <a:spcAft>
                <a:spcPts val="600"/>
              </a:spcAft>
              <a:buSzPct val="100000"/>
              <a:buChar char="•"/>
            </a:pPr>
            <a:r>
              <a:rPr lang="en-US" sz="1600" dirty="0">
                <a:solidFill>
                  <a:schemeClr val="bg1"/>
                </a:solidFill>
              </a:rPr>
              <a:t>On-prem learned only 10.0.0.0/20 (custom advert), so on-prem → prod is BLOCKED by routing</a:t>
            </a:r>
            <a:endParaRPr lang="en-US" sz="1600" dirty="0"/>
          </a:p>
          <a:p>
            <a:pPr marL="342900" indent="-342900">
              <a:spcAft>
                <a:spcPts val="600"/>
              </a:spcAft>
              <a:buSzPct val="100000"/>
              <a:buChar char="•"/>
            </a:pPr>
            <a:r>
              <a:rPr lang="en-US" sz="1600" dirty="0">
                <a:solidFill>
                  <a:schemeClr val="bg1"/>
                </a:solidFill>
              </a:rPr>
              <a:t>PSK from random_password, never in the repo; VPN behind a toggle to save cost</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ag-624"/>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6 · EGRESS AND HYBRID CONNECTIVITY</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Lessons learned: Phase 6</a:t>
            </a:r>
            <a:endParaRPr lang="en-US" sz="3200" dirty="0"/>
          </a:p>
        </p:txBody>
      </p:sp>
      <p:graphicFrame>
        <p:nvGraphicFramePr>
          <p:cNvPr id="42" name="table-625"/>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8960"/>
                <a:gridCol w="3931920"/>
                <a:gridCol w="4050792"/>
              </a:tblGrid>
              <a:tr h="0">
                <a:tc>
                  <a:txBody>
                    <a:bodyPr/>
                    <a:lstStyle/>
                    <a:p>
                      <a:pPr indent="0" marL="0">
                        <a:buNone/>
                      </a:pPr>
                      <a:r>
                        <a:rPr lang="en-US" sz="1700" b="1" dirty="0">
                          <a:solidFill>
                            <a:schemeClr val="bg1"/>
                          </a:solidFill>
                        </a:rPr>
                        <a:t>Problem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Root cause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Fix</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Restore failed: 'Draining IP … already used'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An IP can't go from drain straight to active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Clear the drain pool with gcloud, then apply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Dashboard diff on every plan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API normalises JSON (drops 0 xPos, adds targetAxis)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Send JSON in the stored shape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svc-test-vm not found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Phase 5 cleanup deleted the test VMs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Ran up before test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NAT logs 'empty'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Logs Explorer defaults to the last hour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Widened to 12 hours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ag-62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6 · EGRESS AND HYBRID CONNECTIVITY</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Test yourself</a:t>
            </a:r>
            <a:endParaRPr lang="en-US" sz="3200" dirty="0"/>
          </a:p>
        </p:txBody>
      </p:sp>
      <p:sp>
        <p:nvSpPr>
          <p:cNvPr id="4" name="qcard-627"/>
          <p:cNvSpPr/>
          <p:nvPr/>
        </p:nvSpPr>
        <p:spPr>
          <a:xfrm>
            <a:off x="548640" y="1600200"/>
            <a:ext cx="3515258" cy="2194560"/>
          </a:xfrm>
          <a:prstGeom prst="roundRect">
            <a:avLst>
              <a:gd name="adj" fmla="val 3333"/>
            </a:avLst>
          </a:prstGeom>
          <a:solidFill>
            <a:schemeClr val="bg1"/>
          </a:solidFill>
          <a:ln w="15875">
            <a:solidFill>
              <a:schemeClr val="accent1"/>
            </a:solidFill>
            <a:prstDash val="solid"/>
          </a:ln>
        </p:spPr>
      </p:sp>
      <p:sp>
        <p:nvSpPr>
          <p:cNvPr id="5" name="badge-628"/>
          <p:cNvSpPr/>
          <p:nvPr/>
        </p:nvSpPr>
        <p:spPr>
          <a:xfrm>
            <a:off x="731520" y="1783080"/>
            <a:ext cx="420624" cy="420624"/>
          </a:xfrm>
          <a:prstGeom prst="ellipse">
            <a:avLst/>
          </a:prstGeom>
          <a:solidFill>
            <a:schemeClr val="accent2"/>
          </a:solidFill>
          <a:ln w="12700">
            <a:solidFill>
              <a:schemeClr val="accent2"/>
            </a:solidFill>
            <a:prstDash val="solid"/>
          </a:ln>
        </p:spPr>
      </p:sp>
      <p:sp>
        <p:nvSpPr>
          <p:cNvPr id="6" name="badgetxt-629"/>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7" name="q-630"/>
          <p:cNvSpPr txBox="1"/>
          <p:nvPr/>
        </p:nvSpPr>
        <p:spPr>
          <a:xfrm>
            <a:off x="1280160"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manual NAT IPs instead of auto?</a:t>
            </a:r>
            <a:endParaRPr lang="en-US" sz="1600" dirty="0"/>
          </a:p>
        </p:txBody>
      </p:sp>
      <p:sp>
        <p:nvSpPr>
          <p:cNvPr id="8" name="aback-631"/>
          <p:cNvSpPr/>
          <p:nvPr/>
        </p:nvSpPr>
        <p:spPr>
          <a:xfrm>
            <a:off x="685800" y="2651760"/>
            <a:ext cx="3240938" cy="1005840"/>
          </a:xfrm>
          <a:prstGeom prst="roundRect">
            <a:avLst>
              <a:gd name="adj" fmla="val 5455"/>
            </a:avLst>
          </a:prstGeom>
          <a:solidFill>
            <a:schemeClr val="bg2"/>
          </a:solidFill>
          <a:ln w="12700">
            <a:solidFill>
              <a:schemeClr val="bg2"/>
            </a:solidFill>
            <a:prstDash val="solid"/>
          </a:ln>
        </p:spPr>
      </p:sp>
      <p:sp>
        <p:nvSpPr>
          <p:cNvPr id="9" name="a-632"/>
          <p:cNvSpPr txBox="1"/>
          <p:nvPr/>
        </p:nvSpPr>
        <p:spPr>
          <a:xfrm>
            <a:off x="822960"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Fixed IPs that customers and partners can allowlist; auto IPs can change.</a:t>
            </a:r>
            <a:endParaRPr lang="en-US" sz="1500" dirty="0"/>
          </a:p>
        </p:txBody>
      </p:sp>
      <p:sp>
        <p:nvSpPr>
          <p:cNvPr id="10" name="qcard-633"/>
          <p:cNvSpPr/>
          <p:nvPr/>
        </p:nvSpPr>
        <p:spPr>
          <a:xfrm>
            <a:off x="4338218" y="1600200"/>
            <a:ext cx="3515258" cy="2194560"/>
          </a:xfrm>
          <a:prstGeom prst="roundRect">
            <a:avLst>
              <a:gd name="adj" fmla="val 3333"/>
            </a:avLst>
          </a:prstGeom>
          <a:solidFill>
            <a:schemeClr val="bg1"/>
          </a:solidFill>
          <a:ln w="15875">
            <a:solidFill>
              <a:schemeClr val="accent1"/>
            </a:solidFill>
            <a:prstDash val="solid"/>
          </a:ln>
        </p:spPr>
      </p:sp>
      <p:sp>
        <p:nvSpPr>
          <p:cNvPr id="11" name="badge-634"/>
          <p:cNvSpPr/>
          <p:nvPr/>
        </p:nvSpPr>
        <p:spPr>
          <a:xfrm>
            <a:off x="4521098" y="1783080"/>
            <a:ext cx="420624" cy="420624"/>
          </a:xfrm>
          <a:prstGeom prst="ellipse">
            <a:avLst/>
          </a:prstGeom>
          <a:solidFill>
            <a:schemeClr val="accent2"/>
          </a:solidFill>
          <a:ln w="12700">
            <a:solidFill>
              <a:schemeClr val="accent2"/>
            </a:solidFill>
            <a:prstDash val="solid"/>
          </a:ln>
        </p:spPr>
      </p:sp>
      <p:sp>
        <p:nvSpPr>
          <p:cNvPr id="12" name="badgetxt-635"/>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3" name="q-636"/>
          <p:cNvSpPr txBox="1"/>
          <p:nvPr/>
        </p:nvSpPr>
        <p:spPr>
          <a:xfrm>
            <a:off x="5069738"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How many VMs can one NAT IP serve at 64 ports each?</a:t>
            </a:r>
            <a:endParaRPr lang="en-US" sz="1600" dirty="0"/>
          </a:p>
        </p:txBody>
      </p:sp>
      <p:sp>
        <p:nvSpPr>
          <p:cNvPr id="14" name="aback-637"/>
          <p:cNvSpPr/>
          <p:nvPr/>
        </p:nvSpPr>
        <p:spPr>
          <a:xfrm>
            <a:off x="4475378" y="2651760"/>
            <a:ext cx="3240938" cy="1005840"/>
          </a:xfrm>
          <a:prstGeom prst="roundRect">
            <a:avLst>
              <a:gd name="adj" fmla="val 5455"/>
            </a:avLst>
          </a:prstGeom>
          <a:solidFill>
            <a:schemeClr val="bg2"/>
          </a:solidFill>
          <a:ln w="12700">
            <a:solidFill>
              <a:schemeClr val="bg2"/>
            </a:solidFill>
            <a:prstDash val="solid"/>
          </a:ln>
        </p:spPr>
      </p:sp>
      <p:sp>
        <p:nvSpPr>
          <p:cNvPr id="15" name="a-638"/>
          <p:cNvSpPr txBox="1"/>
          <p:nvPr/>
        </p:nvSpPr>
        <p:spPr>
          <a:xfrm>
            <a:off x="4612538"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64,512 ÷ 64 = 1,008.</a:t>
            </a:r>
            <a:endParaRPr lang="en-US" sz="1500" dirty="0"/>
          </a:p>
        </p:txBody>
      </p:sp>
      <p:sp>
        <p:nvSpPr>
          <p:cNvPr id="16" name="qcard-639"/>
          <p:cNvSpPr/>
          <p:nvPr/>
        </p:nvSpPr>
        <p:spPr>
          <a:xfrm>
            <a:off x="8127797" y="1600200"/>
            <a:ext cx="3515258" cy="2194560"/>
          </a:xfrm>
          <a:prstGeom prst="roundRect">
            <a:avLst>
              <a:gd name="adj" fmla="val 3333"/>
            </a:avLst>
          </a:prstGeom>
          <a:solidFill>
            <a:schemeClr val="bg1"/>
          </a:solidFill>
          <a:ln w="15875">
            <a:solidFill>
              <a:schemeClr val="accent1"/>
            </a:solidFill>
            <a:prstDash val="solid"/>
          </a:ln>
        </p:spPr>
      </p:sp>
      <p:sp>
        <p:nvSpPr>
          <p:cNvPr id="17" name="badge-640"/>
          <p:cNvSpPr/>
          <p:nvPr/>
        </p:nvSpPr>
        <p:spPr>
          <a:xfrm>
            <a:off x="8310677" y="1783080"/>
            <a:ext cx="420624" cy="420624"/>
          </a:xfrm>
          <a:prstGeom prst="ellipse">
            <a:avLst/>
          </a:prstGeom>
          <a:solidFill>
            <a:schemeClr val="accent2"/>
          </a:solidFill>
          <a:ln w="12700">
            <a:solidFill>
              <a:schemeClr val="accent2"/>
            </a:solidFill>
            <a:prstDash val="solid"/>
          </a:ln>
        </p:spPr>
      </p:sp>
      <p:sp>
        <p:nvSpPr>
          <p:cNvPr id="18" name="badgetxt-641"/>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9" name="q-642"/>
          <p:cNvSpPr txBox="1"/>
          <p:nvPr/>
        </p:nvSpPr>
        <p:spPr>
          <a:xfrm>
            <a:off x="8859317"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What's the benefit of draining a NAT IP?</a:t>
            </a:r>
            <a:endParaRPr lang="en-US" sz="1600" dirty="0"/>
          </a:p>
        </p:txBody>
      </p:sp>
      <p:sp>
        <p:nvSpPr>
          <p:cNvPr id="20" name="aback-643"/>
          <p:cNvSpPr/>
          <p:nvPr/>
        </p:nvSpPr>
        <p:spPr>
          <a:xfrm>
            <a:off x="8264957" y="2651760"/>
            <a:ext cx="3240938" cy="1005840"/>
          </a:xfrm>
          <a:prstGeom prst="roundRect">
            <a:avLst>
              <a:gd name="adj" fmla="val 5455"/>
            </a:avLst>
          </a:prstGeom>
          <a:solidFill>
            <a:schemeClr val="bg2"/>
          </a:solidFill>
          <a:ln w="12700">
            <a:solidFill>
              <a:schemeClr val="bg2"/>
            </a:solidFill>
            <a:prstDash val="solid"/>
          </a:ln>
        </p:spPr>
      </p:sp>
      <p:sp>
        <p:nvSpPr>
          <p:cNvPr id="21" name="a-644"/>
          <p:cNvSpPr txBox="1"/>
          <p:nvPr/>
        </p:nvSpPr>
        <p:spPr>
          <a:xfrm>
            <a:off x="8402117"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Existing connections finish; new ones use other IPs, so there's no outage.</a:t>
            </a:r>
            <a:endParaRPr lang="en-US" sz="1500" dirty="0"/>
          </a:p>
        </p:txBody>
      </p:sp>
      <p:sp>
        <p:nvSpPr>
          <p:cNvPr id="22" name="qcard-645"/>
          <p:cNvSpPr/>
          <p:nvPr/>
        </p:nvSpPr>
        <p:spPr>
          <a:xfrm>
            <a:off x="548640" y="4069080"/>
            <a:ext cx="3515258" cy="2194560"/>
          </a:xfrm>
          <a:prstGeom prst="roundRect">
            <a:avLst>
              <a:gd name="adj" fmla="val 3333"/>
            </a:avLst>
          </a:prstGeom>
          <a:solidFill>
            <a:schemeClr val="bg1"/>
          </a:solidFill>
          <a:ln w="15875">
            <a:solidFill>
              <a:schemeClr val="accent1"/>
            </a:solidFill>
            <a:prstDash val="solid"/>
          </a:ln>
        </p:spPr>
      </p:sp>
      <p:sp>
        <p:nvSpPr>
          <p:cNvPr id="23" name="badge-646"/>
          <p:cNvSpPr/>
          <p:nvPr/>
        </p:nvSpPr>
        <p:spPr>
          <a:xfrm>
            <a:off x="731520" y="4251960"/>
            <a:ext cx="420624" cy="420624"/>
          </a:xfrm>
          <a:prstGeom prst="ellipse">
            <a:avLst/>
          </a:prstGeom>
          <a:solidFill>
            <a:schemeClr val="accent2"/>
          </a:solidFill>
          <a:ln w="12700">
            <a:solidFill>
              <a:schemeClr val="accent2"/>
            </a:solidFill>
            <a:prstDash val="solid"/>
          </a:ln>
        </p:spPr>
      </p:sp>
      <p:sp>
        <p:nvSpPr>
          <p:cNvPr id="24" name="badgetxt-647"/>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25" name="q-648"/>
          <p:cNvSpPr txBox="1"/>
          <p:nvPr/>
        </p:nvSpPr>
        <p:spPr>
          <a:xfrm>
            <a:off x="1280160"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does HA VPN need BGP?</a:t>
            </a:r>
            <a:endParaRPr lang="en-US" sz="1600" dirty="0"/>
          </a:p>
        </p:txBody>
      </p:sp>
      <p:sp>
        <p:nvSpPr>
          <p:cNvPr id="26" name="aback-649"/>
          <p:cNvSpPr/>
          <p:nvPr/>
        </p:nvSpPr>
        <p:spPr>
          <a:xfrm>
            <a:off x="685800" y="5120640"/>
            <a:ext cx="3240938" cy="1005840"/>
          </a:xfrm>
          <a:prstGeom prst="roundRect">
            <a:avLst>
              <a:gd name="adj" fmla="val 5455"/>
            </a:avLst>
          </a:prstGeom>
          <a:solidFill>
            <a:schemeClr val="bg2"/>
          </a:solidFill>
          <a:ln w="12700">
            <a:solidFill>
              <a:schemeClr val="bg2"/>
            </a:solidFill>
            <a:prstDash val="solid"/>
          </a:ln>
        </p:spPr>
      </p:sp>
      <p:sp>
        <p:nvSpPr>
          <p:cNvPr id="27" name="a-650"/>
          <p:cNvSpPr txBox="1"/>
          <p:nvPr/>
        </p:nvSpPr>
        <p:spPr>
          <a:xfrm>
            <a:off x="822960"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Routes must be withdrawn automatically when a tunnel fails, so traffic moves to the healthy one.</a:t>
            </a:r>
            <a:endParaRPr lang="en-US" sz="1500" dirty="0"/>
          </a:p>
        </p:txBody>
      </p:sp>
      <p:sp>
        <p:nvSpPr>
          <p:cNvPr id="28" name="qcard-651"/>
          <p:cNvSpPr/>
          <p:nvPr/>
        </p:nvSpPr>
        <p:spPr>
          <a:xfrm>
            <a:off x="4338218" y="4069080"/>
            <a:ext cx="3515258" cy="2194560"/>
          </a:xfrm>
          <a:prstGeom prst="roundRect">
            <a:avLst>
              <a:gd name="adj" fmla="val 3333"/>
            </a:avLst>
          </a:prstGeom>
          <a:solidFill>
            <a:schemeClr val="bg1"/>
          </a:solidFill>
          <a:ln w="15875">
            <a:solidFill>
              <a:schemeClr val="accent1"/>
            </a:solidFill>
            <a:prstDash val="solid"/>
          </a:ln>
        </p:spPr>
      </p:sp>
      <p:sp>
        <p:nvSpPr>
          <p:cNvPr id="29" name="badge-652"/>
          <p:cNvSpPr/>
          <p:nvPr/>
        </p:nvSpPr>
        <p:spPr>
          <a:xfrm>
            <a:off x="4521098" y="4251960"/>
            <a:ext cx="420624" cy="420624"/>
          </a:xfrm>
          <a:prstGeom prst="ellipse">
            <a:avLst/>
          </a:prstGeom>
          <a:solidFill>
            <a:schemeClr val="accent2"/>
          </a:solidFill>
          <a:ln w="12700">
            <a:solidFill>
              <a:schemeClr val="accent2"/>
            </a:solidFill>
            <a:prstDash val="solid"/>
          </a:ln>
        </p:spPr>
      </p:sp>
      <p:sp>
        <p:nvSpPr>
          <p:cNvPr id="30" name="badgetxt-653"/>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1" name="q-654"/>
          <p:cNvSpPr txBox="1"/>
          <p:nvPr/>
        </p:nvSpPr>
        <p:spPr>
          <a:xfrm>
            <a:off x="5069738"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How did you stop on-prem reaching prod?</a:t>
            </a:r>
            <a:endParaRPr lang="en-US" sz="1600" dirty="0"/>
          </a:p>
        </p:txBody>
      </p:sp>
      <p:sp>
        <p:nvSpPr>
          <p:cNvPr id="32" name="aback-655"/>
          <p:cNvSpPr/>
          <p:nvPr/>
        </p:nvSpPr>
        <p:spPr>
          <a:xfrm>
            <a:off x="4475378" y="5120640"/>
            <a:ext cx="3240938" cy="1005840"/>
          </a:xfrm>
          <a:prstGeom prst="roundRect">
            <a:avLst>
              <a:gd name="adj" fmla="val 5455"/>
            </a:avLst>
          </a:prstGeom>
          <a:solidFill>
            <a:schemeClr val="bg2"/>
          </a:solidFill>
          <a:ln w="12700">
            <a:solidFill>
              <a:schemeClr val="bg2"/>
            </a:solidFill>
            <a:prstDash val="solid"/>
          </a:ln>
        </p:spPr>
      </p:sp>
      <p:sp>
        <p:nvSpPr>
          <p:cNvPr id="33" name="a-656"/>
          <p:cNvSpPr txBox="1"/>
          <p:nvPr/>
        </p:nvSpPr>
        <p:spPr>
          <a:xfrm>
            <a:off x="4612538"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Custom BGP advertisement of only 10.0.0.0/20, plus firewall allows only to shared-svc.</a:t>
            </a:r>
            <a:endParaRPr lang="en-US" sz="1500" dirty="0"/>
          </a:p>
        </p:txBody>
      </p:sp>
      <p:sp>
        <p:nvSpPr>
          <p:cNvPr id="34" name="qcard-657"/>
          <p:cNvSpPr/>
          <p:nvPr/>
        </p:nvSpPr>
        <p:spPr>
          <a:xfrm>
            <a:off x="8127797" y="4069080"/>
            <a:ext cx="3515258" cy="2194560"/>
          </a:xfrm>
          <a:prstGeom prst="roundRect">
            <a:avLst>
              <a:gd name="adj" fmla="val 3333"/>
            </a:avLst>
          </a:prstGeom>
          <a:solidFill>
            <a:schemeClr val="bg1"/>
          </a:solidFill>
          <a:ln w="15875">
            <a:solidFill>
              <a:schemeClr val="accent1"/>
            </a:solidFill>
            <a:prstDash val="solid"/>
          </a:ln>
        </p:spPr>
      </p:sp>
      <p:sp>
        <p:nvSpPr>
          <p:cNvPr id="35" name="badge-658"/>
          <p:cNvSpPr/>
          <p:nvPr/>
        </p:nvSpPr>
        <p:spPr>
          <a:xfrm>
            <a:off x="8310677" y="4251960"/>
            <a:ext cx="420624" cy="420624"/>
          </a:xfrm>
          <a:prstGeom prst="ellipse">
            <a:avLst/>
          </a:prstGeom>
          <a:solidFill>
            <a:schemeClr val="accent2"/>
          </a:solidFill>
          <a:ln w="12700">
            <a:solidFill>
              <a:schemeClr val="accent2"/>
            </a:solidFill>
            <a:prstDash val="solid"/>
          </a:ln>
        </p:spPr>
      </p:sp>
      <p:sp>
        <p:nvSpPr>
          <p:cNvPr id="36" name="badgetxt-659"/>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7" name="q-660"/>
          <p:cNvSpPr txBox="1"/>
          <p:nvPr/>
        </p:nvSpPr>
        <p:spPr>
          <a:xfrm>
            <a:off x="8859317"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Does Cloud NAT allow inbound connections?</a:t>
            </a:r>
            <a:endParaRPr lang="en-US" sz="1600" dirty="0"/>
          </a:p>
        </p:txBody>
      </p:sp>
      <p:sp>
        <p:nvSpPr>
          <p:cNvPr id="38" name="aback-661"/>
          <p:cNvSpPr/>
          <p:nvPr/>
        </p:nvSpPr>
        <p:spPr>
          <a:xfrm>
            <a:off x="8264957" y="5120640"/>
            <a:ext cx="3240938" cy="1005840"/>
          </a:xfrm>
          <a:prstGeom prst="roundRect">
            <a:avLst>
              <a:gd name="adj" fmla="val 5455"/>
            </a:avLst>
          </a:prstGeom>
          <a:solidFill>
            <a:schemeClr val="bg2"/>
          </a:solidFill>
          <a:ln w="12700">
            <a:solidFill>
              <a:schemeClr val="bg2"/>
            </a:solidFill>
            <a:prstDash val="solid"/>
          </a:ln>
        </p:spPr>
      </p:sp>
      <p:sp>
        <p:nvSpPr>
          <p:cNvPr id="39" name="a-662"/>
          <p:cNvSpPr txBox="1"/>
          <p:nvPr/>
        </p:nvSpPr>
        <p:spPr>
          <a:xfrm>
            <a:off x="8402117"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No. Only return traffic for connections the VM started.</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ecnum-663"/>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07</a:t>
            </a:r>
            <a:endParaRPr lang="en-US" sz="13000" dirty="0"/>
          </a:p>
        </p:txBody>
      </p:sp>
      <p:sp>
        <p:nvSpPr>
          <p:cNvPr id="3" name="sectag-664"/>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7</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Monitoring and logging</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Make every network decision observable: flow logs sampled by risk, logs exported for analytics and retention, security events turned into metrics, and alerts for NAT problems, firewall-deny spikes and changes made outside Terraform.</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ag-665"/>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The network log sources</a:t>
            </a:r>
            <a:endParaRPr lang="en-US" sz="3200" dirty="0"/>
          </a:p>
        </p:txBody>
      </p:sp>
      <p:sp>
        <p:nvSpPr>
          <p:cNvPr id="5" name="card-666"/>
          <p:cNvSpPr/>
          <p:nvPr/>
        </p:nvSpPr>
        <p:spPr>
          <a:xfrm>
            <a:off x="548640" y="1600200"/>
            <a:ext cx="3515258" cy="2194560"/>
          </a:xfrm>
          <a:prstGeom prst="roundRect">
            <a:avLst>
              <a:gd name="adj" fmla="val 3333"/>
            </a:avLst>
          </a:prstGeom>
          <a:solidFill>
            <a:schemeClr val="bg2"/>
          </a:solidFill>
          <a:ln w="12700">
            <a:solidFill>
              <a:schemeClr val="bg2"/>
            </a:solidFill>
            <a:prstDash val="solid"/>
          </a:ln>
        </p:spPr>
      </p:sp>
      <p:sp>
        <p:nvSpPr>
          <p:cNvPr id="6" name="badge-667"/>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668"/>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669"/>
          <p:cNvSpPr txBox="1"/>
          <p:nvPr/>
        </p:nvSpPr>
        <p:spPr>
          <a:xfrm>
            <a:off x="1280160"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VPC Flow Logs</a:t>
            </a:r>
            <a:endParaRPr lang="en-US" sz="1800" dirty="0"/>
          </a:p>
        </p:txBody>
      </p:sp>
      <p:sp>
        <p:nvSpPr>
          <p:cNvPr id="9" name="cardb-670"/>
          <p:cNvSpPr txBox="1"/>
          <p:nvPr/>
        </p:nvSpPr>
        <p:spPr>
          <a:xfrm>
            <a:off x="777240"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Sampled connection records per subnet. Answers: who talked to whom, how much, when. Used for forensics and capacity.</a:t>
            </a:r>
            <a:endParaRPr lang="en-US" sz="1600" dirty="0"/>
          </a:p>
        </p:txBody>
      </p:sp>
      <p:sp>
        <p:nvSpPr>
          <p:cNvPr id="10" name="card-671"/>
          <p:cNvSpPr/>
          <p:nvPr/>
        </p:nvSpPr>
        <p:spPr>
          <a:xfrm>
            <a:off x="4338218" y="1600200"/>
            <a:ext cx="3515258" cy="2194560"/>
          </a:xfrm>
          <a:prstGeom prst="roundRect">
            <a:avLst>
              <a:gd name="adj" fmla="val 3333"/>
            </a:avLst>
          </a:prstGeom>
          <a:solidFill>
            <a:schemeClr val="bg2"/>
          </a:solidFill>
          <a:ln w="12700">
            <a:solidFill>
              <a:schemeClr val="bg2"/>
            </a:solidFill>
            <a:prstDash val="solid"/>
          </a:ln>
        </p:spPr>
      </p:sp>
      <p:sp>
        <p:nvSpPr>
          <p:cNvPr id="11" name="badge-672"/>
          <p:cNvSpPr/>
          <p:nvPr/>
        </p:nvSpPr>
        <p:spPr>
          <a:xfrm>
            <a:off x="4521098" y="1783080"/>
            <a:ext cx="420624" cy="420624"/>
          </a:xfrm>
          <a:prstGeom prst="ellipse">
            <a:avLst/>
          </a:prstGeom>
          <a:solidFill>
            <a:schemeClr val="accent1"/>
          </a:solidFill>
          <a:ln w="12700">
            <a:solidFill>
              <a:schemeClr val="accent1"/>
            </a:solidFill>
            <a:prstDash val="solid"/>
          </a:ln>
        </p:spPr>
      </p:sp>
      <p:sp>
        <p:nvSpPr>
          <p:cNvPr id="12" name="badgetxt-673"/>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674"/>
          <p:cNvSpPr txBox="1"/>
          <p:nvPr/>
        </p:nvSpPr>
        <p:spPr>
          <a:xfrm>
            <a:off x="5069738"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Firewall Rules Logging</a:t>
            </a:r>
            <a:endParaRPr lang="en-US" sz="1800" dirty="0"/>
          </a:p>
        </p:txBody>
      </p:sp>
      <p:sp>
        <p:nvSpPr>
          <p:cNvPr id="14" name="cardb-675"/>
          <p:cNvSpPr txBox="1"/>
          <p:nvPr/>
        </p:nvSpPr>
        <p:spPr>
          <a:xfrm>
            <a:off x="4566818"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Per rule: connection allowed or denied, by which rule. Proves controls work; spikes reveal scans.</a:t>
            </a:r>
            <a:endParaRPr lang="en-US" sz="1600" dirty="0"/>
          </a:p>
        </p:txBody>
      </p:sp>
      <p:sp>
        <p:nvSpPr>
          <p:cNvPr id="15" name="card-676"/>
          <p:cNvSpPr/>
          <p:nvPr/>
        </p:nvSpPr>
        <p:spPr>
          <a:xfrm>
            <a:off x="8127797" y="1600200"/>
            <a:ext cx="3515258" cy="2194560"/>
          </a:xfrm>
          <a:prstGeom prst="roundRect">
            <a:avLst>
              <a:gd name="adj" fmla="val 3333"/>
            </a:avLst>
          </a:prstGeom>
          <a:solidFill>
            <a:schemeClr val="bg2"/>
          </a:solidFill>
          <a:ln w="12700">
            <a:solidFill>
              <a:schemeClr val="bg2"/>
            </a:solidFill>
            <a:prstDash val="solid"/>
          </a:ln>
        </p:spPr>
      </p:sp>
      <p:sp>
        <p:nvSpPr>
          <p:cNvPr id="16" name="badge-677"/>
          <p:cNvSpPr/>
          <p:nvPr/>
        </p:nvSpPr>
        <p:spPr>
          <a:xfrm>
            <a:off x="8310677" y="1783080"/>
            <a:ext cx="420624" cy="420624"/>
          </a:xfrm>
          <a:prstGeom prst="ellipse">
            <a:avLst/>
          </a:prstGeom>
          <a:solidFill>
            <a:schemeClr val="accent1"/>
          </a:solidFill>
          <a:ln w="12700">
            <a:solidFill>
              <a:schemeClr val="accent1"/>
            </a:solidFill>
            <a:prstDash val="solid"/>
          </a:ln>
        </p:spPr>
      </p:sp>
      <p:sp>
        <p:nvSpPr>
          <p:cNvPr id="17" name="badgetxt-678"/>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679"/>
          <p:cNvSpPr txBox="1"/>
          <p:nvPr/>
        </p:nvSpPr>
        <p:spPr>
          <a:xfrm>
            <a:off x="8859317"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Cloud NAT logs</a:t>
            </a:r>
            <a:endParaRPr lang="en-US" sz="1800" dirty="0"/>
          </a:p>
        </p:txBody>
      </p:sp>
      <p:sp>
        <p:nvSpPr>
          <p:cNvPr id="19" name="cardb-680"/>
          <p:cNvSpPr txBox="1"/>
          <p:nvPr/>
        </p:nvSpPr>
        <p:spPr>
          <a:xfrm>
            <a:off x="8356397"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Translations and drops: which private IP left through which public IP and port.</a:t>
            </a:r>
            <a:endParaRPr lang="en-US" sz="1600" dirty="0"/>
          </a:p>
        </p:txBody>
      </p:sp>
      <p:sp>
        <p:nvSpPr>
          <p:cNvPr id="20" name="card-681"/>
          <p:cNvSpPr/>
          <p:nvPr/>
        </p:nvSpPr>
        <p:spPr>
          <a:xfrm>
            <a:off x="548640" y="4069080"/>
            <a:ext cx="3515258" cy="2194560"/>
          </a:xfrm>
          <a:prstGeom prst="roundRect">
            <a:avLst>
              <a:gd name="adj" fmla="val 3333"/>
            </a:avLst>
          </a:prstGeom>
          <a:solidFill>
            <a:schemeClr val="bg2"/>
          </a:solidFill>
          <a:ln w="12700">
            <a:solidFill>
              <a:schemeClr val="bg2"/>
            </a:solidFill>
            <a:prstDash val="solid"/>
          </a:ln>
        </p:spPr>
      </p:sp>
      <p:sp>
        <p:nvSpPr>
          <p:cNvPr id="21" name="badge-682"/>
          <p:cNvSpPr/>
          <p:nvPr/>
        </p:nvSpPr>
        <p:spPr>
          <a:xfrm>
            <a:off x="731520" y="4251960"/>
            <a:ext cx="420624" cy="420624"/>
          </a:xfrm>
          <a:prstGeom prst="ellipse">
            <a:avLst/>
          </a:prstGeom>
          <a:solidFill>
            <a:schemeClr val="accent1"/>
          </a:solidFill>
          <a:ln w="12700">
            <a:solidFill>
              <a:schemeClr val="accent1"/>
            </a:solidFill>
            <a:prstDash val="solid"/>
          </a:ln>
        </p:spPr>
      </p:sp>
      <p:sp>
        <p:nvSpPr>
          <p:cNvPr id="22" name="badgetxt-683"/>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684"/>
          <p:cNvSpPr txBox="1"/>
          <p:nvPr/>
        </p:nvSpPr>
        <p:spPr>
          <a:xfrm>
            <a:off x="1280160"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Cloud DNS logs</a:t>
            </a:r>
            <a:endParaRPr lang="en-US" sz="1800" dirty="0"/>
          </a:p>
        </p:txBody>
      </p:sp>
      <p:sp>
        <p:nvSpPr>
          <p:cNvPr id="24" name="cardb-685"/>
          <p:cNvSpPr txBox="1"/>
          <p:nvPr/>
        </p:nvSpPr>
        <p:spPr>
          <a:xfrm>
            <a:off x="777240"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Every query from the VPC. Detects beaconing and DNS exfiltration.</a:t>
            </a:r>
            <a:endParaRPr lang="en-US" sz="1600" dirty="0"/>
          </a:p>
        </p:txBody>
      </p:sp>
      <p:sp>
        <p:nvSpPr>
          <p:cNvPr id="25" name="card-686"/>
          <p:cNvSpPr/>
          <p:nvPr/>
        </p:nvSpPr>
        <p:spPr>
          <a:xfrm>
            <a:off x="4338218" y="4069080"/>
            <a:ext cx="3515258" cy="2194560"/>
          </a:xfrm>
          <a:prstGeom prst="roundRect">
            <a:avLst>
              <a:gd name="adj" fmla="val 3333"/>
            </a:avLst>
          </a:prstGeom>
          <a:solidFill>
            <a:schemeClr val="bg2"/>
          </a:solidFill>
          <a:ln w="12700">
            <a:solidFill>
              <a:schemeClr val="bg2"/>
            </a:solidFill>
            <a:prstDash val="solid"/>
          </a:ln>
        </p:spPr>
      </p:sp>
      <p:sp>
        <p:nvSpPr>
          <p:cNvPr id="26" name="badge-687"/>
          <p:cNvSpPr/>
          <p:nvPr/>
        </p:nvSpPr>
        <p:spPr>
          <a:xfrm>
            <a:off x="4521098" y="4251960"/>
            <a:ext cx="420624" cy="420624"/>
          </a:xfrm>
          <a:prstGeom prst="ellipse">
            <a:avLst/>
          </a:prstGeom>
          <a:solidFill>
            <a:schemeClr val="accent1"/>
          </a:solidFill>
          <a:ln w="12700">
            <a:solidFill>
              <a:schemeClr val="accent1"/>
            </a:solidFill>
            <a:prstDash val="solid"/>
          </a:ln>
        </p:spPr>
      </p:sp>
      <p:sp>
        <p:nvSpPr>
          <p:cNvPr id="27" name="badgetxt-688"/>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cardh-689"/>
          <p:cNvSpPr txBox="1"/>
          <p:nvPr/>
        </p:nvSpPr>
        <p:spPr>
          <a:xfrm>
            <a:off x="5069738"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Admin Activity audit</a:t>
            </a:r>
            <a:endParaRPr lang="en-US" sz="1800" dirty="0"/>
          </a:p>
        </p:txBody>
      </p:sp>
      <p:sp>
        <p:nvSpPr>
          <p:cNvPr id="29" name="cardb-690"/>
          <p:cNvSpPr txBox="1"/>
          <p:nvPr/>
        </p:nvSpPr>
        <p:spPr>
          <a:xfrm>
            <a:off x="4566818"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Always on, free, can't be disabled: every config change and who made it. Basis of drift detection.</a:t>
            </a:r>
            <a:endParaRPr lang="en-US" sz="1600" dirty="0"/>
          </a:p>
        </p:txBody>
      </p:sp>
      <p:sp>
        <p:nvSpPr>
          <p:cNvPr id="30" name="card-691"/>
          <p:cNvSpPr/>
          <p:nvPr/>
        </p:nvSpPr>
        <p:spPr>
          <a:xfrm>
            <a:off x="8127797" y="4069080"/>
            <a:ext cx="3515258" cy="2194560"/>
          </a:xfrm>
          <a:prstGeom prst="roundRect">
            <a:avLst>
              <a:gd name="adj" fmla="val 3333"/>
            </a:avLst>
          </a:prstGeom>
          <a:solidFill>
            <a:schemeClr val="bg2"/>
          </a:solidFill>
          <a:ln w="12700">
            <a:solidFill>
              <a:schemeClr val="bg2"/>
            </a:solidFill>
            <a:prstDash val="solid"/>
          </a:ln>
        </p:spPr>
      </p:sp>
      <p:sp>
        <p:nvSpPr>
          <p:cNvPr id="31" name="badge-692"/>
          <p:cNvSpPr/>
          <p:nvPr/>
        </p:nvSpPr>
        <p:spPr>
          <a:xfrm>
            <a:off x="8310677" y="4251960"/>
            <a:ext cx="420624" cy="420624"/>
          </a:xfrm>
          <a:prstGeom prst="ellipse">
            <a:avLst/>
          </a:prstGeom>
          <a:solidFill>
            <a:schemeClr val="accent1"/>
          </a:solidFill>
          <a:ln w="12700">
            <a:solidFill>
              <a:schemeClr val="accent1"/>
            </a:solidFill>
            <a:prstDash val="solid"/>
          </a:ln>
        </p:spPr>
      </p:sp>
      <p:sp>
        <p:nvSpPr>
          <p:cNvPr id="32" name="badgetxt-693"/>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cardh-694"/>
          <p:cNvSpPr txBox="1"/>
          <p:nvPr/>
        </p:nvSpPr>
        <p:spPr>
          <a:xfrm>
            <a:off x="8859317"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Data Access audit</a:t>
            </a:r>
            <a:endParaRPr lang="en-US" sz="1800" dirty="0"/>
          </a:p>
        </p:txBody>
      </p:sp>
      <p:sp>
        <p:nvSpPr>
          <p:cNvPr id="34" name="cardb-695"/>
          <p:cNvSpPr txBox="1"/>
          <p:nvPr/>
        </p:nvSpPr>
        <p:spPr>
          <a:xfrm>
            <a:off x="8356397"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Off by default (high volume): reads of data and config. Enable selectively for regulated data.</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ag-69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The logging pipeline</a:t>
            </a:r>
            <a:endParaRPr lang="en-US" sz="3200" dirty="0"/>
          </a:p>
        </p:txBody>
      </p:sp>
      <p:sp>
        <p:nvSpPr>
          <p:cNvPr id="4" name="step-697"/>
          <p:cNvSpPr/>
          <p:nvPr/>
        </p:nvSpPr>
        <p:spPr>
          <a:xfrm>
            <a:off x="548640" y="1920240"/>
            <a:ext cx="1889699" cy="2651760"/>
          </a:xfrm>
          <a:prstGeom prst="roundRect">
            <a:avLst>
              <a:gd name="adj" fmla="val 3871"/>
            </a:avLst>
          </a:prstGeom>
          <a:solidFill>
            <a:schemeClr val="bg2"/>
          </a:solidFill>
          <a:ln w="15875">
            <a:solidFill>
              <a:schemeClr val="accent1"/>
            </a:solidFill>
            <a:prstDash val="solid"/>
          </a:ln>
        </p:spPr>
      </p:sp>
      <p:sp>
        <p:nvSpPr>
          <p:cNvPr id="5" name="badge-698"/>
          <p:cNvSpPr/>
          <p:nvPr/>
        </p:nvSpPr>
        <p:spPr>
          <a:xfrm>
            <a:off x="1283178" y="1709928"/>
            <a:ext cx="420624" cy="420624"/>
          </a:xfrm>
          <a:prstGeom prst="ellipse">
            <a:avLst/>
          </a:prstGeom>
          <a:solidFill>
            <a:schemeClr val="accent1"/>
          </a:solidFill>
          <a:ln w="12700">
            <a:solidFill>
              <a:schemeClr val="accent1"/>
            </a:solidFill>
            <a:prstDash val="solid"/>
          </a:ln>
        </p:spPr>
      </p:sp>
      <p:sp>
        <p:nvSpPr>
          <p:cNvPr id="6" name="badgetxt-699"/>
          <p:cNvSpPr txBox="1"/>
          <p:nvPr/>
        </p:nvSpPr>
        <p:spPr>
          <a:xfrm>
            <a:off x="1283178"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steph-700"/>
          <p:cNvSpPr txBox="1"/>
          <p:nvPr/>
        </p:nvSpPr>
        <p:spPr>
          <a:xfrm>
            <a:off x="658368"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Sources</a:t>
            </a:r>
            <a:endParaRPr lang="en-US" sz="1700" dirty="0"/>
          </a:p>
        </p:txBody>
      </p:sp>
      <p:sp>
        <p:nvSpPr>
          <p:cNvPr id="8" name="stepb-701"/>
          <p:cNvSpPr txBox="1"/>
          <p:nvPr/>
        </p:nvSpPr>
        <p:spPr>
          <a:xfrm>
            <a:off x="685800"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Flow, firewall, NAT, DNS and audit logs in host, fintech and health projects.</a:t>
            </a:r>
            <a:endParaRPr lang="en-US" sz="1500" dirty="0"/>
          </a:p>
        </p:txBody>
      </p:sp>
      <p:sp>
        <p:nvSpPr>
          <p:cNvPr id="9" name="arrow-702"/>
          <p:cNvSpPr/>
          <p:nvPr/>
        </p:nvSpPr>
        <p:spPr>
          <a:xfrm>
            <a:off x="2502347" y="3108960"/>
            <a:ext cx="283464" cy="274320"/>
          </a:xfrm>
          <a:prstGeom prst="rightArrow">
            <a:avLst/>
          </a:prstGeom>
          <a:solidFill>
            <a:schemeClr val="accent2"/>
          </a:solidFill>
          <a:ln w="12700">
            <a:solidFill>
              <a:schemeClr val="accent2"/>
            </a:solidFill>
            <a:prstDash val="solid"/>
          </a:ln>
        </p:spPr>
      </p:sp>
      <p:sp>
        <p:nvSpPr>
          <p:cNvPr id="10" name="step-703"/>
          <p:cNvSpPr/>
          <p:nvPr/>
        </p:nvSpPr>
        <p:spPr>
          <a:xfrm>
            <a:off x="2849819" y="1920240"/>
            <a:ext cx="1889699" cy="2651760"/>
          </a:xfrm>
          <a:prstGeom prst="roundRect">
            <a:avLst>
              <a:gd name="adj" fmla="val 3871"/>
            </a:avLst>
          </a:prstGeom>
          <a:solidFill>
            <a:schemeClr val="tx2"/>
          </a:solidFill>
          <a:ln w="15875">
            <a:solidFill>
              <a:schemeClr val="accent1"/>
            </a:solidFill>
            <a:prstDash val="solid"/>
          </a:ln>
        </p:spPr>
      </p:sp>
      <p:sp>
        <p:nvSpPr>
          <p:cNvPr id="11" name="badge-704"/>
          <p:cNvSpPr/>
          <p:nvPr/>
        </p:nvSpPr>
        <p:spPr>
          <a:xfrm>
            <a:off x="3584357" y="1709928"/>
            <a:ext cx="420624" cy="420624"/>
          </a:xfrm>
          <a:prstGeom prst="ellipse">
            <a:avLst/>
          </a:prstGeom>
          <a:solidFill>
            <a:schemeClr val="accent2"/>
          </a:solidFill>
          <a:ln w="12700">
            <a:solidFill>
              <a:schemeClr val="accent2"/>
            </a:solidFill>
            <a:prstDash val="solid"/>
          </a:ln>
        </p:spPr>
      </p:sp>
      <p:sp>
        <p:nvSpPr>
          <p:cNvPr id="12" name="badgetxt-705"/>
          <p:cNvSpPr txBox="1"/>
          <p:nvPr/>
        </p:nvSpPr>
        <p:spPr>
          <a:xfrm>
            <a:off x="3584357"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steph-706"/>
          <p:cNvSpPr txBox="1"/>
          <p:nvPr/>
        </p:nvSpPr>
        <p:spPr>
          <a:xfrm>
            <a:off x="2959547" y="2240280"/>
            <a:ext cx="1670243" cy="640080"/>
          </a:xfrm>
          <a:prstGeom prst="rect">
            <a:avLst/>
          </a:prstGeom>
          <a:noFill/>
          <a:ln/>
        </p:spPr>
        <p:txBody>
          <a:bodyPr wrap="square" lIns="0" tIns="0" rIns="0" bIns="0" rtlCol="0" anchor="ctr"/>
          <a:lstStyle/>
          <a:p>
            <a:pPr algn="ctr" indent="0" marL="0">
              <a:buNone/>
            </a:pPr>
            <a:r>
              <a:rPr lang="en-US" sz="1700" b="1" dirty="0">
                <a:solidFill>
                  <a:schemeClr val="bg1"/>
                </a:solidFill>
              </a:rPr>
              <a:t>Log Router</a:t>
            </a:r>
            <a:endParaRPr lang="en-US" sz="1700" dirty="0"/>
          </a:p>
        </p:txBody>
      </p:sp>
      <p:sp>
        <p:nvSpPr>
          <p:cNvPr id="14" name="stepb-707"/>
          <p:cNvSpPr txBox="1"/>
          <p:nvPr/>
        </p:nvSpPr>
        <p:spPr>
          <a:xfrm>
            <a:off x="2986979" y="2926080"/>
            <a:ext cx="1615379" cy="1554480"/>
          </a:xfrm>
          <a:prstGeom prst="rect">
            <a:avLst/>
          </a:prstGeom>
          <a:noFill/>
          <a:ln/>
        </p:spPr>
        <p:txBody>
          <a:bodyPr wrap="square" lIns="0" tIns="0" rIns="0" bIns="0" rtlCol="0" anchor="t"/>
          <a:lstStyle/>
          <a:p>
            <a:pPr algn="l" indent="0" marL="0">
              <a:buNone/>
            </a:pPr>
            <a:r>
              <a:rPr lang="en-US" sz="1500" dirty="0">
                <a:solidFill>
                  <a:schemeClr val="bg1"/>
                </a:solidFill>
              </a:rPr>
              <a:t>Every entry passes through project sinks. Each sink has a filter, a destination and its own writer identity.</a:t>
            </a:r>
            <a:endParaRPr lang="en-US" sz="1500" dirty="0"/>
          </a:p>
        </p:txBody>
      </p:sp>
      <p:sp>
        <p:nvSpPr>
          <p:cNvPr id="15" name="arrow-708"/>
          <p:cNvSpPr/>
          <p:nvPr/>
        </p:nvSpPr>
        <p:spPr>
          <a:xfrm>
            <a:off x="4803526" y="3108960"/>
            <a:ext cx="283464" cy="274320"/>
          </a:xfrm>
          <a:prstGeom prst="rightArrow">
            <a:avLst/>
          </a:prstGeom>
          <a:solidFill>
            <a:schemeClr val="accent2"/>
          </a:solidFill>
          <a:ln w="12700">
            <a:solidFill>
              <a:schemeClr val="accent2"/>
            </a:solidFill>
            <a:prstDash val="solid"/>
          </a:ln>
        </p:spPr>
      </p:sp>
      <p:sp>
        <p:nvSpPr>
          <p:cNvPr id="16" name="step-709"/>
          <p:cNvSpPr/>
          <p:nvPr/>
        </p:nvSpPr>
        <p:spPr>
          <a:xfrm>
            <a:off x="5150998" y="1920240"/>
            <a:ext cx="1889699" cy="2651760"/>
          </a:xfrm>
          <a:prstGeom prst="roundRect">
            <a:avLst>
              <a:gd name="adj" fmla="val 3871"/>
            </a:avLst>
          </a:prstGeom>
          <a:solidFill>
            <a:schemeClr val="bg2"/>
          </a:solidFill>
          <a:ln w="15875">
            <a:solidFill>
              <a:schemeClr val="accent1"/>
            </a:solidFill>
            <a:prstDash val="solid"/>
          </a:ln>
        </p:spPr>
      </p:sp>
      <p:sp>
        <p:nvSpPr>
          <p:cNvPr id="17" name="badge-710"/>
          <p:cNvSpPr/>
          <p:nvPr/>
        </p:nvSpPr>
        <p:spPr>
          <a:xfrm>
            <a:off x="5885536" y="1709928"/>
            <a:ext cx="420624" cy="420624"/>
          </a:xfrm>
          <a:prstGeom prst="ellipse">
            <a:avLst/>
          </a:prstGeom>
          <a:solidFill>
            <a:schemeClr val="accent1"/>
          </a:solidFill>
          <a:ln w="12700">
            <a:solidFill>
              <a:schemeClr val="accent1"/>
            </a:solidFill>
            <a:prstDash val="solid"/>
          </a:ln>
        </p:spPr>
      </p:sp>
      <p:sp>
        <p:nvSpPr>
          <p:cNvPr id="18" name="badgetxt-711"/>
          <p:cNvSpPr txBox="1"/>
          <p:nvPr/>
        </p:nvSpPr>
        <p:spPr>
          <a:xfrm>
            <a:off x="5885536"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steph-712"/>
          <p:cNvSpPr txBox="1"/>
          <p:nvPr/>
        </p:nvSpPr>
        <p:spPr>
          <a:xfrm>
            <a:off x="5260726"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Destinations</a:t>
            </a:r>
            <a:endParaRPr lang="en-US" sz="1700" dirty="0"/>
          </a:p>
        </p:txBody>
      </p:sp>
      <p:sp>
        <p:nvSpPr>
          <p:cNvPr id="20" name="stepb-713"/>
          <p:cNvSpPr txBox="1"/>
          <p:nvPr/>
        </p:nvSpPr>
        <p:spPr>
          <a:xfrm>
            <a:off x="5288158"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Flow logs to BigQuery (30-day partitions). Firewall, NAT, DNS and audit to a GCS archive (365 days).</a:t>
            </a:r>
            <a:endParaRPr lang="en-US" sz="1500" dirty="0"/>
          </a:p>
        </p:txBody>
      </p:sp>
      <p:sp>
        <p:nvSpPr>
          <p:cNvPr id="21" name="arrow-714"/>
          <p:cNvSpPr/>
          <p:nvPr/>
        </p:nvSpPr>
        <p:spPr>
          <a:xfrm>
            <a:off x="7104705" y="3108960"/>
            <a:ext cx="283464" cy="274320"/>
          </a:xfrm>
          <a:prstGeom prst="rightArrow">
            <a:avLst/>
          </a:prstGeom>
          <a:solidFill>
            <a:schemeClr val="accent2"/>
          </a:solidFill>
          <a:ln w="12700">
            <a:solidFill>
              <a:schemeClr val="accent2"/>
            </a:solidFill>
            <a:prstDash val="solid"/>
          </a:ln>
        </p:spPr>
      </p:sp>
      <p:sp>
        <p:nvSpPr>
          <p:cNvPr id="22" name="step-715"/>
          <p:cNvSpPr/>
          <p:nvPr/>
        </p:nvSpPr>
        <p:spPr>
          <a:xfrm>
            <a:off x="7452177" y="1920240"/>
            <a:ext cx="1889699" cy="2651760"/>
          </a:xfrm>
          <a:prstGeom prst="roundRect">
            <a:avLst>
              <a:gd name="adj" fmla="val 3871"/>
            </a:avLst>
          </a:prstGeom>
          <a:solidFill>
            <a:schemeClr val="bg2"/>
          </a:solidFill>
          <a:ln w="15875">
            <a:solidFill>
              <a:schemeClr val="accent1"/>
            </a:solidFill>
            <a:prstDash val="solid"/>
          </a:ln>
        </p:spPr>
      </p:sp>
      <p:sp>
        <p:nvSpPr>
          <p:cNvPr id="23" name="badge-716"/>
          <p:cNvSpPr/>
          <p:nvPr/>
        </p:nvSpPr>
        <p:spPr>
          <a:xfrm>
            <a:off x="8186715" y="1709928"/>
            <a:ext cx="420624" cy="420624"/>
          </a:xfrm>
          <a:prstGeom prst="ellipse">
            <a:avLst/>
          </a:prstGeom>
          <a:solidFill>
            <a:schemeClr val="accent1"/>
          </a:solidFill>
          <a:ln w="12700">
            <a:solidFill>
              <a:schemeClr val="accent1"/>
            </a:solidFill>
            <a:prstDash val="solid"/>
          </a:ln>
        </p:spPr>
      </p:sp>
      <p:sp>
        <p:nvSpPr>
          <p:cNvPr id="24" name="badgetxt-717"/>
          <p:cNvSpPr txBox="1"/>
          <p:nvPr/>
        </p:nvSpPr>
        <p:spPr>
          <a:xfrm>
            <a:off x="8186715"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steph-718"/>
          <p:cNvSpPr txBox="1"/>
          <p:nvPr/>
        </p:nvSpPr>
        <p:spPr>
          <a:xfrm>
            <a:off x="7561905"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Metrics</a:t>
            </a:r>
            <a:endParaRPr lang="en-US" sz="1700" dirty="0"/>
          </a:p>
        </p:txBody>
      </p:sp>
      <p:sp>
        <p:nvSpPr>
          <p:cNvPr id="26" name="stepb-719"/>
          <p:cNvSpPr txBox="1"/>
          <p:nvPr/>
        </p:nvSpPr>
        <p:spPr>
          <a:xfrm>
            <a:off x="7589337"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Log-based metrics count events: firewall denies per rule, and network changes by who and what.</a:t>
            </a:r>
            <a:endParaRPr lang="en-US" sz="1500" dirty="0"/>
          </a:p>
        </p:txBody>
      </p:sp>
      <p:sp>
        <p:nvSpPr>
          <p:cNvPr id="27" name="arrow-720"/>
          <p:cNvSpPr/>
          <p:nvPr/>
        </p:nvSpPr>
        <p:spPr>
          <a:xfrm>
            <a:off x="9405884" y="3108960"/>
            <a:ext cx="283464" cy="274320"/>
          </a:xfrm>
          <a:prstGeom prst="rightArrow">
            <a:avLst/>
          </a:prstGeom>
          <a:solidFill>
            <a:schemeClr val="accent2"/>
          </a:solidFill>
          <a:ln w="12700">
            <a:solidFill>
              <a:schemeClr val="accent2"/>
            </a:solidFill>
            <a:prstDash val="solid"/>
          </a:ln>
        </p:spPr>
      </p:sp>
      <p:sp>
        <p:nvSpPr>
          <p:cNvPr id="28" name="step-721"/>
          <p:cNvSpPr/>
          <p:nvPr/>
        </p:nvSpPr>
        <p:spPr>
          <a:xfrm>
            <a:off x="9753356" y="1920240"/>
            <a:ext cx="1889699" cy="2651760"/>
          </a:xfrm>
          <a:prstGeom prst="roundRect">
            <a:avLst>
              <a:gd name="adj" fmla="val 3871"/>
            </a:avLst>
          </a:prstGeom>
          <a:solidFill>
            <a:schemeClr val="bg2"/>
          </a:solidFill>
          <a:ln w="15875">
            <a:solidFill>
              <a:schemeClr val="accent1"/>
            </a:solidFill>
            <a:prstDash val="solid"/>
          </a:ln>
        </p:spPr>
      </p:sp>
      <p:sp>
        <p:nvSpPr>
          <p:cNvPr id="29" name="badge-722"/>
          <p:cNvSpPr/>
          <p:nvPr/>
        </p:nvSpPr>
        <p:spPr>
          <a:xfrm>
            <a:off x="10487894" y="1709928"/>
            <a:ext cx="420624" cy="420624"/>
          </a:xfrm>
          <a:prstGeom prst="ellipse">
            <a:avLst/>
          </a:prstGeom>
          <a:solidFill>
            <a:schemeClr val="accent1"/>
          </a:solidFill>
          <a:ln w="12700">
            <a:solidFill>
              <a:schemeClr val="accent1"/>
            </a:solidFill>
            <a:prstDash val="solid"/>
          </a:ln>
        </p:spPr>
      </p:sp>
      <p:sp>
        <p:nvSpPr>
          <p:cNvPr id="30" name="badgetxt-723"/>
          <p:cNvSpPr txBox="1"/>
          <p:nvPr/>
        </p:nvSpPr>
        <p:spPr>
          <a:xfrm>
            <a:off x="10487894"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steph-724"/>
          <p:cNvSpPr txBox="1"/>
          <p:nvPr/>
        </p:nvSpPr>
        <p:spPr>
          <a:xfrm>
            <a:off x="9863084"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Alerts</a:t>
            </a:r>
            <a:endParaRPr lang="en-US" sz="1700" dirty="0"/>
          </a:p>
        </p:txBody>
      </p:sp>
      <p:sp>
        <p:nvSpPr>
          <p:cNvPr id="32" name="stepb-725"/>
          <p:cNvSpPr txBox="1"/>
          <p:nvPr/>
        </p:nvSpPr>
        <p:spPr>
          <a:xfrm>
            <a:off x="9890516"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Thresholds in the metrics scope fire email with a runbook in the documentation field.</a:t>
            </a:r>
            <a:endParaRPr lang="en-US" sz="1500" dirty="0"/>
          </a:p>
        </p:txBody>
      </p:sp>
      <p:sp>
        <p:nvSpPr>
          <p:cNvPr id="33" name="belowbox-726"/>
          <p:cNvSpPr/>
          <p:nvPr/>
        </p:nvSpPr>
        <p:spPr>
          <a:xfrm>
            <a:off x="548640" y="4892040"/>
            <a:ext cx="11094415" cy="1371600"/>
          </a:xfrm>
          <a:prstGeom prst="roundRect">
            <a:avLst>
              <a:gd name="adj" fmla="val 4000"/>
            </a:avLst>
          </a:prstGeom>
          <a:solidFill>
            <a:schemeClr val="bg2"/>
          </a:solidFill>
          <a:ln w="12700">
            <a:solidFill>
              <a:schemeClr val="bg2"/>
            </a:solidFill>
            <a:prstDash val="solid"/>
          </a:ln>
        </p:spPr>
      </p:sp>
      <p:sp>
        <p:nvSpPr>
          <p:cNvPr id="34" name="below-727"/>
          <p:cNvSpPr txBox="1"/>
          <p:nvPr/>
        </p:nvSpPr>
        <p:spPr>
          <a:xfrm>
            <a:off x="822960" y="4983480"/>
            <a:ext cx="10545775" cy="1188720"/>
          </a:xfrm>
          <a:prstGeom prst="rect">
            <a:avLst/>
          </a:prstGeom>
          <a:noFill/>
          <a:ln/>
        </p:spPr>
        <p:txBody>
          <a:bodyPr wrap="square" lIns="0" tIns="0" rIns="0" bIns="0" rtlCol="0" anchor="ctr"/>
          <a:lstStyle/>
          <a:p>
            <a:pPr indent="0" marL="0">
              <a:buNone/>
            </a:pPr>
            <a:r>
              <a:rPr lang="en-US" sz="1600" dirty="0">
                <a:solidFill>
                  <a:schemeClr val="tx1"/>
                </a:solidFill>
              </a:rPr>
              <a:t>Each sink writes with its own service identity, granted only bigquery.dataEditor on the dataset or storage.objectCreator on the bucket. Tenant sinks write into the host project, so logs are centralised without tenants seeing each other's data.</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ag-72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Choosing a log destination</a:t>
            </a:r>
            <a:endParaRPr lang="en-US" sz="3200" dirty="0"/>
          </a:p>
        </p:txBody>
      </p:sp>
      <p:graphicFrame>
        <p:nvGraphicFramePr>
          <p:cNvPr id="47" name="table-729"/>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194560"/>
                <a:gridCol w="3108960"/>
                <a:gridCol w="2194560"/>
                <a:gridCol w="3593592"/>
              </a:tblGrid>
              <a:tr h="0">
                <a:tc>
                  <a:txBody>
                    <a:bodyPr/>
                    <a:lstStyle/>
                    <a:p>
                      <a:pPr indent="0" marL="0">
                        <a:buNone/>
                      </a:pPr>
                      <a:r>
                        <a:rPr lang="en-US" sz="1700" b="1" dirty="0">
                          <a:solidFill>
                            <a:schemeClr val="bg1"/>
                          </a:solidFill>
                        </a:rPr>
                        <a:t>Destination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Best for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Latency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Cost and retention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Log bucket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Interactive search; Log Analytics SQL (Flow Analyzer)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Seconds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30 days default; ingestion billed beyond free tier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BigQuery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SQL analytics, joins, dashboards (top talkers)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Seconds (streaming)</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Storage + queries; partition expiry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Cloud Storage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Cheap long-term retention, audit evidence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Hourly batches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Cheapest; lifecycle to Coldline/Archive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Pub/Sub</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Streaming to a SIEM or automation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Real time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Per message; consumer decides retention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5" name="foot-730"/>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300" i="1" dirty="0">
                <a:solidFill>
                  <a:schemeClr val="accent4"/>
                </a:solidFill>
              </a:rPr>
              <a:t>Our GCS sink showed 'Starting up, 0 B' for its first hour. That's normal: Cloud Storage sinks write in hourly batches, while BigQuery showed data within minutes.</a:t>
            </a:r>
            <a:endParaRPr lang="en-US" sz="13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ag-731"/>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Log-based metrics and alert policies</a:t>
            </a:r>
            <a:endParaRPr lang="en-US" sz="3200" dirty="0"/>
          </a:p>
        </p:txBody>
      </p:sp>
      <p:sp>
        <p:nvSpPr>
          <p:cNvPr id="5" name="lh-732"/>
          <p:cNvSpPr txBox="1"/>
          <p:nvPr/>
        </p:nvSpPr>
        <p:spPr>
          <a:xfrm>
            <a:off x="548640" y="1600200"/>
            <a:ext cx="6400800" cy="365760"/>
          </a:xfrm>
          <a:prstGeom prst="rect">
            <a:avLst/>
          </a:prstGeom>
          <a:noFill/>
          <a:ln/>
        </p:spPr>
        <p:txBody>
          <a:bodyPr wrap="square" lIns="0" tIns="0" rIns="0" bIns="0" rtlCol="0" anchor="ctr"/>
          <a:lstStyle/>
          <a:p>
            <a:pPr indent="0" marL="0">
              <a:buNone/>
            </a:pPr>
            <a:r>
              <a:rPr lang="en-US" sz="1800" b="1" dirty="0">
                <a:solidFill>
                  <a:schemeClr val="accent3"/>
                </a:solidFill>
              </a:rPr>
              <a:t>How an alert evaluates</a:t>
            </a:r>
            <a:endParaRPr lang="en-US" sz="1800" dirty="0"/>
          </a:p>
        </p:txBody>
      </p:sp>
      <p:sp>
        <p:nvSpPr>
          <p:cNvPr id="6" name="left-733"/>
          <p:cNvSpPr txBox="1"/>
          <p:nvPr/>
        </p:nvSpPr>
        <p:spPr>
          <a:xfrm>
            <a:off x="548640" y="2057400"/>
            <a:ext cx="6400800" cy="420624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1"/>
                </a:solidFill>
              </a:rPr>
              <a:t>Log-based metric:</a:t>
            </a:r>
            <a:pPr indent="0" marL="0">
              <a:spcAft>
                <a:spcPts val="600"/>
              </a:spcAft>
              <a:buNone/>
            </a:pPr>
            <a:r>
              <a:rPr lang="en-US" sz="1700" dirty="0">
                <a:solidFill>
                  <a:schemeClr val="tx1"/>
                </a:solidFill>
              </a:rPr>
              <a:t> a counter (or distribution) incremented by matching entries; labels via EXTRACT(field).</a:t>
            </a:r>
            <a:endParaRPr lang="en-US" sz="1700" dirty="0"/>
          </a:p>
          <a:p>
            <a:pPr marL="342900" indent="-342900">
              <a:spcAft>
                <a:spcPts val="600"/>
              </a:spcAft>
              <a:buSzPct val="100000"/>
              <a:buChar char="•"/>
            </a:pPr>
            <a:r>
              <a:rPr lang="en-US" sz="1700" b="1" dirty="0">
                <a:solidFill>
                  <a:schemeClr val="tx1"/>
                </a:solidFill>
              </a:rPr>
              <a:t>Alignment:</a:t>
            </a:r>
            <a:pPr indent="0" marL="0">
              <a:spcAft>
                <a:spcPts val="600"/>
              </a:spcAft>
              <a:buNone/>
            </a:pPr>
            <a:r>
              <a:rPr lang="en-US" sz="1700" dirty="0">
                <a:solidFill>
                  <a:schemeClr val="tx1"/>
                </a:solidFill>
              </a:rPr>
              <a:t> each time series is bucketed per period (60s, 300s) with an aligner such as ALIGN_SUM or ALIGN_RATE.</a:t>
            </a:r>
            <a:endParaRPr lang="en-US" sz="1700" dirty="0"/>
          </a:p>
          <a:p>
            <a:pPr marL="342900" indent="-342900">
              <a:spcAft>
                <a:spcPts val="600"/>
              </a:spcAft>
              <a:buSzPct val="100000"/>
              <a:buChar char="•"/>
            </a:pPr>
            <a:r>
              <a:rPr lang="en-US" sz="1700" b="1" dirty="0">
                <a:solidFill>
                  <a:schemeClr val="tx1"/>
                </a:solidFill>
              </a:rPr>
              <a:t>Reduction:</a:t>
            </a:r>
            <a:pPr indent="0" marL="0">
              <a:spcAft>
                <a:spcPts val="600"/>
              </a:spcAft>
              <a:buNone/>
            </a:pPr>
            <a:r>
              <a:rPr lang="en-US" sz="1700" dirty="0">
                <a:solidFill>
                  <a:schemeClr val="tx1"/>
                </a:solidFill>
              </a:rPr>
              <a:t> cross-series reducer (REDUCE_SUM) combines series, e.g. all projects or all rules.</a:t>
            </a:r>
            <a:endParaRPr lang="en-US" sz="1700" dirty="0"/>
          </a:p>
          <a:p>
            <a:pPr marL="342900" indent="-342900">
              <a:spcAft>
                <a:spcPts val="600"/>
              </a:spcAft>
              <a:buSzPct val="100000"/>
              <a:buChar char="•"/>
            </a:pPr>
            <a:r>
              <a:rPr lang="en-US" sz="1700" b="1" dirty="0">
                <a:solidFill>
                  <a:schemeClr val="tx1"/>
                </a:solidFill>
              </a:rPr>
              <a:t>Condition:</a:t>
            </a:r>
            <a:pPr indent="0" marL="0">
              <a:spcAft>
                <a:spcPts val="600"/>
              </a:spcAft>
              <a:buNone/>
            </a:pPr>
            <a:r>
              <a:rPr lang="en-US" sz="1700" dirty="0">
                <a:solidFill>
                  <a:schemeClr val="tx1"/>
                </a:solidFill>
              </a:rPr>
              <a:t> comparison + threshold + duration (how long it must hold).</a:t>
            </a:r>
            <a:endParaRPr lang="en-US" sz="1700" dirty="0"/>
          </a:p>
          <a:p>
            <a:pPr marL="342900" indent="-342900">
              <a:spcAft>
                <a:spcPts val="600"/>
              </a:spcAft>
              <a:buSzPct val="100000"/>
              <a:buChar char="•"/>
            </a:pPr>
            <a:r>
              <a:rPr lang="en-US" sz="1700" b="1" dirty="0">
                <a:solidFill>
                  <a:schemeClr val="tx1"/>
                </a:solidFill>
              </a:rPr>
              <a:t>resource.type is mandatory:</a:t>
            </a:r>
            <a:pPr indent="0" marL="0">
              <a:spcAft>
                <a:spcPts val="600"/>
              </a:spcAft>
              <a:buNone/>
            </a:pPr>
            <a:r>
              <a:rPr lang="en-US" sz="1700" dirty="0">
                <a:solidFill>
                  <a:schemeClr val="tx1"/>
                </a:solidFill>
              </a:rPr>
              <a:t> the metric keeps the log's resource type; firewall logs = gce_subnetwork.</a:t>
            </a:r>
            <a:endParaRPr lang="en-US" sz="1700" dirty="0"/>
          </a:p>
        </p:txBody>
      </p:sp>
      <p:sp>
        <p:nvSpPr>
          <p:cNvPr id="7" name="panel-734"/>
          <p:cNvSpPr/>
          <p:nvPr/>
        </p:nvSpPr>
        <p:spPr>
          <a:xfrm>
            <a:off x="7315200" y="1600200"/>
            <a:ext cx="4327855" cy="4663440"/>
          </a:xfrm>
          <a:prstGeom prst="roundRect">
            <a:avLst>
              <a:gd name="adj" fmla="val 1690"/>
            </a:avLst>
          </a:prstGeom>
          <a:solidFill>
            <a:schemeClr val="tx2"/>
          </a:solidFill>
          <a:ln w="12700">
            <a:solidFill>
              <a:schemeClr val="tx2"/>
            </a:solidFill>
            <a:prstDash val="solid"/>
          </a:ln>
        </p:spPr>
      </p:sp>
      <p:sp>
        <p:nvSpPr>
          <p:cNvPr id="8" name="rh-735"/>
          <p:cNvSpPr txBox="1"/>
          <p:nvPr/>
        </p:nvSpPr>
        <p:spPr>
          <a:xfrm>
            <a:off x="7589520" y="1828800"/>
            <a:ext cx="3779215" cy="411480"/>
          </a:xfrm>
          <a:prstGeom prst="rect">
            <a:avLst/>
          </a:prstGeom>
          <a:noFill/>
          <a:ln/>
        </p:spPr>
        <p:txBody>
          <a:bodyPr wrap="square" lIns="0" tIns="0" rIns="0" bIns="0" rtlCol="0" anchor="ctr"/>
          <a:lstStyle/>
          <a:p>
            <a:pPr indent="0" marL="0">
              <a:buNone/>
            </a:pPr>
            <a:r>
              <a:rPr lang="en-US" sz="1800" b="1" dirty="0">
                <a:solidFill>
                  <a:schemeClr val="accent2"/>
                </a:solidFill>
              </a:rPr>
              <a:t>In this build</a:t>
            </a:r>
            <a:endParaRPr lang="en-US" sz="1800" dirty="0"/>
          </a:p>
        </p:txBody>
      </p:sp>
      <p:sp>
        <p:nvSpPr>
          <p:cNvPr id="9" name="right-736"/>
          <p:cNvSpPr txBox="1"/>
          <p:nvPr/>
        </p:nvSpPr>
        <p:spPr>
          <a:xfrm>
            <a:off x="7589520" y="2377440"/>
            <a:ext cx="3779215" cy="3703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NAT packets dropped: rate &gt; 0 for 5 min</a:t>
            </a:r>
            <a:endParaRPr lang="en-US" sz="1600" dirty="0"/>
          </a:p>
          <a:p>
            <a:pPr marL="342900" indent="-342900">
              <a:spcAft>
                <a:spcPts val="600"/>
              </a:spcAft>
              <a:buSzPct val="100000"/>
              <a:buChar char="•"/>
            </a:pPr>
            <a:r>
              <a:rPr lang="en-US" sz="1600" dirty="0">
                <a:solidFill>
                  <a:schemeClr val="bg1"/>
                </a:solidFill>
              </a:rPr>
              <a:t>NAT allocation failed: any (port exhaustion)</a:t>
            </a:r>
            <a:endParaRPr lang="en-US" sz="1600" dirty="0"/>
          </a:p>
          <a:p>
            <a:pPr marL="342900" indent="-342900">
              <a:spcAft>
                <a:spcPts val="600"/>
              </a:spcAft>
              <a:buSzPct val="100000"/>
              <a:buChar char="•"/>
            </a:pPr>
            <a:r>
              <a:rPr lang="en-US" sz="1600" dirty="0">
                <a:solidFill>
                  <a:schemeClr val="bg1"/>
                </a:solidFill>
              </a:rPr>
              <a:t>Firewall deny spike: &gt; 20 in 5 min, fired at 30</a:t>
            </a:r>
            <a:endParaRPr lang="en-US" sz="1600" dirty="0"/>
          </a:p>
          <a:p>
            <a:pPr marL="342900" indent="-342900">
              <a:spcAft>
                <a:spcPts val="600"/>
              </a:spcAft>
              <a:buSzPct val="100000"/>
              <a:buChar char="•"/>
            </a:pPr>
            <a:r>
              <a:rPr lang="en-US" sz="1600" dirty="0">
                <a:solidFill>
                  <a:schemeClr val="bg1"/>
                </a:solidFill>
              </a:rPr>
              <a:t>Change outside Terraform: any change not by network-admin-sa; caught firewalls.patch and firewalls.delete with who did it</a:t>
            </a:r>
            <a:endParaRPr lang="en-US" sz="1600" dirty="0"/>
          </a:p>
          <a:p>
            <a:pPr marL="342900" indent="-342900">
              <a:spcAft>
                <a:spcPts val="600"/>
              </a:spcAft>
              <a:buSzPct val="100000"/>
              <a:buChar char="•"/>
            </a:pPr>
            <a:r>
              <a:rPr lang="en-US" sz="1600" dirty="0">
                <a:solidFill>
                  <a:schemeClr val="bg1"/>
                </a:solidFill>
              </a:rPr>
              <a:t>One policy covers all projects via the metrics scope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ag-73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Network Intelligence Center and sampling strategy</a:t>
            </a:r>
            <a:endParaRPr lang="en-US" sz="3200" dirty="0"/>
          </a:p>
        </p:txBody>
      </p:sp>
      <p:sp>
        <p:nvSpPr>
          <p:cNvPr id="5" name="card-738"/>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6" name="badge-739"/>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740"/>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741"/>
          <p:cNvSpPr txBox="1"/>
          <p:nvPr/>
        </p:nvSpPr>
        <p:spPr>
          <a:xfrm>
            <a:off x="1280160"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Connectivity Tests</a:t>
            </a:r>
            <a:endParaRPr lang="en-US" sz="1800" dirty="0"/>
          </a:p>
        </p:txBody>
      </p:sp>
      <p:sp>
        <p:nvSpPr>
          <p:cNvPr id="9" name="cardb-742"/>
          <p:cNvSpPr txBox="1"/>
          <p:nvPr/>
        </p:nvSpPr>
        <p:spPr>
          <a:xfrm>
            <a:off x="777240"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Static analysis of routes and firewalls between two endpoints, plus live data-plane probes. Showed dev→prod dropped by deny-egress-private-ranges.</a:t>
            </a:r>
            <a:endParaRPr lang="en-US" sz="1700" dirty="0"/>
          </a:p>
        </p:txBody>
      </p:sp>
      <p:sp>
        <p:nvSpPr>
          <p:cNvPr id="10" name="card-743"/>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1" name="badge-744"/>
          <p:cNvSpPr/>
          <p:nvPr/>
        </p:nvSpPr>
        <p:spPr>
          <a:xfrm>
            <a:off x="6415888" y="1783080"/>
            <a:ext cx="420624" cy="420624"/>
          </a:xfrm>
          <a:prstGeom prst="ellipse">
            <a:avLst/>
          </a:prstGeom>
          <a:solidFill>
            <a:schemeClr val="accent1"/>
          </a:solidFill>
          <a:ln w="12700">
            <a:solidFill>
              <a:schemeClr val="accent1"/>
            </a:solidFill>
            <a:prstDash val="solid"/>
          </a:ln>
        </p:spPr>
      </p:sp>
      <p:sp>
        <p:nvSpPr>
          <p:cNvPr id="12" name="badgetxt-745"/>
          <p:cNvSpPr txBox="1"/>
          <p:nvPr/>
        </p:nvSpPr>
        <p:spPr>
          <a:xfrm>
            <a:off x="641588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746"/>
          <p:cNvSpPr txBox="1"/>
          <p:nvPr/>
        </p:nvSpPr>
        <p:spPr>
          <a:xfrm>
            <a:off x="6964528"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Flow Analyzer</a:t>
            </a:r>
            <a:endParaRPr lang="en-US" sz="1800" dirty="0"/>
          </a:p>
        </p:txBody>
      </p:sp>
      <p:sp>
        <p:nvSpPr>
          <p:cNvPr id="14" name="cardb-747"/>
          <p:cNvSpPr txBox="1"/>
          <p:nvPr/>
        </p:nvSpPr>
        <p:spPr>
          <a:xfrm>
            <a:off x="6461608"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Explores flow logs with Log Analytics SQL. Needs the log bucket upgraded to Log Analytics (one-way).</a:t>
            </a:r>
            <a:endParaRPr lang="en-US" sz="1700" dirty="0"/>
          </a:p>
        </p:txBody>
      </p:sp>
      <p:sp>
        <p:nvSpPr>
          <p:cNvPr id="15" name="card-748"/>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6" name="badge-749"/>
          <p:cNvSpPr/>
          <p:nvPr/>
        </p:nvSpPr>
        <p:spPr>
          <a:xfrm>
            <a:off x="731520" y="4251960"/>
            <a:ext cx="420624" cy="420624"/>
          </a:xfrm>
          <a:prstGeom prst="ellipse">
            <a:avLst/>
          </a:prstGeom>
          <a:solidFill>
            <a:schemeClr val="accent1"/>
          </a:solidFill>
          <a:ln w="12700">
            <a:solidFill>
              <a:schemeClr val="accent1"/>
            </a:solidFill>
            <a:prstDash val="solid"/>
          </a:ln>
        </p:spPr>
      </p:sp>
      <p:sp>
        <p:nvSpPr>
          <p:cNvPr id="17" name="badgetxt-750"/>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751"/>
          <p:cNvSpPr txBox="1"/>
          <p:nvPr/>
        </p:nvSpPr>
        <p:spPr>
          <a:xfrm>
            <a:off x="1280160"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Topology</a:t>
            </a:r>
            <a:endParaRPr lang="en-US" sz="1800" dirty="0"/>
          </a:p>
        </p:txBody>
      </p:sp>
      <p:sp>
        <p:nvSpPr>
          <p:cNvPr id="19" name="cardb-752"/>
          <p:cNvSpPr txBox="1"/>
          <p:nvPr/>
        </p:nvSpPr>
        <p:spPr>
          <a:xfrm>
            <a:off x="777240"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Visual traffic graph from VM metrics with about an hour's delay. Lab-scale traffic didn't register.</a:t>
            </a:r>
            <a:endParaRPr lang="en-US" sz="1700" dirty="0"/>
          </a:p>
        </p:txBody>
      </p:sp>
      <p:sp>
        <p:nvSpPr>
          <p:cNvPr id="20" name="card-753"/>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1" name="badge-754"/>
          <p:cNvSpPr/>
          <p:nvPr/>
        </p:nvSpPr>
        <p:spPr>
          <a:xfrm>
            <a:off x="6415888" y="4251960"/>
            <a:ext cx="420624" cy="420624"/>
          </a:xfrm>
          <a:prstGeom prst="ellipse">
            <a:avLst/>
          </a:prstGeom>
          <a:solidFill>
            <a:schemeClr val="accent1"/>
          </a:solidFill>
          <a:ln w="12700">
            <a:solidFill>
              <a:schemeClr val="accent1"/>
            </a:solidFill>
            <a:prstDash val="solid"/>
          </a:ln>
        </p:spPr>
      </p:sp>
      <p:sp>
        <p:nvSpPr>
          <p:cNvPr id="22" name="badgetxt-755"/>
          <p:cNvSpPr txBox="1"/>
          <p:nvPr/>
        </p:nvSpPr>
        <p:spPr>
          <a:xfrm>
            <a:off x="641588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756"/>
          <p:cNvSpPr txBox="1"/>
          <p:nvPr/>
        </p:nvSpPr>
        <p:spPr>
          <a:xfrm>
            <a:off x="6964528"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Sampling by risk</a:t>
            </a:r>
            <a:endParaRPr lang="en-US" sz="1800" dirty="0"/>
          </a:p>
        </p:txBody>
      </p:sp>
      <p:sp>
        <p:nvSpPr>
          <p:cNvPr id="24" name="cardb-757"/>
          <p:cNvSpPr txBox="1"/>
          <p:nvPr/>
        </p:nvSpPr>
        <p:spPr>
          <a:xfrm>
            <a:off x="6461608"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Prod and tenants 100% (audit evidence); shared-svc 50%; dev and staging 25% (cost). Set per subnet in modules/vpc.</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ag-75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Lessons learned: Phase 7</a:t>
            </a:r>
            <a:endParaRPr lang="en-US" sz="3200" dirty="0"/>
          </a:p>
        </p:txBody>
      </p:sp>
      <p:graphicFrame>
        <p:nvGraphicFramePr>
          <p:cNvPr id="50" name="table-759"/>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8960"/>
                <a:gridCol w="3931920"/>
                <a:gridCol w="4050792"/>
              </a:tblGrid>
              <a:tr h="0">
                <a:tc>
                  <a:txBody>
                    <a:bodyPr/>
                    <a:lstStyle/>
                    <a:p>
                      <a:pPr indent="0" marL="0">
                        <a:buNone/>
                      </a:pPr>
                      <a:r>
                        <a:rPr lang="en-US" sz="1700" b="1" dirty="0">
                          <a:solidFill>
                            <a:schemeClr val="bg1"/>
                          </a:solidFill>
                        </a:rPr>
                        <a:t>Problem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Root cause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Fix</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Alert create 400: resource.type required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Filters on log metrics must name a type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Checked timeSeries API: gce_subnetwork</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Deny alert never fired</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Filter said global, data was gce_subnetwork</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Fixed the filter, re-ran the burst; fired at 30</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validate: no attribute flow_logs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Unzip skipped the existing modules/vpc folder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Rewrote the files, verified with grep -c</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invalid token JSON from metadata</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Cloud Shell credentials broke mid-session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export GOOGLE_OAUTH_ACCESS_TOKEN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ag-76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Test yourself</a:t>
            </a:r>
            <a:endParaRPr lang="en-US" sz="3200" dirty="0"/>
          </a:p>
        </p:txBody>
      </p:sp>
      <p:sp>
        <p:nvSpPr>
          <p:cNvPr id="4" name="qcard-761"/>
          <p:cNvSpPr/>
          <p:nvPr/>
        </p:nvSpPr>
        <p:spPr>
          <a:xfrm>
            <a:off x="548640" y="1600200"/>
            <a:ext cx="3515258" cy="2194560"/>
          </a:xfrm>
          <a:prstGeom prst="roundRect">
            <a:avLst>
              <a:gd name="adj" fmla="val 3333"/>
            </a:avLst>
          </a:prstGeom>
          <a:solidFill>
            <a:schemeClr val="bg1"/>
          </a:solidFill>
          <a:ln w="15875">
            <a:solidFill>
              <a:schemeClr val="accent1"/>
            </a:solidFill>
            <a:prstDash val="solid"/>
          </a:ln>
        </p:spPr>
      </p:sp>
      <p:sp>
        <p:nvSpPr>
          <p:cNvPr id="5" name="badge-762"/>
          <p:cNvSpPr/>
          <p:nvPr/>
        </p:nvSpPr>
        <p:spPr>
          <a:xfrm>
            <a:off x="731520" y="1783080"/>
            <a:ext cx="420624" cy="420624"/>
          </a:xfrm>
          <a:prstGeom prst="ellipse">
            <a:avLst/>
          </a:prstGeom>
          <a:solidFill>
            <a:schemeClr val="accent2"/>
          </a:solidFill>
          <a:ln w="12700">
            <a:solidFill>
              <a:schemeClr val="accent2"/>
            </a:solidFill>
            <a:prstDash val="solid"/>
          </a:ln>
        </p:spPr>
      </p:sp>
      <p:sp>
        <p:nvSpPr>
          <p:cNvPr id="6" name="badgetxt-763"/>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7" name="q-764"/>
          <p:cNvSpPr txBox="1"/>
          <p:nvPr/>
        </p:nvSpPr>
        <p:spPr>
          <a:xfrm>
            <a:off x="1280160"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Which audit logs are always on and free?</a:t>
            </a:r>
            <a:endParaRPr lang="en-US" sz="1600" dirty="0"/>
          </a:p>
        </p:txBody>
      </p:sp>
      <p:sp>
        <p:nvSpPr>
          <p:cNvPr id="8" name="aback-765"/>
          <p:cNvSpPr/>
          <p:nvPr/>
        </p:nvSpPr>
        <p:spPr>
          <a:xfrm>
            <a:off x="685800" y="2651760"/>
            <a:ext cx="3240938" cy="1005840"/>
          </a:xfrm>
          <a:prstGeom prst="roundRect">
            <a:avLst>
              <a:gd name="adj" fmla="val 5455"/>
            </a:avLst>
          </a:prstGeom>
          <a:solidFill>
            <a:schemeClr val="bg2"/>
          </a:solidFill>
          <a:ln w="12700">
            <a:solidFill>
              <a:schemeClr val="bg2"/>
            </a:solidFill>
            <a:prstDash val="solid"/>
          </a:ln>
        </p:spPr>
      </p:sp>
      <p:sp>
        <p:nvSpPr>
          <p:cNvPr id="9" name="a-766"/>
          <p:cNvSpPr txBox="1"/>
          <p:nvPr/>
        </p:nvSpPr>
        <p:spPr>
          <a:xfrm>
            <a:off x="822960"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Admin Activity (and System Event). Data Access is off by default.</a:t>
            </a:r>
            <a:endParaRPr lang="en-US" sz="1500" dirty="0"/>
          </a:p>
        </p:txBody>
      </p:sp>
      <p:sp>
        <p:nvSpPr>
          <p:cNvPr id="10" name="qcard-767"/>
          <p:cNvSpPr/>
          <p:nvPr/>
        </p:nvSpPr>
        <p:spPr>
          <a:xfrm>
            <a:off x="4338218" y="1600200"/>
            <a:ext cx="3515258" cy="2194560"/>
          </a:xfrm>
          <a:prstGeom prst="roundRect">
            <a:avLst>
              <a:gd name="adj" fmla="val 3333"/>
            </a:avLst>
          </a:prstGeom>
          <a:solidFill>
            <a:schemeClr val="bg1"/>
          </a:solidFill>
          <a:ln w="15875">
            <a:solidFill>
              <a:schemeClr val="accent1"/>
            </a:solidFill>
            <a:prstDash val="solid"/>
          </a:ln>
        </p:spPr>
      </p:sp>
      <p:sp>
        <p:nvSpPr>
          <p:cNvPr id="11" name="badge-768"/>
          <p:cNvSpPr/>
          <p:nvPr/>
        </p:nvSpPr>
        <p:spPr>
          <a:xfrm>
            <a:off x="4521098" y="1783080"/>
            <a:ext cx="420624" cy="420624"/>
          </a:xfrm>
          <a:prstGeom prst="ellipse">
            <a:avLst/>
          </a:prstGeom>
          <a:solidFill>
            <a:schemeClr val="accent2"/>
          </a:solidFill>
          <a:ln w="12700">
            <a:solidFill>
              <a:schemeClr val="accent2"/>
            </a:solidFill>
            <a:prstDash val="solid"/>
          </a:ln>
        </p:spPr>
      </p:sp>
      <p:sp>
        <p:nvSpPr>
          <p:cNvPr id="12" name="badgetxt-769"/>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3" name="q-770"/>
          <p:cNvSpPr txBox="1"/>
          <p:nvPr/>
        </p:nvSpPr>
        <p:spPr>
          <a:xfrm>
            <a:off x="5069738"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send flow logs to BigQuery but audit logs to GCS?</a:t>
            </a:r>
            <a:endParaRPr lang="en-US" sz="1600" dirty="0"/>
          </a:p>
        </p:txBody>
      </p:sp>
      <p:sp>
        <p:nvSpPr>
          <p:cNvPr id="14" name="aback-771"/>
          <p:cNvSpPr/>
          <p:nvPr/>
        </p:nvSpPr>
        <p:spPr>
          <a:xfrm>
            <a:off x="4475378" y="2651760"/>
            <a:ext cx="3240938" cy="1005840"/>
          </a:xfrm>
          <a:prstGeom prst="roundRect">
            <a:avLst>
              <a:gd name="adj" fmla="val 5455"/>
            </a:avLst>
          </a:prstGeom>
          <a:solidFill>
            <a:schemeClr val="bg2"/>
          </a:solidFill>
          <a:ln w="12700">
            <a:solidFill>
              <a:schemeClr val="bg2"/>
            </a:solidFill>
            <a:prstDash val="solid"/>
          </a:ln>
        </p:spPr>
      </p:sp>
      <p:sp>
        <p:nvSpPr>
          <p:cNvPr id="15" name="a-772"/>
          <p:cNvSpPr txBox="1"/>
          <p:nvPr/>
        </p:nvSpPr>
        <p:spPr>
          <a:xfrm>
            <a:off x="4612538"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BigQuery for fast SQL analytics; GCS Coldline for cheap, long retention.</a:t>
            </a:r>
            <a:endParaRPr lang="en-US" sz="1500" dirty="0"/>
          </a:p>
        </p:txBody>
      </p:sp>
      <p:sp>
        <p:nvSpPr>
          <p:cNvPr id="16" name="qcard-773"/>
          <p:cNvSpPr/>
          <p:nvPr/>
        </p:nvSpPr>
        <p:spPr>
          <a:xfrm>
            <a:off x="8127797" y="1600200"/>
            <a:ext cx="3515258" cy="2194560"/>
          </a:xfrm>
          <a:prstGeom prst="roundRect">
            <a:avLst>
              <a:gd name="adj" fmla="val 3333"/>
            </a:avLst>
          </a:prstGeom>
          <a:solidFill>
            <a:schemeClr val="bg1"/>
          </a:solidFill>
          <a:ln w="15875">
            <a:solidFill>
              <a:schemeClr val="accent1"/>
            </a:solidFill>
            <a:prstDash val="solid"/>
          </a:ln>
        </p:spPr>
      </p:sp>
      <p:sp>
        <p:nvSpPr>
          <p:cNvPr id="17" name="badge-774"/>
          <p:cNvSpPr/>
          <p:nvPr/>
        </p:nvSpPr>
        <p:spPr>
          <a:xfrm>
            <a:off x="8310677" y="1783080"/>
            <a:ext cx="420624" cy="420624"/>
          </a:xfrm>
          <a:prstGeom prst="ellipse">
            <a:avLst/>
          </a:prstGeom>
          <a:solidFill>
            <a:schemeClr val="accent2"/>
          </a:solidFill>
          <a:ln w="12700">
            <a:solidFill>
              <a:schemeClr val="accent2"/>
            </a:solidFill>
            <a:prstDash val="solid"/>
          </a:ln>
        </p:spPr>
      </p:sp>
      <p:sp>
        <p:nvSpPr>
          <p:cNvPr id="18" name="badgetxt-775"/>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9" name="q-776"/>
          <p:cNvSpPr txBox="1"/>
          <p:nvPr/>
        </p:nvSpPr>
        <p:spPr>
          <a:xfrm>
            <a:off x="8859317"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did the GCS sink show 0 B at first?</a:t>
            </a:r>
            <a:endParaRPr lang="en-US" sz="1600" dirty="0"/>
          </a:p>
        </p:txBody>
      </p:sp>
      <p:sp>
        <p:nvSpPr>
          <p:cNvPr id="20" name="aback-777"/>
          <p:cNvSpPr/>
          <p:nvPr/>
        </p:nvSpPr>
        <p:spPr>
          <a:xfrm>
            <a:off x="8264957" y="2651760"/>
            <a:ext cx="3240938" cy="1005840"/>
          </a:xfrm>
          <a:prstGeom prst="roundRect">
            <a:avLst>
              <a:gd name="adj" fmla="val 5455"/>
            </a:avLst>
          </a:prstGeom>
          <a:solidFill>
            <a:schemeClr val="bg2"/>
          </a:solidFill>
          <a:ln w="12700">
            <a:solidFill>
              <a:schemeClr val="bg2"/>
            </a:solidFill>
            <a:prstDash val="solid"/>
          </a:ln>
        </p:spPr>
      </p:sp>
      <p:sp>
        <p:nvSpPr>
          <p:cNvPr id="21" name="a-778"/>
          <p:cNvSpPr txBox="1"/>
          <p:nvPr/>
        </p:nvSpPr>
        <p:spPr>
          <a:xfrm>
            <a:off x="8402117"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Storage sinks write in hourly batches.</a:t>
            </a:r>
            <a:endParaRPr lang="en-US" sz="1500" dirty="0"/>
          </a:p>
        </p:txBody>
      </p:sp>
      <p:sp>
        <p:nvSpPr>
          <p:cNvPr id="22" name="qcard-779"/>
          <p:cNvSpPr/>
          <p:nvPr/>
        </p:nvSpPr>
        <p:spPr>
          <a:xfrm>
            <a:off x="548640" y="4069080"/>
            <a:ext cx="3515258" cy="2194560"/>
          </a:xfrm>
          <a:prstGeom prst="roundRect">
            <a:avLst>
              <a:gd name="adj" fmla="val 3333"/>
            </a:avLst>
          </a:prstGeom>
          <a:solidFill>
            <a:schemeClr val="bg1"/>
          </a:solidFill>
          <a:ln w="15875">
            <a:solidFill>
              <a:schemeClr val="accent1"/>
            </a:solidFill>
            <a:prstDash val="solid"/>
          </a:ln>
        </p:spPr>
      </p:sp>
      <p:sp>
        <p:nvSpPr>
          <p:cNvPr id="23" name="badge-780"/>
          <p:cNvSpPr/>
          <p:nvPr/>
        </p:nvSpPr>
        <p:spPr>
          <a:xfrm>
            <a:off x="731520" y="4251960"/>
            <a:ext cx="420624" cy="420624"/>
          </a:xfrm>
          <a:prstGeom prst="ellipse">
            <a:avLst/>
          </a:prstGeom>
          <a:solidFill>
            <a:schemeClr val="accent2"/>
          </a:solidFill>
          <a:ln w="12700">
            <a:solidFill>
              <a:schemeClr val="accent2"/>
            </a:solidFill>
            <a:prstDash val="solid"/>
          </a:ln>
        </p:spPr>
      </p:sp>
      <p:sp>
        <p:nvSpPr>
          <p:cNvPr id="24" name="badgetxt-781"/>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25" name="q-782"/>
          <p:cNvSpPr txBox="1"/>
          <p:nvPr/>
        </p:nvSpPr>
        <p:spPr>
          <a:xfrm>
            <a:off x="1280160"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 resource type do firewall log metrics carry?</a:t>
            </a:r>
            <a:endParaRPr lang="en-US" sz="1600" dirty="0"/>
          </a:p>
        </p:txBody>
      </p:sp>
      <p:sp>
        <p:nvSpPr>
          <p:cNvPr id="26" name="aback-783"/>
          <p:cNvSpPr/>
          <p:nvPr/>
        </p:nvSpPr>
        <p:spPr>
          <a:xfrm>
            <a:off x="685800" y="5120640"/>
            <a:ext cx="3240938" cy="1005840"/>
          </a:xfrm>
          <a:prstGeom prst="roundRect">
            <a:avLst>
              <a:gd name="adj" fmla="val 5455"/>
            </a:avLst>
          </a:prstGeom>
          <a:solidFill>
            <a:schemeClr val="bg2"/>
          </a:solidFill>
          <a:ln w="12700">
            <a:solidFill>
              <a:schemeClr val="bg2"/>
            </a:solidFill>
            <a:prstDash val="solid"/>
          </a:ln>
        </p:spPr>
      </p:sp>
      <p:sp>
        <p:nvSpPr>
          <p:cNvPr id="27" name="a-784"/>
          <p:cNvSpPr txBox="1"/>
          <p:nvPr/>
        </p:nvSpPr>
        <p:spPr>
          <a:xfrm>
            <a:off x="822960"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gce_subnetwork, the firewall log's resource.</a:t>
            </a:r>
            <a:endParaRPr lang="en-US" sz="1500" dirty="0"/>
          </a:p>
        </p:txBody>
      </p:sp>
      <p:sp>
        <p:nvSpPr>
          <p:cNvPr id="28" name="qcard-785"/>
          <p:cNvSpPr/>
          <p:nvPr/>
        </p:nvSpPr>
        <p:spPr>
          <a:xfrm>
            <a:off x="4338218" y="4069080"/>
            <a:ext cx="3515258" cy="2194560"/>
          </a:xfrm>
          <a:prstGeom prst="roundRect">
            <a:avLst>
              <a:gd name="adj" fmla="val 3333"/>
            </a:avLst>
          </a:prstGeom>
          <a:solidFill>
            <a:schemeClr val="bg1"/>
          </a:solidFill>
          <a:ln w="15875">
            <a:solidFill>
              <a:schemeClr val="accent1"/>
            </a:solidFill>
            <a:prstDash val="solid"/>
          </a:ln>
        </p:spPr>
      </p:sp>
      <p:sp>
        <p:nvSpPr>
          <p:cNvPr id="29" name="badge-786"/>
          <p:cNvSpPr/>
          <p:nvPr/>
        </p:nvSpPr>
        <p:spPr>
          <a:xfrm>
            <a:off x="4521098" y="4251960"/>
            <a:ext cx="420624" cy="420624"/>
          </a:xfrm>
          <a:prstGeom prst="ellipse">
            <a:avLst/>
          </a:prstGeom>
          <a:solidFill>
            <a:schemeClr val="accent2"/>
          </a:solidFill>
          <a:ln w="12700">
            <a:solidFill>
              <a:schemeClr val="accent2"/>
            </a:solidFill>
            <a:prstDash val="solid"/>
          </a:ln>
        </p:spPr>
      </p:sp>
      <p:sp>
        <p:nvSpPr>
          <p:cNvPr id="30" name="badgetxt-787"/>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1" name="q-788"/>
          <p:cNvSpPr txBox="1"/>
          <p:nvPr/>
        </p:nvSpPr>
        <p:spPr>
          <a:xfrm>
            <a:off x="5069738"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How do you detect changes made outside Terraform?</a:t>
            </a:r>
            <a:endParaRPr lang="en-US" sz="1600" dirty="0"/>
          </a:p>
        </p:txBody>
      </p:sp>
      <p:sp>
        <p:nvSpPr>
          <p:cNvPr id="32" name="aback-789"/>
          <p:cNvSpPr/>
          <p:nvPr/>
        </p:nvSpPr>
        <p:spPr>
          <a:xfrm>
            <a:off x="4475378" y="5120640"/>
            <a:ext cx="3240938" cy="1005840"/>
          </a:xfrm>
          <a:prstGeom prst="roundRect">
            <a:avLst>
              <a:gd name="adj" fmla="val 5455"/>
            </a:avLst>
          </a:prstGeom>
          <a:solidFill>
            <a:schemeClr val="bg2"/>
          </a:solidFill>
          <a:ln w="12700">
            <a:solidFill>
              <a:schemeClr val="bg2"/>
            </a:solidFill>
            <a:prstDash val="solid"/>
          </a:ln>
        </p:spPr>
      </p:sp>
      <p:sp>
        <p:nvSpPr>
          <p:cNvPr id="33" name="a-790"/>
          <p:cNvSpPr txBox="1"/>
          <p:nvPr/>
        </p:nvSpPr>
        <p:spPr>
          <a:xfrm>
            <a:off x="4612538"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Log-based metric on Admin Activity, excluding the Terraform SA, alerting on any count.</a:t>
            </a:r>
            <a:endParaRPr lang="en-US" sz="1500" dirty="0"/>
          </a:p>
        </p:txBody>
      </p:sp>
      <p:sp>
        <p:nvSpPr>
          <p:cNvPr id="34" name="qcard-791"/>
          <p:cNvSpPr/>
          <p:nvPr/>
        </p:nvSpPr>
        <p:spPr>
          <a:xfrm>
            <a:off x="8127797" y="4069080"/>
            <a:ext cx="3515258" cy="2194560"/>
          </a:xfrm>
          <a:prstGeom prst="roundRect">
            <a:avLst>
              <a:gd name="adj" fmla="val 3333"/>
            </a:avLst>
          </a:prstGeom>
          <a:solidFill>
            <a:schemeClr val="bg1"/>
          </a:solidFill>
          <a:ln w="15875">
            <a:solidFill>
              <a:schemeClr val="accent1"/>
            </a:solidFill>
            <a:prstDash val="solid"/>
          </a:ln>
        </p:spPr>
      </p:sp>
      <p:sp>
        <p:nvSpPr>
          <p:cNvPr id="35" name="badge-792"/>
          <p:cNvSpPr/>
          <p:nvPr/>
        </p:nvSpPr>
        <p:spPr>
          <a:xfrm>
            <a:off x="8310677" y="4251960"/>
            <a:ext cx="420624" cy="420624"/>
          </a:xfrm>
          <a:prstGeom prst="ellipse">
            <a:avLst/>
          </a:prstGeom>
          <a:solidFill>
            <a:schemeClr val="accent2"/>
          </a:solidFill>
          <a:ln w="12700">
            <a:solidFill>
              <a:schemeClr val="accent2"/>
            </a:solidFill>
            <a:prstDash val="solid"/>
          </a:ln>
        </p:spPr>
      </p:sp>
      <p:sp>
        <p:nvSpPr>
          <p:cNvPr id="36" name="badgetxt-793"/>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7" name="q-794"/>
          <p:cNvSpPr txBox="1"/>
          <p:nvPr/>
        </p:nvSpPr>
        <p:spPr>
          <a:xfrm>
            <a:off x="8859317"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 does a Connectivity Test tell you?</a:t>
            </a:r>
            <a:endParaRPr lang="en-US" sz="1600" dirty="0"/>
          </a:p>
        </p:txBody>
      </p:sp>
      <p:sp>
        <p:nvSpPr>
          <p:cNvPr id="38" name="aback-795"/>
          <p:cNvSpPr/>
          <p:nvPr/>
        </p:nvSpPr>
        <p:spPr>
          <a:xfrm>
            <a:off x="8264957" y="5120640"/>
            <a:ext cx="3240938" cy="1005840"/>
          </a:xfrm>
          <a:prstGeom prst="roundRect">
            <a:avLst>
              <a:gd name="adj" fmla="val 5455"/>
            </a:avLst>
          </a:prstGeom>
          <a:solidFill>
            <a:schemeClr val="bg2"/>
          </a:solidFill>
          <a:ln w="12700">
            <a:solidFill>
              <a:schemeClr val="bg2"/>
            </a:solidFill>
            <a:prstDash val="solid"/>
          </a:ln>
        </p:spPr>
      </p:sp>
      <p:sp>
        <p:nvSpPr>
          <p:cNvPr id="39" name="a-796"/>
          <p:cNvSpPr txBox="1"/>
          <p:nvPr/>
        </p:nvSpPr>
        <p:spPr>
          <a:xfrm>
            <a:off x="8402117"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Whether a path is reachable from config, and which route or rule drops it.</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ecnum-797"/>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08</a:t>
            </a:r>
            <a:endParaRPr lang="en-US" sz="13000" dirty="0"/>
          </a:p>
        </p:txBody>
      </p:sp>
      <p:sp>
        <p:nvSpPr>
          <p:cNvPr id="3" name="sectag-798"/>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8</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Automation, backup and DR</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Make the network recoverable and hands-off: a pilot-light DR region, checksummed config backups stored away from the primary region, a measured recovery drill, and keyless CI/CD with review and approval gates.</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ag-799"/>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Disaster recovery vocabulary</a:t>
            </a:r>
            <a:endParaRPr lang="en-US" sz="3200" dirty="0"/>
          </a:p>
        </p:txBody>
      </p:sp>
      <p:sp>
        <p:nvSpPr>
          <p:cNvPr id="4" name="card-800"/>
          <p:cNvSpPr/>
          <p:nvPr/>
        </p:nvSpPr>
        <p:spPr>
          <a:xfrm>
            <a:off x="548640" y="1600200"/>
            <a:ext cx="3515258" cy="2194560"/>
          </a:xfrm>
          <a:prstGeom prst="roundRect">
            <a:avLst>
              <a:gd name="adj" fmla="val 3333"/>
            </a:avLst>
          </a:prstGeom>
          <a:solidFill>
            <a:schemeClr val="bg2"/>
          </a:solidFill>
          <a:ln w="12700">
            <a:solidFill>
              <a:schemeClr val="bg2"/>
            </a:solidFill>
            <a:prstDash val="solid"/>
          </a:ln>
        </p:spPr>
      </p:sp>
      <p:sp>
        <p:nvSpPr>
          <p:cNvPr id="5" name="badge-801"/>
          <p:cNvSpPr/>
          <p:nvPr/>
        </p:nvSpPr>
        <p:spPr>
          <a:xfrm>
            <a:off x="731520" y="1783080"/>
            <a:ext cx="420624" cy="420624"/>
          </a:xfrm>
          <a:prstGeom prst="ellipse">
            <a:avLst/>
          </a:prstGeom>
          <a:solidFill>
            <a:schemeClr val="accent1"/>
          </a:solidFill>
          <a:ln w="12700">
            <a:solidFill>
              <a:schemeClr val="accent1"/>
            </a:solidFill>
            <a:prstDash val="solid"/>
          </a:ln>
        </p:spPr>
      </p:sp>
      <p:sp>
        <p:nvSpPr>
          <p:cNvPr id="6" name="badgetxt-802"/>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h-803"/>
          <p:cNvSpPr txBox="1"/>
          <p:nvPr/>
        </p:nvSpPr>
        <p:spPr>
          <a:xfrm>
            <a:off x="1280160"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RPO</a:t>
            </a:r>
            <a:endParaRPr lang="en-US" sz="1800" dirty="0"/>
          </a:p>
        </p:txBody>
      </p:sp>
      <p:sp>
        <p:nvSpPr>
          <p:cNvPr id="8" name="cardb-804"/>
          <p:cNvSpPr txBox="1"/>
          <p:nvPr/>
        </p:nvSpPr>
        <p:spPr>
          <a:xfrm>
            <a:off x="777240"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Recovery Point Objective: how much data or change you can lose, measured in time. Ours: 0 for Terraform changes, ≤ 24h otherwise.</a:t>
            </a:r>
            <a:endParaRPr lang="en-US" sz="1600" dirty="0"/>
          </a:p>
        </p:txBody>
      </p:sp>
      <p:sp>
        <p:nvSpPr>
          <p:cNvPr id="9" name="card-805"/>
          <p:cNvSpPr/>
          <p:nvPr/>
        </p:nvSpPr>
        <p:spPr>
          <a:xfrm>
            <a:off x="4338218" y="1600200"/>
            <a:ext cx="3515258" cy="2194560"/>
          </a:xfrm>
          <a:prstGeom prst="roundRect">
            <a:avLst>
              <a:gd name="adj" fmla="val 3333"/>
            </a:avLst>
          </a:prstGeom>
          <a:solidFill>
            <a:schemeClr val="bg2"/>
          </a:solidFill>
          <a:ln w="12700">
            <a:solidFill>
              <a:schemeClr val="bg2"/>
            </a:solidFill>
            <a:prstDash val="solid"/>
          </a:ln>
        </p:spPr>
      </p:sp>
      <p:sp>
        <p:nvSpPr>
          <p:cNvPr id="10" name="badge-806"/>
          <p:cNvSpPr/>
          <p:nvPr/>
        </p:nvSpPr>
        <p:spPr>
          <a:xfrm>
            <a:off x="4521098" y="1783080"/>
            <a:ext cx="420624" cy="420624"/>
          </a:xfrm>
          <a:prstGeom prst="ellipse">
            <a:avLst/>
          </a:prstGeom>
          <a:solidFill>
            <a:schemeClr val="accent1"/>
          </a:solidFill>
          <a:ln w="12700">
            <a:solidFill>
              <a:schemeClr val="accent1"/>
            </a:solidFill>
            <a:prstDash val="solid"/>
          </a:ln>
        </p:spPr>
      </p:sp>
      <p:sp>
        <p:nvSpPr>
          <p:cNvPr id="11" name="badgetxt-807"/>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ardh-808"/>
          <p:cNvSpPr txBox="1"/>
          <p:nvPr/>
        </p:nvSpPr>
        <p:spPr>
          <a:xfrm>
            <a:off x="5069738"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RTO</a:t>
            </a:r>
            <a:endParaRPr lang="en-US" sz="1800" dirty="0"/>
          </a:p>
        </p:txBody>
      </p:sp>
      <p:sp>
        <p:nvSpPr>
          <p:cNvPr id="13" name="cardb-809"/>
          <p:cNvSpPr txBox="1"/>
          <p:nvPr/>
        </p:nvSpPr>
        <p:spPr>
          <a:xfrm>
            <a:off x="4566818"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Recovery Time Objective: how long until the service is back. Target &lt; 15 min for a deleted object; the drill took 249 s.</a:t>
            </a:r>
            <a:endParaRPr lang="en-US" sz="1600" dirty="0"/>
          </a:p>
        </p:txBody>
      </p:sp>
      <p:sp>
        <p:nvSpPr>
          <p:cNvPr id="14" name="card-810"/>
          <p:cNvSpPr/>
          <p:nvPr/>
        </p:nvSpPr>
        <p:spPr>
          <a:xfrm>
            <a:off x="8127797" y="1600200"/>
            <a:ext cx="3515258" cy="2194560"/>
          </a:xfrm>
          <a:prstGeom prst="roundRect">
            <a:avLst>
              <a:gd name="adj" fmla="val 3333"/>
            </a:avLst>
          </a:prstGeom>
          <a:solidFill>
            <a:schemeClr val="bg2"/>
          </a:solidFill>
          <a:ln w="12700">
            <a:solidFill>
              <a:schemeClr val="bg2"/>
            </a:solidFill>
            <a:prstDash val="solid"/>
          </a:ln>
        </p:spPr>
      </p:sp>
      <p:sp>
        <p:nvSpPr>
          <p:cNvPr id="15" name="badge-811"/>
          <p:cNvSpPr/>
          <p:nvPr/>
        </p:nvSpPr>
        <p:spPr>
          <a:xfrm>
            <a:off x="8310677" y="1783080"/>
            <a:ext cx="420624" cy="420624"/>
          </a:xfrm>
          <a:prstGeom prst="ellipse">
            <a:avLst/>
          </a:prstGeom>
          <a:solidFill>
            <a:schemeClr val="accent1"/>
          </a:solidFill>
          <a:ln w="12700">
            <a:solidFill>
              <a:schemeClr val="accent1"/>
            </a:solidFill>
            <a:prstDash val="solid"/>
          </a:ln>
        </p:spPr>
      </p:sp>
      <p:sp>
        <p:nvSpPr>
          <p:cNvPr id="16" name="badgetxt-812"/>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cardh-813"/>
          <p:cNvSpPr txBox="1"/>
          <p:nvPr/>
        </p:nvSpPr>
        <p:spPr>
          <a:xfrm>
            <a:off x="8859317" y="175564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IaC as DR</a:t>
            </a:r>
            <a:endParaRPr lang="en-US" sz="1800" dirty="0"/>
          </a:p>
        </p:txBody>
      </p:sp>
      <p:sp>
        <p:nvSpPr>
          <p:cNvPr id="18" name="cardb-814"/>
          <p:cNvSpPr txBox="1"/>
          <p:nvPr/>
        </p:nvSpPr>
        <p:spPr>
          <a:xfrm>
            <a:off x="8356397" y="235000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With everything in Terraform and Git, rebuilding is an apply. The state must be protected too: a versioned bucket.</a:t>
            </a:r>
            <a:endParaRPr lang="en-US" sz="1600" dirty="0"/>
          </a:p>
        </p:txBody>
      </p:sp>
      <p:sp>
        <p:nvSpPr>
          <p:cNvPr id="19" name="card-815"/>
          <p:cNvSpPr/>
          <p:nvPr/>
        </p:nvSpPr>
        <p:spPr>
          <a:xfrm>
            <a:off x="548640" y="4069080"/>
            <a:ext cx="3515258" cy="2194560"/>
          </a:xfrm>
          <a:prstGeom prst="roundRect">
            <a:avLst>
              <a:gd name="adj" fmla="val 3333"/>
            </a:avLst>
          </a:prstGeom>
          <a:solidFill>
            <a:schemeClr val="bg2"/>
          </a:solidFill>
          <a:ln w="12700">
            <a:solidFill>
              <a:schemeClr val="bg2"/>
            </a:solidFill>
            <a:prstDash val="solid"/>
          </a:ln>
        </p:spPr>
      </p:sp>
      <p:sp>
        <p:nvSpPr>
          <p:cNvPr id="20" name="badge-816"/>
          <p:cNvSpPr/>
          <p:nvPr/>
        </p:nvSpPr>
        <p:spPr>
          <a:xfrm>
            <a:off x="731520" y="4251960"/>
            <a:ext cx="420624" cy="420624"/>
          </a:xfrm>
          <a:prstGeom prst="ellipse">
            <a:avLst/>
          </a:prstGeom>
          <a:solidFill>
            <a:schemeClr val="accent1"/>
          </a:solidFill>
          <a:ln w="12700">
            <a:solidFill>
              <a:schemeClr val="accent1"/>
            </a:solidFill>
            <a:prstDash val="solid"/>
          </a:ln>
        </p:spPr>
      </p:sp>
      <p:sp>
        <p:nvSpPr>
          <p:cNvPr id="21" name="badgetxt-817"/>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cardh-818"/>
          <p:cNvSpPr txBox="1"/>
          <p:nvPr/>
        </p:nvSpPr>
        <p:spPr>
          <a:xfrm>
            <a:off x="1280160"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Config backups</a:t>
            </a:r>
            <a:endParaRPr lang="en-US" sz="1800" dirty="0"/>
          </a:p>
        </p:txBody>
      </p:sp>
      <p:sp>
        <p:nvSpPr>
          <p:cNvPr id="23" name="cardb-819"/>
          <p:cNvSpPr txBox="1"/>
          <p:nvPr/>
        </p:nvSpPr>
        <p:spPr>
          <a:xfrm>
            <a:off x="777240"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Exports of live config prove what existed and what changed: backup_config.sh diff &lt;id&gt; live.</a:t>
            </a:r>
            <a:endParaRPr lang="en-US" sz="1600" dirty="0"/>
          </a:p>
        </p:txBody>
      </p:sp>
      <p:sp>
        <p:nvSpPr>
          <p:cNvPr id="24" name="card-820"/>
          <p:cNvSpPr/>
          <p:nvPr/>
        </p:nvSpPr>
        <p:spPr>
          <a:xfrm>
            <a:off x="4338218" y="4069080"/>
            <a:ext cx="3515258" cy="2194560"/>
          </a:xfrm>
          <a:prstGeom prst="roundRect">
            <a:avLst>
              <a:gd name="adj" fmla="val 3333"/>
            </a:avLst>
          </a:prstGeom>
          <a:solidFill>
            <a:schemeClr val="bg2"/>
          </a:solidFill>
          <a:ln w="12700">
            <a:solidFill>
              <a:schemeClr val="bg2"/>
            </a:solidFill>
            <a:prstDash val="solid"/>
          </a:ln>
        </p:spPr>
      </p:sp>
      <p:sp>
        <p:nvSpPr>
          <p:cNvPr id="25" name="badge-821"/>
          <p:cNvSpPr/>
          <p:nvPr/>
        </p:nvSpPr>
        <p:spPr>
          <a:xfrm>
            <a:off x="4521098" y="4251960"/>
            <a:ext cx="420624" cy="420624"/>
          </a:xfrm>
          <a:prstGeom prst="ellipse">
            <a:avLst/>
          </a:prstGeom>
          <a:solidFill>
            <a:schemeClr val="accent1"/>
          </a:solidFill>
          <a:ln w="12700">
            <a:solidFill>
              <a:schemeClr val="accent1"/>
            </a:solidFill>
            <a:prstDash val="solid"/>
          </a:ln>
        </p:spPr>
      </p:sp>
      <p:sp>
        <p:nvSpPr>
          <p:cNvPr id="26" name="badgetxt-822"/>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cardh-823"/>
          <p:cNvSpPr txBox="1"/>
          <p:nvPr/>
        </p:nvSpPr>
        <p:spPr>
          <a:xfrm>
            <a:off x="5069738"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Guardrails</a:t>
            </a:r>
            <a:endParaRPr lang="en-US" sz="1800" dirty="0"/>
          </a:p>
        </p:txBody>
      </p:sp>
      <p:sp>
        <p:nvSpPr>
          <p:cNvPr id="28" name="cardb-824"/>
          <p:cNvSpPr txBox="1"/>
          <p:nvPr/>
        </p:nvSpPr>
        <p:spPr>
          <a:xfrm>
            <a:off x="4566818"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Plan-time preconditions in modules/vpc: fail if a network lacks a DR-region subnet or has duplicate CIDRs.</a:t>
            </a:r>
            <a:endParaRPr lang="en-US" sz="1600" dirty="0"/>
          </a:p>
        </p:txBody>
      </p:sp>
      <p:sp>
        <p:nvSpPr>
          <p:cNvPr id="29" name="card-825"/>
          <p:cNvSpPr/>
          <p:nvPr/>
        </p:nvSpPr>
        <p:spPr>
          <a:xfrm>
            <a:off x="8127797" y="4069080"/>
            <a:ext cx="3515258" cy="2194560"/>
          </a:xfrm>
          <a:prstGeom prst="roundRect">
            <a:avLst>
              <a:gd name="adj" fmla="val 3333"/>
            </a:avLst>
          </a:prstGeom>
          <a:solidFill>
            <a:schemeClr val="bg2"/>
          </a:solidFill>
          <a:ln w="12700">
            <a:solidFill>
              <a:schemeClr val="bg2"/>
            </a:solidFill>
            <a:prstDash val="solid"/>
          </a:ln>
        </p:spPr>
      </p:sp>
      <p:sp>
        <p:nvSpPr>
          <p:cNvPr id="30" name="badge-826"/>
          <p:cNvSpPr/>
          <p:nvPr/>
        </p:nvSpPr>
        <p:spPr>
          <a:xfrm>
            <a:off x="8310677" y="4251960"/>
            <a:ext cx="420624" cy="420624"/>
          </a:xfrm>
          <a:prstGeom prst="ellipse">
            <a:avLst/>
          </a:prstGeom>
          <a:solidFill>
            <a:schemeClr val="accent1"/>
          </a:solidFill>
          <a:ln w="12700">
            <a:solidFill>
              <a:schemeClr val="accent1"/>
            </a:solidFill>
            <a:prstDash val="solid"/>
          </a:ln>
        </p:spPr>
      </p:sp>
      <p:sp>
        <p:nvSpPr>
          <p:cNvPr id="31" name="badgetxt-827"/>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cardh-828"/>
          <p:cNvSpPr txBox="1"/>
          <p:nvPr/>
        </p:nvSpPr>
        <p:spPr>
          <a:xfrm>
            <a:off x="8859317" y="4224528"/>
            <a:ext cx="2600858" cy="475488"/>
          </a:xfrm>
          <a:prstGeom prst="rect">
            <a:avLst/>
          </a:prstGeom>
          <a:noFill/>
          <a:ln/>
        </p:spPr>
        <p:txBody>
          <a:bodyPr wrap="square" lIns="0" tIns="0" rIns="0" bIns="0" rtlCol="0" anchor="ctr"/>
          <a:lstStyle/>
          <a:p>
            <a:pPr indent="0" marL="0">
              <a:buNone/>
            </a:pPr>
            <a:r>
              <a:rPr lang="en-US" sz="1800" b="1" dirty="0">
                <a:solidFill>
                  <a:schemeClr val="tx2"/>
                </a:solidFill>
              </a:rPr>
              <a:t>Drills</a:t>
            </a:r>
            <a:endParaRPr lang="en-US" sz="1800" dirty="0"/>
          </a:p>
        </p:txBody>
      </p:sp>
      <p:sp>
        <p:nvSpPr>
          <p:cNvPr id="33" name="cardb-829"/>
          <p:cNvSpPr txBox="1"/>
          <p:nvPr/>
        </p:nvSpPr>
        <p:spPr>
          <a:xfrm>
            <a:off x="8356397" y="4818888"/>
            <a:ext cx="3058058" cy="13258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 plan you haven't tested is a hope. Quarterly drills measure the real RTO and expose gaps.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ag-83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DR strategies compared</a:t>
            </a:r>
            <a:endParaRPr lang="en-US" sz="3200" dirty="0"/>
          </a:p>
        </p:txBody>
      </p:sp>
      <p:graphicFrame>
        <p:nvGraphicFramePr>
          <p:cNvPr id="54" name="table-831"/>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560320"/>
                <a:gridCol w="3657600"/>
                <a:gridCol w="2011680"/>
                <a:gridCol w="2862072"/>
              </a:tblGrid>
              <a:tr h="0">
                <a:tc>
                  <a:txBody>
                    <a:bodyPr/>
                    <a:lstStyle/>
                    <a:p>
                      <a:pPr indent="0" marL="0">
                        <a:buNone/>
                      </a:pPr>
                      <a:r>
                        <a:rPr lang="en-US" sz="1700" b="1" dirty="0">
                          <a:solidFill>
                            <a:schemeClr val="bg1"/>
                          </a:solidFill>
                        </a:rPr>
                        <a:t>Strategy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What's running in DR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RTO</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Cost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Backup and restore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Nothing; rebuild from code and backups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Hours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Lowest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Pilot light (ours)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Network core: subnets, routing, security; no workloads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Minutes to 1 h</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Near zero</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Warm standby</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Scaled-down copy of workloads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Minutes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Medium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Multi-site active/active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Full capacity in both regions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Near zero</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Highest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6" name="foot-832"/>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300" i="1" dirty="0">
                <a:solidFill>
                  <a:schemeClr val="accent4"/>
                </a:solidFill>
              </a:rPr>
              <a:t>Why pilot light fits a network: subnets, routes and firewall rules cost nothing at rest. Only billable parts (tenant DR NAT IPs) wait behind enable_dr_egress = true.</a:t>
            </a:r>
            <a:endParaRPr lang="en-US" sz="13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ag-833"/>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CI/CD pipeline</a:t>
            </a:r>
            <a:endParaRPr lang="en-US" sz="3200" dirty="0"/>
          </a:p>
        </p:txBody>
      </p:sp>
      <p:sp>
        <p:nvSpPr>
          <p:cNvPr id="4" name="step-834"/>
          <p:cNvSpPr/>
          <p:nvPr/>
        </p:nvSpPr>
        <p:spPr>
          <a:xfrm>
            <a:off x="548640" y="1920240"/>
            <a:ext cx="1889699" cy="2651760"/>
          </a:xfrm>
          <a:prstGeom prst="roundRect">
            <a:avLst>
              <a:gd name="adj" fmla="val 3871"/>
            </a:avLst>
          </a:prstGeom>
          <a:solidFill>
            <a:schemeClr val="bg2"/>
          </a:solidFill>
          <a:ln w="15875">
            <a:solidFill>
              <a:schemeClr val="accent1"/>
            </a:solidFill>
            <a:prstDash val="solid"/>
          </a:ln>
        </p:spPr>
      </p:sp>
      <p:sp>
        <p:nvSpPr>
          <p:cNvPr id="5" name="badge-835"/>
          <p:cNvSpPr/>
          <p:nvPr/>
        </p:nvSpPr>
        <p:spPr>
          <a:xfrm>
            <a:off x="1283178" y="1709928"/>
            <a:ext cx="420624" cy="420624"/>
          </a:xfrm>
          <a:prstGeom prst="ellipse">
            <a:avLst/>
          </a:prstGeom>
          <a:solidFill>
            <a:schemeClr val="accent1"/>
          </a:solidFill>
          <a:ln w="12700">
            <a:solidFill>
              <a:schemeClr val="accent1"/>
            </a:solidFill>
            <a:prstDash val="solid"/>
          </a:ln>
        </p:spPr>
      </p:sp>
      <p:sp>
        <p:nvSpPr>
          <p:cNvPr id="6" name="badgetxt-836"/>
          <p:cNvSpPr txBox="1"/>
          <p:nvPr/>
        </p:nvSpPr>
        <p:spPr>
          <a:xfrm>
            <a:off x="1283178"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steph-837"/>
          <p:cNvSpPr txBox="1"/>
          <p:nvPr/>
        </p:nvSpPr>
        <p:spPr>
          <a:xfrm>
            <a:off x="658368"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Pull request</a:t>
            </a:r>
            <a:endParaRPr lang="en-US" sz="1700" dirty="0"/>
          </a:p>
        </p:txBody>
      </p:sp>
      <p:sp>
        <p:nvSpPr>
          <p:cNvPr id="8" name="stepb-838"/>
          <p:cNvSpPr txBox="1"/>
          <p:nvPr/>
        </p:nvSpPr>
        <p:spPr>
          <a:xfrm>
            <a:off x="685800"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fmt -check, init, validate, plan. The plan is posted as a PR comment for review.</a:t>
            </a:r>
            <a:endParaRPr lang="en-US" sz="1500" dirty="0"/>
          </a:p>
        </p:txBody>
      </p:sp>
      <p:sp>
        <p:nvSpPr>
          <p:cNvPr id="9" name="arrow-839"/>
          <p:cNvSpPr/>
          <p:nvPr/>
        </p:nvSpPr>
        <p:spPr>
          <a:xfrm>
            <a:off x="2502347" y="3108960"/>
            <a:ext cx="283464" cy="274320"/>
          </a:xfrm>
          <a:prstGeom prst="rightArrow">
            <a:avLst/>
          </a:prstGeom>
          <a:solidFill>
            <a:schemeClr val="accent2"/>
          </a:solidFill>
          <a:ln w="12700">
            <a:solidFill>
              <a:schemeClr val="accent2"/>
            </a:solidFill>
            <a:prstDash val="solid"/>
          </a:ln>
        </p:spPr>
      </p:sp>
      <p:sp>
        <p:nvSpPr>
          <p:cNvPr id="10" name="step-840"/>
          <p:cNvSpPr/>
          <p:nvPr/>
        </p:nvSpPr>
        <p:spPr>
          <a:xfrm>
            <a:off x="2849819" y="1920240"/>
            <a:ext cx="1889699" cy="2651760"/>
          </a:xfrm>
          <a:prstGeom prst="roundRect">
            <a:avLst>
              <a:gd name="adj" fmla="val 3871"/>
            </a:avLst>
          </a:prstGeom>
          <a:solidFill>
            <a:schemeClr val="bg2"/>
          </a:solidFill>
          <a:ln w="15875">
            <a:solidFill>
              <a:schemeClr val="accent1"/>
            </a:solidFill>
            <a:prstDash val="solid"/>
          </a:ln>
        </p:spPr>
      </p:sp>
      <p:sp>
        <p:nvSpPr>
          <p:cNvPr id="11" name="badge-841"/>
          <p:cNvSpPr/>
          <p:nvPr/>
        </p:nvSpPr>
        <p:spPr>
          <a:xfrm>
            <a:off x="3584357" y="1709928"/>
            <a:ext cx="420624" cy="420624"/>
          </a:xfrm>
          <a:prstGeom prst="ellipse">
            <a:avLst/>
          </a:prstGeom>
          <a:solidFill>
            <a:schemeClr val="accent1"/>
          </a:solidFill>
          <a:ln w="12700">
            <a:solidFill>
              <a:schemeClr val="accent1"/>
            </a:solidFill>
            <a:prstDash val="solid"/>
          </a:ln>
        </p:spPr>
      </p:sp>
      <p:sp>
        <p:nvSpPr>
          <p:cNvPr id="12" name="badgetxt-842"/>
          <p:cNvSpPr txBox="1"/>
          <p:nvPr/>
        </p:nvSpPr>
        <p:spPr>
          <a:xfrm>
            <a:off x="3584357"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steph-843"/>
          <p:cNvSpPr txBox="1"/>
          <p:nvPr/>
        </p:nvSpPr>
        <p:spPr>
          <a:xfrm>
            <a:off x="2959547"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Merge to main</a:t>
            </a:r>
            <a:endParaRPr lang="en-US" sz="1700" dirty="0"/>
          </a:p>
        </p:txBody>
      </p:sp>
      <p:sp>
        <p:nvSpPr>
          <p:cNvPr id="14" name="stepb-844"/>
          <p:cNvSpPr txBox="1"/>
          <p:nvPr/>
        </p:nvSpPr>
        <p:spPr>
          <a:xfrm>
            <a:off x="2986979"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plan runs again with detailed exit codes: 0 none, 2 changes, 1 error.</a:t>
            </a:r>
            <a:endParaRPr lang="en-US" sz="1500" dirty="0"/>
          </a:p>
        </p:txBody>
      </p:sp>
      <p:sp>
        <p:nvSpPr>
          <p:cNvPr id="15" name="arrow-845"/>
          <p:cNvSpPr/>
          <p:nvPr/>
        </p:nvSpPr>
        <p:spPr>
          <a:xfrm>
            <a:off x="4803526" y="3108960"/>
            <a:ext cx="283464" cy="274320"/>
          </a:xfrm>
          <a:prstGeom prst="rightArrow">
            <a:avLst/>
          </a:prstGeom>
          <a:solidFill>
            <a:schemeClr val="accent2"/>
          </a:solidFill>
          <a:ln w="12700">
            <a:solidFill>
              <a:schemeClr val="accent2"/>
            </a:solidFill>
            <a:prstDash val="solid"/>
          </a:ln>
        </p:spPr>
      </p:sp>
      <p:sp>
        <p:nvSpPr>
          <p:cNvPr id="16" name="step-846"/>
          <p:cNvSpPr/>
          <p:nvPr/>
        </p:nvSpPr>
        <p:spPr>
          <a:xfrm>
            <a:off x="5150998" y="1920240"/>
            <a:ext cx="1889699" cy="2651760"/>
          </a:xfrm>
          <a:prstGeom prst="roundRect">
            <a:avLst>
              <a:gd name="adj" fmla="val 3871"/>
            </a:avLst>
          </a:prstGeom>
          <a:solidFill>
            <a:schemeClr val="tx2"/>
          </a:solidFill>
          <a:ln w="15875">
            <a:solidFill>
              <a:schemeClr val="accent1"/>
            </a:solidFill>
            <a:prstDash val="solid"/>
          </a:ln>
        </p:spPr>
      </p:sp>
      <p:sp>
        <p:nvSpPr>
          <p:cNvPr id="17" name="badge-847"/>
          <p:cNvSpPr/>
          <p:nvPr/>
        </p:nvSpPr>
        <p:spPr>
          <a:xfrm>
            <a:off x="5885536" y="1709928"/>
            <a:ext cx="420624" cy="420624"/>
          </a:xfrm>
          <a:prstGeom prst="ellipse">
            <a:avLst/>
          </a:prstGeom>
          <a:solidFill>
            <a:schemeClr val="accent2"/>
          </a:solidFill>
          <a:ln w="12700">
            <a:solidFill>
              <a:schemeClr val="accent2"/>
            </a:solidFill>
            <a:prstDash val="solid"/>
          </a:ln>
        </p:spPr>
      </p:sp>
      <p:sp>
        <p:nvSpPr>
          <p:cNvPr id="18" name="badgetxt-848"/>
          <p:cNvSpPr txBox="1"/>
          <p:nvPr/>
        </p:nvSpPr>
        <p:spPr>
          <a:xfrm>
            <a:off x="5885536"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steph-849"/>
          <p:cNvSpPr txBox="1"/>
          <p:nvPr/>
        </p:nvSpPr>
        <p:spPr>
          <a:xfrm>
            <a:off x="5260726" y="2240280"/>
            <a:ext cx="1670243" cy="640080"/>
          </a:xfrm>
          <a:prstGeom prst="rect">
            <a:avLst/>
          </a:prstGeom>
          <a:noFill/>
          <a:ln/>
        </p:spPr>
        <p:txBody>
          <a:bodyPr wrap="square" lIns="0" tIns="0" rIns="0" bIns="0" rtlCol="0" anchor="ctr"/>
          <a:lstStyle/>
          <a:p>
            <a:pPr algn="ctr" indent="0" marL="0">
              <a:buNone/>
            </a:pPr>
            <a:r>
              <a:rPr lang="en-US" sz="1700" b="1" dirty="0">
                <a:solidFill>
                  <a:schemeClr val="bg1"/>
                </a:solidFill>
              </a:rPr>
              <a:t>Approval gate</a:t>
            </a:r>
            <a:endParaRPr lang="en-US" sz="1700" dirty="0"/>
          </a:p>
        </p:txBody>
      </p:sp>
      <p:sp>
        <p:nvSpPr>
          <p:cNvPr id="20" name="stepb-850"/>
          <p:cNvSpPr txBox="1"/>
          <p:nvPr/>
        </p:nvSpPr>
        <p:spPr>
          <a:xfrm>
            <a:off x="5288158" y="2926080"/>
            <a:ext cx="1615379" cy="1554480"/>
          </a:xfrm>
          <a:prstGeom prst="rect">
            <a:avLst/>
          </a:prstGeom>
          <a:noFill/>
          <a:ln/>
        </p:spPr>
        <p:txBody>
          <a:bodyPr wrap="square" lIns="0" tIns="0" rIns="0" bIns="0" rtlCol="0" anchor="t"/>
          <a:lstStyle/>
          <a:p>
            <a:pPr algn="l" indent="0" marL="0">
              <a:buNone/>
            </a:pPr>
            <a:r>
              <a:rPr lang="en-US" sz="1500" dirty="0">
                <a:solidFill>
                  <a:schemeClr val="bg1"/>
                </a:solidFill>
              </a:rPr>
              <a:t>apply job uses environment 'production' with a required reviewer; it waits for approval.</a:t>
            </a:r>
            <a:endParaRPr lang="en-US" sz="1500" dirty="0"/>
          </a:p>
        </p:txBody>
      </p:sp>
      <p:sp>
        <p:nvSpPr>
          <p:cNvPr id="21" name="arrow-851"/>
          <p:cNvSpPr/>
          <p:nvPr/>
        </p:nvSpPr>
        <p:spPr>
          <a:xfrm>
            <a:off x="7104705" y="3108960"/>
            <a:ext cx="283464" cy="274320"/>
          </a:xfrm>
          <a:prstGeom prst="rightArrow">
            <a:avLst/>
          </a:prstGeom>
          <a:solidFill>
            <a:schemeClr val="accent2"/>
          </a:solidFill>
          <a:ln w="12700">
            <a:solidFill>
              <a:schemeClr val="accent2"/>
            </a:solidFill>
            <a:prstDash val="solid"/>
          </a:ln>
        </p:spPr>
      </p:sp>
      <p:sp>
        <p:nvSpPr>
          <p:cNvPr id="22" name="step-852"/>
          <p:cNvSpPr/>
          <p:nvPr/>
        </p:nvSpPr>
        <p:spPr>
          <a:xfrm>
            <a:off x="7452177" y="1920240"/>
            <a:ext cx="1889699" cy="2651760"/>
          </a:xfrm>
          <a:prstGeom prst="roundRect">
            <a:avLst>
              <a:gd name="adj" fmla="val 3871"/>
            </a:avLst>
          </a:prstGeom>
          <a:solidFill>
            <a:schemeClr val="bg2"/>
          </a:solidFill>
          <a:ln w="15875">
            <a:solidFill>
              <a:schemeClr val="accent1"/>
            </a:solidFill>
            <a:prstDash val="solid"/>
          </a:ln>
        </p:spPr>
      </p:sp>
      <p:sp>
        <p:nvSpPr>
          <p:cNvPr id="23" name="badge-853"/>
          <p:cNvSpPr/>
          <p:nvPr/>
        </p:nvSpPr>
        <p:spPr>
          <a:xfrm>
            <a:off x="8186715" y="1709928"/>
            <a:ext cx="420624" cy="420624"/>
          </a:xfrm>
          <a:prstGeom prst="ellipse">
            <a:avLst/>
          </a:prstGeom>
          <a:solidFill>
            <a:schemeClr val="accent1"/>
          </a:solidFill>
          <a:ln w="12700">
            <a:solidFill>
              <a:schemeClr val="accent1"/>
            </a:solidFill>
            <a:prstDash val="solid"/>
          </a:ln>
        </p:spPr>
      </p:sp>
      <p:sp>
        <p:nvSpPr>
          <p:cNvPr id="24" name="badgetxt-854"/>
          <p:cNvSpPr txBox="1"/>
          <p:nvPr/>
        </p:nvSpPr>
        <p:spPr>
          <a:xfrm>
            <a:off x="8186715"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steph-855"/>
          <p:cNvSpPr txBox="1"/>
          <p:nvPr/>
        </p:nvSpPr>
        <p:spPr>
          <a:xfrm>
            <a:off x="7561905"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Apply</a:t>
            </a:r>
            <a:endParaRPr lang="en-US" sz="1700" dirty="0"/>
          </a:p>
        </p:txBody>
      </p:sp>
      <p:sp>
        <p:nvSpPr>
          <p:cNvPr id="26" name="stepb-856"/>
          <p:cNvSpPr txBox="1"/>
          <p:nvPr/>
        </p:nvSpPr>
        <p:spPr>
          <a:xfrm>
            <a:off x="7589337"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terraform apply as network-admin-sa. Git becomes the single source of truth.</a:t>
            </a:r>
            <a:endParaRPr lang="en-US" sz="1500" dirty="0"/>
          </a:p>
        </p:txBody>
      </p:sp>
      <p:sp>
        <p:nvSpPr>
          <p:cNvPr id="27" name="arrow-857"/>
          <p:cNvSpPr/>
          <p:nvPr/>
        </p:nvSpPr>
        <p:spPr>
          <a:xfrm>
            <a:off x="9405884" y="3108960"/>
            <a:ext cx="283464" cy="274320"/>
          </a:xfrm>
          <a:prstGeom prst="rightArrow">
            <a:avLst/>
          </a:prstGeom>
          <a:solidFill>
            <a:schemeClr val="accent2"/>
          </a:solidFill>
          <a:ln w="12700">
            <a:solidFill>
              <a:schemeClr val="accent2"/>
            </a:solidFill>
            <a:prstDash val="solid"/>
          </a:ln>
        </p:spPr>
      </p:sp>
      <p:sp>
        <p:nvSpPr>
          <p:cNvPr id="28" name="step-858"/>
          <p:cNvSpPr/>
          <p:nvPr/>
        </p:nvSpPr>
        <p:spPr>
          <a:xfrm>
            <a:off x="9753356" y="1920240"/>
            <a:ext cx="1889699" cy="2651760"/>
          </a:xfrm>
          <a:prstGeom prst="roundRect">
            <a:avLst>
              <a:gd name="adj" fmla="val 3871"/>
            </a:avLst>
          </a:prstGeom>
          <a:solidFill>
            <a:schemeClr val="bg2"/>
          </a:solidFill>
          <a:ln w="15875">
            <a:solidFill>
              <a:schemeClr val="accent1"/>
            </a:solidFill>
            <a:prstDash val="solid"/>
          </a:ln>
        </p:spPr>
      </p:sp>
      <p:sp>
        <p:nvSpPr>
          <p:cNvPr id="29" name="badge-859"/>
          <p:cNvSpPr/>
          <p:nvPr/>
        </p:nvSpPr>
        <p:spPr>
          <a:xfrm>
            <a:off x="10487894" y="1709928"/>
            <a:ext cx="420624" cy="420624"/>
          </a:xfrm>
          <a:prstGeom prst="ellipse">
            <a:avLst/>
          </a:prstGeom>
          <a:solidFill>
            <a:schemeClr val="accent1"/>
          </a:solidFill>
          <a:ln w="12700">
            <a:solidFill>
              <a:schemeClr val="accent1"/>
            </a:solidFill>
            <a:prstDash val="solid"/>
          </a:ln>
        </p:spPr>
      </p:sp>
      <p:sp>
        <p:nvSpPr>
          <p:cNvPr id="30" name="badgetxt-860"/>
          <p:cNvSpPr txBox="1"/>
          <p:nvPr/>
        </p:nvSpPr>
        <p:spPr>
          <a:xfrm>
            <a:off x="10487894"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steph-861"/>
          <p:cNvSpPr txBox="1"/>
          <p:nvPr/>
        </p:nvSpPr>
        <p:spPr>
          <a:xfrm>
            <a:off x="9863084" y="2240280"/>
            <a:ext cx="1670243" cy="640080"/>
          </a:xfrm>
          <a:prstGeom prst="rect">
            <a:avLst/>
          </a:prstGeom>
          <a:noFill/>
          <a:ln/>
        </p:spPr>
        <p:txBody>
          <a:bodyPr wrap="square" lIns="0" tIns="0" rIns="0" bIns="0" rtlCol="0" anchor="ctr"/>
          <a:lstStyle/>
          <a:p>
            <a:pPr algn="ctr" indent="0" marL="0">
              <a:buNone/>
            </a:pPr>
            <a:r>
              <a:rPr lang="en-US" sz="1700" b="1" dirty="0">
                <a:solidFill>
                  <a:schemeClr val="tx2"/>
                </a:solidFill>
              </a:rPr>
              <a:t>Daily schedule</a:t>
            </a:r>
            <a:endParaRPr lang="en-US" sz="1700" dirty="0"/>
          </a:p>
        </p:txBody>
      </p:sp>
      <p:sp>
        <p:nvSpPr>
          <p:cNvPr id="32" name="stepb-862"/>
          <p:cNvSpPr txBox="1"/>
          <p:nvPr/>
        </p:nvSpPr>
        <p:spPr>
          <a:xfrm>
            <a:off x="9890516" y="2926080"/>
            <a:ext cx="1615379" cy="1554480"/>
          </a:xfrm>
          <a:prstGeom prst="rect">
            <a:avLst/>
          </a:prstGeom>
          <a:noFill/>
          <a:ln/>
        </p:spPr>
        <p:txBody>
          <a:bodyPr wrap="square" lIns="0" tIns="0" rIns="0" bIns="0" rtlCol="0" anchor="t"/>
          <a:lstStyle/>
          <a:p>
            <a:pPr algn="l" indent="0" marL="0">
              <a:buNone/>
            </a:pPr>
            <a:r>
              <a:rPr lang="en-US" sz="1500" dirty="0">
                <a:solidFill>
                  <a:schemeClr val="tx1"/>
                </a:solidFill>
              </a:rPr>
              <a:t>plan fails if live config drifted from main; config backup to the DR bucket.</a:t>
            </a:r>
            <a:endParaRPr lang="en-US" sz="1500" dirty="0"/>
          </a:p>
        </p:txBody>
      </p:sp>
      <p:sp>
        <p:nvSpPr>
          <p:cNvPr id="33" name="belowbox-863"/>
          <p:cNvSpPr/>
          <p:nvPr/>
        </p:nvSpPr>
        <p:spPr>
          <a:xfrm>
            <a:off x="548640" y="4892040"/>
            <a:ext cx="11094415" cy="1371600"/>
          </a:xfrm>
          <a:prstGeom prst="roundRect">
            <a:avLst>
              <a:gd name="adj" fmla="val 4000"/>
            </a:avLst>
          </a:prstGeom>
          <a:solidFill>
            <a:schemeClr val="bg2"/>
          </a:solidFill>
          <a:ln w="12700">
            <a:solidFill>
              <a:schemeClr val="bg2"/>
            </a:solidFill>
            <a:prstDash val="solid"/>
          </a:ln>
        </p:spPr>
      </p:sp>
      <p:sp>
        <p:nvSpPr>
          <p:cNvPr id="34" name="below-864"/>
          <p:cNvSpPr txBox="1"/>
          <p:nvPr/>
        </p:nvSpPr>
        <p:spPr>
          <a:xfrm>
            <a:off x="822960" y="4983480"/>
            <a:ext cx="10545775" cy="1188720"/>
          </a:xfrm>
          <a:prstGeom prst="rect">
            <a:avLst/>
          </a:prstGeom>
          <a:noFill/>
          <a:ln/>
        </p:spPr>
        <p:txBody>
          <a:bodyPr wrap="square" lIns="0" tIns="0" rIns="0" bIns="0" rtlCol="0" anchor="ctr"/>
          <a:lstStyle/>
          <a:p>
            <a:pPr indent="0" marL="0">
              <a:buNone/>
            </a:pPr>
            <a:r>
              <a:rPr lang="en-US" sz="1600" dirty="0">
                <a:solidFill>
                  <a:schemeClr val="tx1"/>
                </a:solidFill>
              </a:rPr>
              <a:t>Settings: repository variables GCP_WIF_PROVIDER and GCP_CI_SA (not environment variables, which only jobs in that environment can read); repository secret ALERT_EMAIL. No keys stored anywhere.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ag-865"/>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Workload Identity Federation (keyless CI)</a:t>
            </a:r>
            <a:endParaRPr lang="en-US" sz="3200" dirty="0"/>
          </a:p>
        </p:txBody>
      </p:sp>
      <p:sp>
        <p:nvSpPr>
          <p:cNvPr id="5" name="step-866"/>
          <p:cNvSpPr/>
          <p:nvPr/>
        </p:nvSpPr>
        <p:spPr>
          <a:xfrm>
            <a:off x="548640" y="1920240"/>
            <a:ext cx="2464994" cy="2651760"/>
          </a:xfrm>
          <a:prstGeom prst="roundRect">
            <a:avLst>
              <a:gd name="adj" fmla="val 2968"/>
            </a:avLst>
          </a:prstGeom>
          <a:solidFill>
            <a:schemeClr val="bg2"/>
          </a:solidFill>
          <a:ln w="15875">
            <a:solidFill>
              <a:schemeClr val="accent1"/>
            </a:solidFill>
            <a:prstDash val="solid"/>
          </a:ln>
        </p:spPr>
      </p:sp>
      <p:sp>
        <p:nvSpPr>
          <p:cNvPr id="6" name="badge-867"/>
          <p:cNvSpPr/>
          <p:nvPr/>
        </p:nvSpPr>
        <p:spPr>
          <a:xfrm>
            <a:off x="1570825" y="1709928"/>
            <a:ext cx="420624" cy="420624"/>
          </a:xfrm>
          <a:prstGeom prst="ellipse">
            <a:avLst/>
          </a:prstGeom>
          <a:solidFill>
            <a:schemeClr val="accent1"/>
          </a:solidFill>
          <a:ln w="12700">
            <a:solidFill>
              <a:schemeClr val="accent1"/>
            </a:solidFill>
            <a:prstDash val="solid"/>
          </a:ln>
        </p:spPr>
      </p:sp>
      <p:sp>
        <p:nvSpPr>
          <p:cNvPr id="7" name="badgetxt-868"/>
          <p:cNvSpPr txBox="1"/>
          <p:nvPr/>
        </p:nvSpPr>
        <p:spPr>
          <a:xfrm>
            <a:off x="1570825"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steph-869"/>
          <p:cNvSpPr txBox="1"/>
          <p:nvPr/>
        </p:nvSpPr>
        <p:spPr>
          <a:xfrm>
            <a:off x="658368" y="2240280"/>
            <a:ext cx="2245538" cy="640080"/>
          </a:xfrm>
          <a:prstGeom prst="rect">
            <a:avLst/>
          </a:prstGeom>
          <a:noFill/>
          <a:ln/>
        </p:spPr>
        <p:txBody>
          <a:bodyPr wrap="square" lIns="0" tIns="0" rIns="0" bIns="0" rtlCol="0" anchor="ctr"/>
          <a:lstStyle/>
          <a:p>
            <a:pPr algn="ctr" indent="0" marL="0">
              <a:buNone/>
            </a:pPr>
            <a:r>
              <a:rPr lang="en-US" sz="1700" b="1" dirty="0">
                <a:solidFill>
                  <a:schemeClr val="tx2"/>
                </a:solidFill>
              </a:rPr>
              <a:t>GitHub OIDC token</a:t>
            </a:r>
            <a:endParaRPr lang="en-US" sz="1700" dirty="0"/>
          </a:p>
        </p:txBody>
      </p:sp>
      <p:sp>
        <p:nvSpPr>
          <p:cNvPr id="9" name="stepb-870"/>
          <p:cNvSpPr txBox="1"/>
          <p:nvPr/>
        </p:nvSpPr>
        <p:spPr>
          <a:xfrm>
            <a:off x="685800" y="2926080"/>
            <a:ext cx="2190674" cy="1554480"/>
          </a:xfrm>
          <a:prstGeom prst="rect">
            <a:avLst/>
          </a:prstGeom>
          <a:noFill/>
          <a:ln/>
        </p:spPr>
        <p:txBody>
          <a:bodyPr wrap="square" lIns="0" tIns="0" rIns="0" bIns="0" rtlCol="0" anchor="t"/>
          <a:lstStyle/>
          <a:p>
            <a:pPr algn="l" indent="0" marL="0">
              <a:buNone/>
            </a:pPr>
            <a:r>
              <a:rPr lang="en-US" sz="1600" dirty="0">
                <a:solidFill>
                  <a:schemeClr val="tx1"/>
                </a:solidFill>
              </a:rPr>
              <a:t>The job requests a signed JWT (id-token: write) with claims: repository, ref, event.</a:t>
            </a:r>
            <a:endParaRPr lang="en-US" sz="1600" dirty="0"/>
          </a:p>
        </p:txBody>
      </p:sp>
      <p:sp>
        <p:nvSpPr>
          <p:cNvPr id="10" name="arrow-871"/>
          <p:cNvSpPr/>
          <p:nvPr/>
        </p:nvSpPr>
        <p:spPr>
          <a:xfrm>
            <a:off x="3077642" y="3108960"/>
            <a:ext cx="283464" cy="274320"/>
          </a:xfrm>
          <a:prstGeom prst="rightArrow">
            <a:avLst/>
          </a:prstGeom>
          <a:solidFill>
            <a:schemeClr val="accent2"/>
          </a:solidFill>
          <a:ln w="12700">
            <a:solidFill>
              <a:schemeClr val="accent2"/>
            </a:solidFill>
            <a:prstDash val="solid"/>
          </a:ln>
        </p:spPr>
      </p:sp>
      <p:sp>
        <p:nvSpPr>
          <p:cNvPr id="11" name="step-872"/>
          <p:cNvSpPr/>
          <p:nvPr/>
        </p:nvSpPr>
        <p:spPr>
          <a:xfrm>
            <a:off x="3425114" y="1920240"/>
            <a:ext cx="2464994" cy="2651760"/>
          </a:xfrm>
          <a:prstGeom prst="roundRect">
            <a:avLst>
              <a:gd name="adj" fmla="val 2968"/>
            </a:avLst>
          </a:prstGeom>
          <a:solidFill>
            <a:schemeClr val="tx2"/>
          </a:solidFill>
          <a:ln w="15875">
            <a:solidFill>
              <a:schemeClr val="accent1"/>
            </a:solidFill>
            <a:prstDash val="solid"/>
          </a:ln>
        </p:spPr>
      </p:sp>
      <p:sp>
        <p:nvSpPr>
          <p:cNvPr id="12" name="badge-873"/>
          <p:cNvSpPr/>
          <p:nvPr/>
        </p:nvSpPr>
        <p:spPr>
          <a:xfrm>
            <a:off x="4447299" y="1709928"/>
            <a:ext cx="420624" cy="420624"/>
          </a:xfrm>
          <a:prstGeom prst="ellipse">
            <a:avLst/>
          </a:prstGeom>
          <a:solidFill>
            <a:schemeClr val="accent2"/>
          </a:solidFill>
          <a:ln w="12700">
            <a:solidFill>
              <a:schemeClr val="accent2"/>
            </a:solidFill>
            <a:prstDash val="solid"/>
          </a:ln>
        </p:spPr>
      </p:sp>
      <p:sp>
        <p:nvSpPr>
          <p:cNvPr id="13" name="badgetxt-874"/>
          <p:cNvSpPr txBox="1"/>
          <p:nvPr/>
        </p:nvSpPr>
        <p:spPr>
          <a:xfrm>
            <a:off x="4447299"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steph-875"/>
          <p:cNvSpPr txBox="1"/>
          <p:nvPr/>
        </p:nvSpPr>
        <p:spPr>
          <a:xfrm>
            <a:off x="3534842" y="2240280"/>
            <a:ext cx="2245538" cy="640080"/>
          </a:xfrm>
          <a:prstGeom prst="rect">
            <a:avLst/>
          </a:prstGeom>
          <a:noFill/>
          <a:ln/>
        </p:spPr>
        <p:txBody>
          <a:bodyPr wrap="square" lIns="0" tIns="0" rIns="0" bIns="0" rtlCol="0" anchor="ctr"/>
          <a:lstStyle/>
          <a:p>
            <a:pPr algn="ctr" indent="0" marL="0">
              <a:buNone/>
            </a:pPr>
            <a:r>
              <a:rPr lang="en-US" sz="1700" b="1" dirty="0">
                <a:solidFill>
                  <a:schemeClr val="bg1"/>
                </a:solidFill>
              </a:rPr>
              <a:t>STS exchange</a:t>
            </a:r>
            <a:endParaRPr lang="en-US" sz="1700" dirty="0"/>
          </a:p>
        </p:txBody>
      </p:sp>
      <p:sp>
        <p:nvSpPr>
          <p:cNvPr id="15" name="stepb-876"/>
          <p:cNvSpPr txBox="1"/>
          <p:nvPr/>
        </p:nvSpPr>
        <p:spPr>
          <a:xfrm>
            <a:off x="3562274" y="2926080"/>
            <a:ext cx="2190674" cy="1554480"/>
          </a:xfrm>
          <a:prstGeom prst="rect">
            <a:avLst/>
          </a:prstGeom>
          <a:noFill/>
          <a:ln/>
        </p:spPr>
        <p:txBody>
          <a:bodyPr wrap="square" lIns="0" tIns="0" rIns="0" bIns="0" rtlCol="0" anchor="t"/>
          <a:lstStyle/>
          <a:p>
            <a:pPr algn="l" indent="0" marL="0">
              <a:buNone/>
            </a:pPr>
            <a:r>
              <a:rPr lang="en-US" sz="1600" dirty="0">
                <a:solidFill>
                  <a:schemeClr val="bg1"/>
                </a:solidFill>
              </a:rPr>
              <a:t>Google's Security Token Service checks the issuer and attribute condition: repository must be ours.</a:t>
            </a:r>
            <a:endParaRPr lang="en-US" sz="1600" dirty="0"/>
          </a:p>
        </p:txBody>
      </p:sp>
      <p:sp>
        <p:nvSpPr>
          <p:cNvPr id="16" name="arrow-877"/>
          <p:cNvSpPr/>
          <p:nvPr/>
        </p:nvSpPr>
        <p:spPr>
          <a:xfrm>
            <a:off x="5954116" y="3108960"/>
            <a:ext cx="283464" cy="274320"/>
          </a:xfrm>
          <a:prstGeom prst="rightArrow">
            <a:avLst/>
          </a:prstGeom>
          <a:solidFill>
            <a:schemeClr val="accent2"/>
          </a:solidFill>
          <a:ln w="12700">
            <a:solidFill>
              <a:schemeClr val="accent2"/>
            </a:solidFill>
            <a:prstDash val="solid"/>
          </a:ln>
        </p:spPr>
      </p:sp>
      <p:sp>
        <p:nvSpPr>
          <p:cNvPr id="17" name="step-878"/>
          <p:cNvSpPr/>
          <p:nvPr/>
        </p:nvSpPr>
        <p:spPr>
          <a:xfrm>
            <a:off x="6301588" y="1920240"/>
            <a:ext cx="2464994" cy="2651760"/>
          </a:xfrm>
          <a:prstGeom prst="roundRect">
            <a:avLst>
              <a:gd name="adj" fmla="val 2968"/>
            </a:avLst>
          </a:prstGeom>
          <a:solidFill>
            <a:schemeClr val="bg2"/>
          </a:solidFill>
          <a:ln w="15875">
            <a:solidFill>
              <a:schemeClr val="accent1"/>
            </a:solidFill>
            <a:prstDash val="solid"/>
          </a:ln>
        </p:spPr>
      </p:sp>
      <p:sp>
        <p:nvSpPr>
          <p:cNvPr id="18" name="badge-879"/>
          <p:cNvSpPr/>
          <p:nvPr/>
        </p:nvSpPr>
        <p:spPr>
          <a:xfrm>
            <a:off x="7323773" y="1709928"/>
            <a:ext cx="420624" cy="420624"/>
          </a:xfrm>
          <a:prstGeom prst="ellipse">
            <a:avLst/>
          </a:prstGeom>
          <a:solidFill>
            <a:schemeClr val="accent1"/>
          </a:solidFill>
          <a:ln w="12700">
            <a:solidFill>
              <a:schemeClr val="accent1"/>
            </a:solidFill>
            <a:prstDash val="solid"/>
          </a:ln>
        </p:spPr>
      </p:sp>
      <p:sp>
        <p:nvSpPr>
          <p:cNvPr id="19" name="badgetxt-880"/>
          <p:cNvSpPr txBox="1"/>
          <p:nvPr/>
        </p:nvSpPr>
        <p:spPr>
          <a:xfrm>
            <a:off x="7323773"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steph-881"/>
          <p:cNvSpPr txBox="1"/>
          <p:nvPr/>
        </p:nvSpPr>
        <p:spPr>
          <a:xfrm>
            <a:off x="6411316" y="2240280"/>
            <a:ext cx="2245538" cy="640080"/>
          </a:xfrm>
          <a:prstGeom prst="rect">
            <a:avLst/>
          </a:prstGeom>
          <a:noFill/>
          <a:ln/>
        </p:spPr>
        <p:txBody>
          <a:bodyPr wrap="square" lIns="0" tIns="0" rIns="0" bIns="0" rtlCol="0" anchor="ctr"/>
          <a:lstStyle/>
          <a:p>
            <a:pPr algn="ctr" indent="0" marL="0">
              <a:buNone/>
            </a:pPr>
            <a:r>
              <a:rPr lang="en-US" sz="1700" b="1" dirty="0">
                <a:solidFill>
                  <a:schemeClr val="tx2"/>
                </a:solidFill>
              </a:rPr>
              <a:t>github-ci-sa</a:t>
            </a:r>
            <a:endParaRPr lang="en-US" sz="1700" dirty="0"/>
          </a:p>
        </p:txBody>
      </p:sp>
      <p:sp>
        <p:nvSpPr>
          <p:cNvPr id="21" name="stepb-882"/>
          <p:cNvSpPr txBox="1"/>
          <p:nvPr/>
        </p:nvSpPr>
        <p:spPr>
          <a:xfrm>
            <a:off x="6438748" y="2926080"/>
            <a:ext cx="2190674" cy="1554480"/>
          </a:xfrm>
          <a:prstGeom prst="rect">
            <a:avLst/>
          </a:prstGeom>
          <a:noFill/>
          <a:ln/>
        </p:spPr>
        <p:txBody>
          <a:bodyPr wrap="square" lIns="0" tIns="0" rIns="0" bIns="0" rtlCol="0" anchor="t"/>
          <a:lstStyle/>
          <a:p>
            <a:pPr algn="l" indent="0" marL="0">
              <a:buNone/>
            </a:pPr>
            <a:r>
              <a:rPr lang="en-US" sz="1600" dirty="0">
                <a:solidFill>
                  <a:schemeClr val="tx1"/>
                </a:solidFill>
              </a:rPr>
              <a:t>The federated identity holds Workload Identity User on github-ci-sa, for this repo only.</a:t>
            </a:r>
            <a:endParaRPr lang="en-US" sz="1600" dirty="0"/>
          </a:p>
        </p:txBody>
      </p:sp>
      <p:sp>
        <p:nvSpPr>
          <p:cNvPr id="22" name="arrow-883"/>
          <p:cNvSpPr/>
          <p:nvPr/>
        </p:nvSpPr>
        <p:spPr>
          <a:xfrm>
            <a:off x="8830589" y="3108960"/>
            <a:ext cx="283464" cy="274320"/>
          </a:xfrm>
          <a:prstGeom prst="rightArrow">
            <a:avLst/>
          </a:prstGeom>
          <a:solidFill>
            <a:schemeClr val="accent2"/>
          </a:solidFill>
          <a:ln w="12700">
            <a:solidFill>
              <a:schemeClr val="accent2"/>
            </a:solidFill>
            <a:prstDash val="solid"/>
          </a:ln>
        </p:spPr>
      </p:sp>
      <p:sp>
        <p:nvSpPr>
          <p:cNvPr id="23" name="step-884"/>
          <p:cNvSpPr/>
          <p:nvPr/>
        </p:nvSpPr>
        <p:spPr>
          <a:xfrm>
            <a:off x="9178061" y="1920240"/>
            <a:ext cx="2464994" cy="2651760"/>
          </a:xfrm>
          <a:prstGeom prst="roundRect">
            <a:avLst>
              <a:gd name="adj" fmla="val 2968"/>
            </a:avLst>
          </a:prstGeom>
          <a:solidFill>
            <a:schemeClr val="bg2"/>
          </a:solidFill>
          <a:ln w="15875">
            <a:solidFill>
              <a:schemeClr val="accent1"/>
            </a:solidFill>
            <a:prstDash val="solid"/>
          </a:ln>
        </p:spPr>
      </p:sp>
      <p:sp>
        <p:nvSpPr>
          <p:cNvPr id="24" name="badge-885"/>
          <p:cNvSpPr/>
          <p:nvPr/>
        </p:nvSpPr>
        <p:spPr>
          <a:xfrm>
            <a:off x="10200246" y="1709928"/>
            <a:ext cx="420624" cy="420624"/>
          </a:xfrm>
          <a:prstGeom prst="ellipse">
            <a:avLst/>
          </a:prstGeom>
          <a:solidFill>
            <a:schemeClr val="accent1"/>
          </a:solidFill>
          <a:ln w="12700">
            <a:solidFill>
              <a:schemeClr val="accent1"/>
            </a:solidFill>
            <a:prstDash val="solid"/>
          </a:ln>
        </p:spPr>
      </p:sp>
      <p:sp>
        <p:nvSpPr>
          <p:cNvPr id="25" name="badgetxt-886"/>
          <p:cNvSpPr txBox="1"/>
          <p:nvPr/>
        </p:nvSpPr>
        <p:spPr>
          <a:xfrm>
            <a:off x="10200246" y="1709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steph-887"/>
          <p:cNvSpPr txBox="1"/>
          <p:nvPr/>
        </p:nvSpPr>
        <p:spPr>
          <a:xfrm>
            <a:off x="9287789" y="2240280"/>
            <a:ext cx="2245538" cy="640080"/>
          </a:xfrm>
          <a:prstGeom prst="rect">
            <a:avLst/>
          </a:prstGeom>
          <a:noFill/>
          <a:ln/>
        </p:spPr>
        <p:txBody>
          <a:bodyPr wrap="square" lIns="0" tIns="0" rIns="0" bIns="0" rtlCol="0" anchor="ctr"/>
          <a:lstStyle/>
          <a:p>
            <a:pPr algn="ctr" indent="0" marL="0">
              <a:buNone/>
            </a:pPr>
            <a:r>
              <a:rPr lang="en-US" sz="1700" b="1" dirty="0">
                <a:solidFill>
                  <a:schemeClr val="tx2"/>
                </a:solidFill>
              </a:rPr>
              <a:t>Impersonation</a:t>
            </a:r>
            <a:endParaRPr lang="en-US" sz="1700" dirty="0"/>
          </a:p>
        </p:txBody>
      </p:sp>
      <p:sp>
        <p:nvSpPr>
          <p:cNvPr id="27" name="stepb-888"/>
          <p:cNvSpPr txBox="1"/>
          <p:nvPr/>
        </p:nvSpPr>
        <p:spPr>
          <a:xfrm>
            <a:off x="9315221" y="2926080"/>
            <a:ext cx="2190674" cy="1554480"/>
          </a:xfrm>
          <a:prstGeom prst="rect">
            <a:avLst/>
          </a:prstGeom>
          <a:noFill/>
          <a:ln/>
        </p:spPr>
        <p:txBody>
          <a:bodyPr wrap="square" lIns="0" tIns="0" rIns="0" bIns="0" rtlCol="0" anchor="t"/>
          <a:lstStyle/>
          <a:p>
            <a:pPr algn="l" indent="0" marL="0">
              <a:buNone/>
            </a:pPr>
            <a:r>
              <a:rPr lang="en-US" sz="1600" dirty="0">
                <a:solidFill>
                  <a:schemeClr val="tx1"/>
                </a:solidFill>
              </a:rPr>
              <a:t>github-ci-sa holds Token Creator on network-admin-sa: the same path a human uses.</a:t>
            </a:r>
            <a:endParaRPr lang="en-US" sz="1600" dirty="0"/>
          </a:p>
        </p:txBody>
      </p:sp>
      <p:sp>
        <p:nvSpPr>
          <p:cNvPr id="28" name="belowbox-889"/>
          <p:cNvSpPr/>
          <p:nvPr/>
        </p:nvSpPr>
        <p:spPr>
          <a:xfrm>
            <a:off x="548640" y="4892040"/>
            <a:ext cx="11094415" cy="1371600"/>
          </a:xfrm>
          <a:prstGeom prst="roundRect">
            <a:avLst>
              <a:gd name="adj" fmla="val 4000"/>
            </a:avLst>
          </a:prstGeom>
          <a:solidFill>
            <a:schemeClr val="bg2"/>
          </a:solidFill>
          <a:ln w="12700">
            <a:solidFill>
              <a:schemeClr val="bg2"/>
            </a:solidFill>
            <a:prstDash val="solid"/>
          </a:ln>
        </p:spPr>
      </p:sp>
      <p:sp>
        <p:nvSpPr>
          <p:cNvPr id="29" name="below-890"/>
          <p:cNvSpPr txBox="1"/>
          <p:nvPr/>
        </p:nvSpPr>
        <p:spPr>
          <a:xfrm>
            <a:off x="822960" y="4983480"/>
            <a:ext cx="10545775" cy="1188720"/>
          </a:xfrm>
          <a:prstGeom prst="rect">
            <a:avLst/>
          </a:prstGeom>
          <a:noFill/>
          <a:ln/>
        </p:spPr>
        <p:txBody>
          <a:bodyPr wrap="square" lIns="0" tIns="0" rIns="0" bIns="0" rtlCol="0" anchor="ctr"/>
          <a:lstStyle/>
          <a:p>
            <a:pPr indent="0" marL="0">
              <a:buNone/>
            </a:pPr>
            <a:r>
              <a:rPr lang="en-US" sz="1600" dirty="0">
                <a:solidFill>
                  <a:schemeClr val="tx1"/>
                </a:solidFill>
              </a:rPr>
              <a:t>Why it beats a key in GitHub secrets: nothing long-lived to leak, tokens last an hour, a fork or another repo can't get credentials (attribute condition), and revoking is one command: disable the provider.</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ag-891"/>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Phase 8 results</a:t>
            </a:r>
            <a:endParaRPr lang="en-US" sz="3200" dirty="0"/>
          </a:p>
        </p:txBody>
      </p:sp>
      <p:sp>
        <p:nvSpPr>
          <p:cNvPr id="4" name="stat-892"/>
          <p:cNvSpPr/>
          <p:nvPr/>
        </p:nvSpPr>
        <p:spPr>
          <a:xfrm>
            <a:off x="548640" y="1600200"/>
            <a:ext cx="2567864" cy="2286000"/>
          </a:xfrm>
          <a:prstGeom prst="roundRect">
            <a:avLst>
              <a:gd name="adj" fmla="val 3200"/>
            </a:avLst>
          </a:prstGeom>
          <a:solidFill>
            <a:schemeClr val="tx2"/>
          </a:solidFill>
          <a:ln w="12700">
            <a:solidFill>
              <a:schemeClr val="tx2"/>
            </a:solidFill>
            <a:prstDash val="solid"/>
          </a:ln>
        </p:spPr>
      </p:sp>
      <p:sp>
        <p:nvSpPr>
          <p:cNvPr id="5" name="statn-893"/>
          <p:cNvSpPr txBox="1"/>
          <p:nvPr/>
        </p:nvSpPr>
        <p:spPr>
          <a:xfrm>
            <a:off x="548640" y="1828800"/>
            <a:ext cx="2567864" cy="1097280"/>
          </a:xfrm>
          <a:prstGeom prst="rect">
            <a:avLst/>
          </a:prstGeom>
          <a:noFill/>
          <a:ln/>
        </p:spPr>
        <p:txBody>
          <a:bodyPr wrap="square" lIns="0" tIns="0" rIns="0" bIns="0" rtlCol="0" anchor="ctr"/>
          <a:lstStyle/>
          <a:p>
            <a:pPr algn="ctr" indent="0" marL="0">
              <a:buNone/>
            </a:pPr>
            <a:r>
              <a:rPr lang="en-US" sz="5400" b="1" dirty="0">
                <a:solidFill>
                  <a:schemeClr val="accent2"/>
                </a:solidFill>
              </a:rPr>
              <a:t>8/8</a:t>
            </a:r>
            <a:endParaRPr lang="en-US" sz="5400" dirty="0"/>
          </a:p>
        </p:txBody>
      </p:sp>
      <p:sp>
        <p:nvSpPr>
          <p:cNvPr id="6" name="statl-894"/>
          <p:cNvSpPr txBox="1"/>
          <p:nvPr/>
        </p:nvSpPr>
        <p:spPr>
          <a:xfrm>
            <a:off x="731520" y="2971800"/>
            <a:ext cx="2202104" cy="777240"/>
          </a:xfrm>
          <a:prstGeom prst="rect">
            <a:avLst/>
          </a:prstGeom>
          <a:noFill/>
          <a:ln/>
        </p:spPr>
        <p:txBody>
          <a:bodyPr wrap="square" lIns="0" tIns="0" rIns="0" bIns="0" rtlCol="0" anchor="t"/>
          <a:lstStyle/>
          <a:p>
            <a:pPr algn="ctr" indent="0" marL="0">
              <a:buNone/>
            </a:pPr>
            <a:r>
              <a:rPr lang="en-US" sz="1400" dirty="0">
                <a:solidFill>
                  <a:schemeClr val="bg1"/>
                </a:solidFill>
              </a:rPr>
              <a:t>DR readiness tests passed</a:t>
            </a:r>
            <a:endParaRPr lang="en-US" sz="1400" dirty="0"/>
          </a:p>
        </p:txBody>
      </p:sp>
      <p:sp>
        <p:nvSpPr>
          <p:cNvPr id="7" name="stat-895"/>
          <p:cNvSpPr/>
          <p:nvPr/>
        </p:nvSpPr>
        <p:spPr>
          <a:xfrm>
            <a:off x="3390824" y="1600200"/>
            <a:ext cx="2567864" cy="2286000"/>
          </a:xfrm>
          <a:prstGeom prst="roundRect">
            <a:avLst>
              <a:gd name="adj" fmla="val 3200"/>
            </a:avLst>
          </a:prstGeom>
          <a:solidFill>
            <a:schemeClr val="tx2"/>
          </a:solidFill>
          <a:ln w="12700">
            <a:solidFill>
              <a:schemeClr val="tx2"/>
            </a:solidFill>
            <a:prstDash val="solid"/>
          </a:ln>
        </p:spPr>
      </p:sp>
      <p:sp>
        <p:nvSpPr>
          <p:cNvPr id="8" name="statn-896"/>
          <p:cNvSpPr txBox="1"/>
          <p:nvPr/>
        </p:nvSpPr>
        <p:spPr>
          <a:xfrm>
            <a:off x="3390824" y="1828800"/>
            <a:ext cx="2567864" cy="1097280"/>
          </a:xfrm>
          <a:prstGeom prst="rect">
            <a:avLst/>
          </a:prstGeom>
          <a:noFill/>
          <a:ln/>
        </p:spPr>
        <p:txBody>
          <a:bodyPr wrap="square" lIns="0" tIns="0" rIns="0" bIns="0" rtlCol="0" anchor="ctr"/>
          <a:lstStyle/>
          <a:p>
            <a:pPr algn="ctr" indent="0" marL="0">
              <a:buNone/>
            </a:pPr>
            <a:r>
              <a:rPr lang="en-US" sz="5400" b="1" dirty="0">
                <a:solidFill>
                  <a:schemeClr val="accent2"/>
                </a:solidFill>
              </a:rPr>
              <a:t>249 s</a:t>
            </a:r>
            <a:endParaRPr lang="en-US" sz="5400" dirty="0"/>
          </a:p>
        </p:txBody>
      </p:sp>
      <p:sp>
        <p:nvSpPr>
          <p:cNvPr id="9" name="statl-897"/>
          <p:cNvSpPr txBox="1"/>
          <p:nvPr/>
        </p:nvSpPr>
        <p:spPr>
          <a:xfrm>
            <a:off x="3573704" y="2971800"/>
            <a:ext cx="2202104" cy="777240"/>
          </a:xfrm>
          <a:prstGeom prst="rect">
            <a:avLst/>
          </a:prstGeom>
          <a:noFill/>
          <a:ln/>
        </p:spPr>
        <p:txBody>
          <a:bodyPr wrap="square" lIns="0" tIns="0" rIns="0" bIns="0" rtlCol="0" anchor="t"/>
          <a:lstStyle/>
          <a:p>
            <a:pPr algn="ctr" indent="0" marL="0">
              <a:buNone/>
            </a:pPr>
            <a:r>
              <a:rPr lang="en-US" sz="1400" dirty="0">
                <a:solidFill>
                  <a:schemeClr val="bg1"/>
                </a:solidFill>
              </a:rPr>
              <a:t>Measured RTO for a deleted firewall rule</a:t>
            </a:r>
            <a:endParaRPr lang="en-US" sz="1400" dirty="0"/>
          </a:p>
        </p:txBody>
      </p:sp>
      <p:sp>
        <p:nvSpPr>
          <p:cNvPr id="10" name="stat-898"/>
          <p:cNvSpPr/>
          <p:nvPr/>
        </p:nvSpPr>
        <p:spPr>
          <a:xfrm>
            <a:off x="6233008" y="1600200"/>
            <a:ext cx="2567864" cy="2286000"/>
          </a:xfrm>
          <a:prstGeom prst="roundRect">
            <a:avLst>
              <a:gd name="adj" fmla="val 3200"/>
            </a:avLst>
          </a:prstGeom>
          <a:solidFill>
            <a:schemeClr val="tx2"/>
          </a:solidFill>
          <a:ln w="12700">
            <a:solidFill>
              <a:schemeClr val="tx2"/>
            </a:solidFill>
            <a:prstDash val="solid"/>
          </a:ln>
        </p:spPr>
      </p:sp>
      <p:sp>
        <p:nvSpPr>
          <p:cNvPr id="11" name="statn-899"/>
          <p:cNvSpPr txBox="1"/>
          <p:nvPr/>
        </p:nvSpPr>
        <p:spPr>
          <a:xfrm>
            <a:off x="6233008" y="1828800"/>
            <a:ext cx="2567864" cy="1097280"/>
          </a:xfrm>
          <a:prstGeom prst="rect">
            <a:avLst/>
          </a:prstGeom>
          <a:noFill/>
          <a:ln/>
        </p:spPr>
        <p:txBody>
          <a:bodyPr wrap="square" lIns="0" tIns="0" rIns="0" bIns="0" rtlCol="0" anchor="ctr"/>
          <a:lstStyle/>
          <a:p>
            <a:pPr algn="ctr" indent="0" marL="0">
              <a:buNone/>
            </a:pPr>
            <a:r>
              <a:rPr lang="en-US" sz="5400" b="1" dirty="0">
                <a:solidFill>
                  <a:schemeClr val="accent2"/>
                </a:solidFill>
              </a:rPr>
              <a:t>64</a:t>
            </a:r>
            <a:endParaRPr lang="en-US" sz="5400" dirty="0"/>
          </a:p>
        </p:txBody>
      </p:sp>
      <p:sp>
        <p:nvSpPr>
          <p:cNvPr id="12" name="statl-900"/>
          <p:cNvSpPr txBox="1"/>
          <p:nvPr/>
        </p:nvSpPr>
        <p:spPr>
          <a:xfrm>
            <a:off x="6415888" y="2971800"/>
            <a:ext cx="2202104" cy="777240"/>
          </a:xfrm>
          <a:prstGeom prst="rect">
            <a:avLst/>
          </a:prstGeom>
          <a:noFill/>
          <a:ln/>
        </p:spPr>
        <p:txBody>
          <a:bodyPr wrap="square" lIns="0" tIns="0" rIns="0" bIns="0" rtlCol="0" anchor="t"/>
          <a:lstStyle/>
          <a:p>
            <a:pPr algn="ctr" indent="0" marL="0">
              <a:buNone/>
            </a:pPr>
            <a:r>
              <a:rPr lang="en-US" sz="1400" dirty="0">
                <a:solidFill>
                  <a:schemeClr val="bg1"/>
                </a:solidFill>
              </a:rPr>
              <a:t>Files checksum-verified in a backup</a:t>
            </a:r>
            <a:endParaRPr lang="en-US" sz="1400" dirty="0"/>
          </a:p>
        </p:txBody>
      </p:sp>
      <p:sp>
        <p:nvSpPr>
          <p:cNvPr id="13" name="stat-901"/>
          <p:cNvSpPr/>
          <p:nvPr/>
        </p:nvSpPr>
        <p:spPr>
          <a:xfrm>
            <a:off x="9075191" y="1600200"/>
            <a:ext cx="2567864" cy="2286000"/>
          </a:xfrm>
          <a:prstGeom prst="roundRect">
            <a:avLst>
              <a:gd name="adj" fmla="val 3200"/>
            </a:avLst>
          </a:prstGeom>
          <a:solidFill>
            <a:schemeClr val="tx2"/>
          </a:solidFill>
          <a:ln w="12700">
            <a:solidFill>
              <a:schemeClr val="tx2"/>
            </a:solidFill>
            <a:prstDash val="solid"/>
          </a:ln>
        </p:spPr>
      </p:sp>
      <p:sp>
        <p:nvSpPr>
          <p:cNvPr id="14" name="statn-902"/>
          <p:cNvSpPr txBox="1"/>
          <p:nvPr/>
        </p:nvSpPr>
        <p:spPr>
          <a:xfrm>
            <a:off x="9075191" y="1828800"/>
            <a:ext cx="2567864" cy="1097280"/>
          </a:xfrm>
          <a:prstGeom prst="rect">
            <a:avLst/>
          </a:prstGeom>
          <a:noFill/>
          <a:ln/>
        </p:spPr>
        <p:txBody>
          <a:bodyPr wrap="square" lIns="0" tIns="0" rIns="0" bIns="0" rtlCol="0" anchor="ctr"/>
          <a:lstStyle/>
          <a:p>
            <a:pPr algn="ctr" indent="0" marL="0">
              <a:buNone/>
            </a:pPr>
            <a:r>
              <a:rPr lang="en-US" sz="5400" b="1" dirty="0">
                <a:solidFill>
                  <a:schemeClr val="accent2"/>
                </a:solidFill>
              </a:rPr>
              <a:t>0</a:t>
            </a:r>
            <a:endParaRPr lang="en-US" sz="5400" dirty="0"/>
          </a:p>
        </p:txBody>
      </p:sp>
      <p:sp>
        <p:nvSpPr>
          <p:cNvPr id="15" name="statl-903"/>
          <p:cNvSpPr txBox="1"/>
          <p:nvPr/>
        </p:nvSpPr>
        <p:spPr>
          <a:xfrm>
            <a:off x="9258071" y="2971800"/>
            <a:ext cx="2202104" cy="777240"/>
          </a:xfrm>
          <a:prstGeom prst="rect">
            <a:avLst/>
          </a:prstGeom>
          <a:noFill/>
          <a:ln/>
        </p:spPr>
        <p:txBody>
          <a:bodyPr wrap="square" lIns="0" tIns="0" rIns="0" bIns="0" rtlCol="0" anchor="t"/>
          <a:lstStyle/>
          <a:p>
            <a:pPr algn="ctr" indent="0" marL="0">
              <a:buNone/>
            </a:pPr>
            <a:r>
              <a:rPr lang="en-US" sz="1400" dirty="0">
                <a:solidFill>
                  <a:schemeClr val="bg1"/>
                </a:solidFill>
              </a:rPr>
              <a:t>Keys stored in CI</a:t>
            </a:r>
            <a:endParaRPr lang="en-US" sz="1400" dirty="0"/>
          </a:p>
        </p:txBody>
      </p:sp>
      <p:sp>
        <p:nvSpPr>
          <p:cNvPr id="16" name="statpts-904"/>
          <p:cNvSpPr txBox="1"/>
          <p:nvPr/>
        </p:nvSpPr>
        <p:spPr>
          <a:xfrm>
            <a:off x="548640" y="4206240"/>
            <a:ext cx="11094415" cy="20574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1"/>
                </a:solidFill>
              </a:rPr>
              <a:t>Drill:</a:t>
            </a:r>
            <a:pPr indent="0" marL="0">
              <a:spcAft>
                <a:spcPts val="600"/>
              </a:spcAft>
              <a:buNone/>
            </a:pPr>
            <a:r>
              <a:rPr lang="en-US" sz="1700" dirty="0">
                <a:solidFill>
                  <a:schemeClr val="tx1"/>
                </a:solidFill>
              </a:rPr>
              <a:t> rule deleted → impact BLOCKED → drift alert (firewalls.delete) → backup diff found it → Terraform restored → OPEN.</a:t>
            </a:r>
            <a:endParaRPr lang="en-US" sz="1700" dirty="0"/>
          </a:p>
          <a:p>
            <a:pPr marL="342900" indent="-342900">
              <a:spcAft>
                <a:spcPts val="600"/>
              </a:spcAft>
              <a:buSzPct val="100000"/>
              <a:buChar char="•"/>
            </a:pPr>
            <a:r>
              <a:rPr lang="en-US" sz="1700" b="1" dirty="0">
                <a:solidFill>
                  <a:schemeClr val="tx1"/>
                </a:solidFill>
              </a:rPr>
              <a:t>Backups:</a:t>
            </a:r>
            <a:pPr indent="0" marL="0">
              <a:spcAft>
                <a:spcPts val="600"/>
              </a:spcAft>
              <a:buNone/>
            </a:pPr>
            <a:r>
              <a:rPr lang="en-US" sz="1700" dirty="0">
                <a:solidFill>
                  <a:schemeClr val="tx1"/>
                </a:solidFill>
              </a:rPr>
              <a:t> 62 files exported per run, 4 expected errors (no Cloud DNS in service projects), stored in us-east1 with versioning.</a:t>
            </a:r>
            <a:endParaRPr lang="en-US" sz="1700" dirty="0"/>
          </a:p>
          <a:p>
            <a:pPr marL="342900" indent="-342900">
              <a:spcAft>
                <a:spcPts val="600"/>
              </a:spcAft>
              <a:buSzPct val="100000"/>
              <a:buChar char="•"/>
            </a:pPr>
            <a:r>
              <a:rPr lang="en-US" sz="1700" b="1" dirty="0">
                <a:solidFill>
                  <a:schemeClr val="tx1"/>
                </a:solidFill>
              </a:rPr>
              <a:t>CI:</a:t>
            </a:r>
            <a:pPr indent="0" marL="0">
              <a:spcAft>
                <a:spcPts val="600"/>
              </a:spcAft>
              <a:buNone/>
            </a:pPr>
            <a:r>
              <a:rPr lang="en-US" sz="1700" dirty="0">
                <a:solidFill>
                  <a:schemeClr val="tx1"/>
                </a:solidFill>
              </a:rPr>
              <a:t> first run 'No changes'; PR plan comment; approved apply changed 1 label; manual run did plan + backup.</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ag-905"/>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Lessons learned: Phase 8</a:t>
            </a:r>
            <a:endParaRPr lang="en-US" sz="3200" dirty="0"/>
          </a:p>
        </p:txBody>
      </p:sp>
      <p:graphicFrame>
        <p:nvGraphicFramePr>
          <p:cNvPr id="58" name="table-906"/>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8960"/>
                <a:gridCol w="3931920"/>
                <a:gridCol w="4050792"/>
              </a:tblGrid>
              <a:tr h="0">
                <a:tc>
                  <a:txBody>
                    <a:bodyPr/>
                    <a:lstStyle/>
                    <a:p>
                      <a:pPr indent="0" marL="0">
                        <a:buNone/>
                      </a:pPr>
                      <a:r>
                        <a:rPr lang="en-US" sz="1700" b="1" dirty="0">
                          <a:solidFill>
                            <a:schemeClr val="bg1"/>
                          </a:solidFill>
                        </a:rPr>
                        <a:t>Problem</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Root cause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Fix</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Backup hung forever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Hidden 'enable API? (y/N)' prompt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CLOUDSDK_CORE_DISABLE_PROMPTS=1</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CI auth: no workload_identity_provider</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Settings saved as environment variables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Moved to repository variables and secret</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GitHub showed 'Get started with Actions'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.github folder never copied (hidden)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Created the workflow with a heredoc</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Ctrl+C still deleted the DR VMs</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Ctrl+C stops one command; queued ones run</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Run long steps one at a time</a:t>
                      </a:r>
                      <a:endParaRPr lang="en-US" sz="1700" dirty="0"/>
                    </a:p>
                  </a:txBody>
                  <a:tcPr marL="109728" marR="109728" marT="109728" marB="109728"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ag-90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Test yourself</a:t>
            </a:r>
            <a:endParaRPr lang="en-US" sz="3200" dirty="0"/>
          </a:p>
        </p:txBody>
      </p:sp>
      <p:sp>
        <p:nvSpPr>
          <p:cNvPr id="4" name="qcard-908"/>
          <p:cNvSpPr/>
          <p:nvPr/>
        </p:nvSpPr>
        <p:spPr>
          <a:xfrm>
            <a:off x="548640" y="1600200"/>
            <a:ext cx="3515258" cy="2194560"/>
          </a:xfrm>
          <a:prstGeom prst="roundRect">
            <a:avLst>
              <a:gd name="adj" fmla="val 3333"/>
            </a:avLst>
          </a:prstGeom>
          <a:solidFill>
            <a:schemeClr val="bg1"/>
          </a:solidFill>
          <a:ln w="15875">
            <a:solidFill>
              <a:schemeClr val="accent1"/>
            </a:solidFill>
            <a:prstDash val="solid"/>
          </a:ln>
        </p:spPr>
      </p:sp>
      <p:sp>
        <p:nvSpPr>
          <p:cNvPr id="5" name="badge-909"/>
          <p:cNvSpPr/>
          <p:nvPr/>
        </p:nvSpPr>
        <p:spPr>
          <a:xfrm>
            <a:off x="731520" y="1783080"/>
            <a:ext cx="420624" cy="420624"/>
          </a:xfrm>
          <a:prstGeom prst="ellipse">
            <a:avLst/>
          </a:prstGeom>
          <a:solidFill>
            <a:schemeClr val="accent2"/>
          </a:solidFill>
          <a:ln w="12700">
            <a:solidFill>
              <a:schemeClr val="accent2"/>
            </a:solidFill>
            <a:prstDash val="solid"/>
          </a:ln>
        </p:spPr>
      </p:sp>
      <p:sp>
        <p:nvSpPr>
          <p:cNvPr id="6" name="badgetxt-910"/>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7" name="q-911"/>
          <p:cNvSpPr txBox="1"/>
          <p:nvPr/>
        </p:nvSpPr>
        <p:spPr>
          <a:xfrm>
            <a:off x="1280160"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RTO vs RPO?</a:t>
            </a:r>
            <a:endParaRPr lang="en-US" sz="1600" dirty="0"/>
          </a:p>
        </p:txBody>
      </p:sp>
      <p:sp>
        <p:nvSpPr>
          <p:cNvPr id="8" name="aback-912"/>
          <p:cNvSpPr/>
          <p:nvPr/>
        </p:nvSpPr>
        <p:spPr>
          <a:xfrm>
            <a:off x="685800" y="2651760"/>
            <a:ext cx="3240938" cy="1005840"/>
          </a:xfrm>
          <a:prstGeom prst="roundRect">
            <a:avLst>
              <a:gd name="adj" fmla="val 5455"/>
            </a:avLst>
          </a:prstGeom>
          <a:solidFill>
            <a:schemeClr val="bg2"/>
          </a:solidFill>
          <a:ln w="12700">
            <a:solidFill>
              <a:schemeClr val="bg2"/>
            </a:solidFill>
            <a:prstDash val="solid"/>
          </a:ln>
        </p:spPr>
      </p:sp>
      <p:sp>
        <p:nvSpPr>
          <p:cNvPr id="9" name="a-913"/>
          <p:cNvSpPr txBox="1"/>
          <p:nvPr/>
        </p:nvSpPr>
        <p:spPr>
          <a:xfrm>
            <a:off x="822960"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RTO: time to recover. RPO: how much data or change you can afford to lose.</a:t>
            </a:r>
            <a:endParaRPr lang="en-US" sz="1500" dirty="0"/>
          </a:p>
        </p:txBody>
      </p:sp>
      <p:sp>
        <p:nvSpPr>
          <p:cNvPr id="10" name="qcard-914"/>
          <p:cNvSpPr/>
          <p:nvPr/>
        </p:nvSpPr>
        <p:spPr>
          <a:xfrm>
            <a:off x="4338218" y="1600200"/>
            <a:ext cx="3515258" cy="2194560"/>
          </a:xfrm>
          <a:prstGeom prst="roundRect">
            <a:avLst>
              <a:gd name="adj" fmla="val 3333"/>
            </a:avLst>
          </a:prstGeom>
          <a:solidFill>
            <a:schemeClr val="bg1"/>
          </a:solidFill>
          <a:ln w="15875">
            <a:solidFill>
              <a:schemeClr val="accent1"/>
            </a:solidFill>
            <a:prstDash val="solid"/>
          </a:ln>
        </p:spPr>
      </p:sp>
      <p:sp>
        <p:nvSpPr>
          <p:cNvPr id="11" name="badge-915"/>
          <p:cNvSpPr/>
          <p:nvPr/>
        </p:nvSpPr>
        <p:spPr>
          <a:xfrm>
            <a:off x="4521098" y="1783080"/>
            <a:ext cx="420624" cy="420624"/>
          </a:xfrm>
          <a:prstGeom prst="ellipse">
            <a:avLst/>
          </a:prstGeom>
          <a:solidFill>
            <a:schemeClr val="accent2"/>
          </a:solidFill>
          <a:ln w="12700">
            <a:solidFill>
              <a:schemeClr val="accent2"/>
            </a:solidFill>
            <a:prstDash val="solid"/>
          </a:ln>
        </p:spPr>
      </p:sp>
      <p:sp>
        <p:nvSpPr>
          <p:cNvPr id="12" name="badgetxt-916"/>
          <p:cNvSpPr txBox="1"/>
          <p:nvPr/>
        </p:nvSpPr>
        <p:spPr>
          <a:xfrm>
            <a:off x="452109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3" name="q-917"/>
          <p:cNvSpPr txBox="1"/>
          <p:nvPr/>
        </p:nvSpPr>
        <p:spPr>
          <a:xfrm>
            <a:off x="5069738"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is pilot light a good fit for a network?</a:t>
            </a:r>
            <a:endParaRPr lang="en-US" sz="1600" dirty="0"/>
          </a:p>
        </p:txBody>
      </p:sp>
      <p:sp>
        <p:nvSpPr>
          <p:cNvPr id="14" name="aback-918"/>
          <p:cNvSpPr/>
          <p:nvPr/>
        </p:nvSpPr>
        <p:spPr>
          <a:xfrm>
            <a:off x="4475378" y="2651760"/>
            <a:ext cx="3240938" cy="1005840"/>
          </a:xfrm>
          <a:prstGeom prst="roundRect">
            <a:avLst>
              <a:gd name="adj" fmla="val 5455"/>
            </a:avLst>
          </a:prstGeom>
          <a:solidFill>
            <a:schemeClr val="bg2"/>
          </a:solidFill>
          <a:ln w="12700">
            <a:solidFill>
              <a:schemeClr val="bg2"/>
            </a:solidFill>
            <a:prstDash val="solid"/>
          </a:ln>
        </p:spPr>
      </p:sp>
      <p:sp>
        <p:nvSpPr>
          <p:cNvPr id="15" name="a-919"/>
          <p:cNvSpPr txBox="1"/>
          <p:nvPr/>
        </p:nvSpPr>
        <p:spPr>
          <a:xfrm>
            <a:off x="4612538"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Subnets, routes and firewalls are free at rest, so DR readiness costs almost nothing.</a:t>
            </a:r>
            <a:endParaRPr lang="en-US" sz="1500" dirty="0"/>
          </a:p>
        </p:txBody>
      </p:sp>
      <p:sp>
        <p:nvSpPr>
          <p:cNvPr id="16" name="qcard-920"/>
          <p:cNvSpPr/>
          <p:nvPr/>
        </p:nvSpPr>
        <p:spPr>
          <a:xfrm>
            <a:off x="8127797" y="1600200"/>
            <a:ext cx="3515258" cy="2194560"/>
          </a:xfrm>
          <a:prstGeom prst="roundRect">
            <a:avLst>
              <a:gd name="adj" fmla="val 3333"/>
            </a:avLst>
          </a:prstGeom>
          <a:solidFill>
            <a:schemeClr val="bg1"/>
          </a:solidFill>
          <a:ln w="15875">
            <a:solidFill>
              <a:schemeClr val="accent1"/>
            </a:solidFill>
            <a:prstDash val="solid"/>
          </a:ln>
        </p:spPr>
      </p:sp>
      <p:sp>
        <p:nvSpPr>
          <p:cNvPr id="17" name="badge-921"/>
          <p:cNvSpPr/>
          <p:nvPr/>
        </p:nvSpPr>
        <p:spPr>
          <a:xfrm>
            <a:off x="8310677" y="1783080"/>
            <a:ext cx="420624" cy="420624"/>
          </a:xfrm>
          <a:prstGeom prst="ellipse">
            <a:avLst/>
          </a:prstGeom>
          <a:solidFill>
            <a:schemeClr val="accent2"/>
          </a:solidFill>
          <a:ln w="12700">
            <a:solidFill>
              <a:schemeClr val="accent2"/>
            </a:solidFill>
            <a:prstDash val="solid"/>
          </a:ln>
        </p:spPr>
      </p:sp>
      <p:sp>
        <p:nvSpPr>
          <p:cNvPr id="18" name="badgetxt-922"/>
          <p:cNvSpPr txBox="1"/>
          <p:nvPr/>
        </p:nvSpPr>
        <p:spPr>
          <a:xfrm>
            <a:off x="8310677"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19" name="q-923"/>
          <p:cNvSpPr txBox="1"/>
          <p:nvPr/>
        </p:nvSpPr>
        <p:spPr>
          <a:xfrm>
            <a:off x="8859317" y="173736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keep backups in the DR region?</a:t>
            </a:r>
            <a:endParaRPr lang="en-US" sz="1600" dirty="0"/>
          </a:p>
        </p:txBody>
      </p:sp>
      <p:sp>
        <p:nvSpPr>
          <p:cNvPr id="20" name="aback-924"/>
          <p:cNvSpPr/>
          <p:nvPr/>
        </p:nvSpPr>
        <p:spPr>
          <a:xfrm>
            <a:off x="8264957" y="2651760"/>
            <a:ext cx="3240938" cy="1005840"/>
          </a:xfrm>
          <a:prstGeom prst="roundRect">
            <a:avLst>
              <a:gd name="adj" fmla="val 5455"/>
            </a:avLst>
          </a:prstGeom>
          <a:solidFill>
            <a:schemeClr val="bg2"/>
          </a:solidFill>
          <a:ln w="12700">
            <a:solidFill>
              <a:schemeClr val="bg2"/>
            </a:solidFill>
            <a:prstDash val="solid"/>
          </a:ln>
        </p:spPr>
      </p:sp>
      <p:sp>
        <p:nvSpPr>
          <p:cNvPr id="21" name="a-925"/>
          <p:cNvSpPr txBox="1"/>
          <p:nvPr/>
        </p:nvSpPr>
        <p:spPr>
          <a:xfrm>
            <a:off x="8402117" y="2715768"/>
            <a:ext cx="2966618" cy="877824"/>
          </a:xfrm>
          <a:prstGeom prst="rect">
            <a:avLst/>
          </a:prstGeom>
          <a:noFill/>
          <a:ln/>
        </p:spPr>
        <p:txBody>
          <a:bodyPr wrap="square" lIns="0" tIns="0" rIns="0" bIns="0" rtlCol="0" anchor="t"/>
          <a:lstStyle/>
          <a:p>
            <a:pPr indent="0" marL="0">
              <a:buNone/>
            </a:pPr>
            <a:r>
              <a:rPr lang="en-US" sz="1500" dirty="0">
                <a:solidFill>
                  <a:schemeClr val="tx1"/>
                </a:solidFill>
              </a:rPr>
              <a:t>A primary-region incident can't take out the evidence you need to recover.</a:t>
            </a:r>
            <a:endParaRPr lang="en-US" sz="1500" dirty="0"/>
          </a:p>
        </p:txBody>
      </p:sp>
      <p:sp>
        <p:nvSpPr>
          <p:cNvPr id="22" name="qcard-926"/>
          <p:cNvSpPr/>
          <p:nvPr/>
        </p:nvSpPr>
        <p:spPr>
          <a:xfrm>
            <a:off x="548640" y="4069080"/>
            <a:ext cx="3515258" cy="2194560"/>
          </a:xfrm>
          <a:prstGeom prst="roundRect">
            <a:avLst>
              <a:gd name="adj" fmla="val 3333"/>
            </a:avLst>
          </a:prstGeom>
          <a:solidFill>
            <a:schemeClr val="bg1"/>
          </a:solidFill>
          <a:ln w="15875">
            <a:solidFill>
              <a:schemeClr val="accent1"/>
            </a:solidFill>
            <a:prstDash val="solid"/>
          </a:ln>
        </p:spPr>
      </p:sp>
      <p:sp>
        <p:nvSpPr>
          <p:cNvPr id="23" name="badge-927"/>
          <p:cNvSpPr/>
          <p:nvPr/>
        </p:nvSpPr>
        <p:spPr>
          <a:xfrm>
            <a:off x="731520" y="4251960"/>
            <a:ext cx="420624" cy="420624"/>
          </a:xfrm>
          <a:prstGeom prst="ellipse">
            <a:avLst/>
          </a:prstGeom>
          <a:solidFill>
            <a:schemeClr val="accent2"/>
          </a:solidFill>
          <a:ln w="12700">
            <a:solidFill>
              <a:schemeClr val="accent2"/>
            </a:solidFill>
            <a:prstDash val="solid"/>
          </a:ln>
        </p:spPr>
      </p:sp>
      <p:sp>
        <p:nvSpPr>
          <p:cNvPr id="24" name="badgetxt-928"/>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25" name="q-929"/>
          <p:cNvSpPr txBox="1"/>
          <p:nvPr/>
        </p:nvSpPr>
        <p:spPr>
          <a:xfrm>
            <a:off x="1280160"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Why not back up Terraform state in the config backup?</a:t>
            </a:r>
            <a:endParaRPr lang="en-US" sz="1600" dirty="0"/>
          </a:p>
        </p:txBody>
      </p:sp>
      <p:sp>
        <p:nvSpPr>
          <p:cNvPr id="26" name="aback-930"/>
          <p:cNvSpPr/>
          <p:nvPr/>
        </p:nvSpPr>
        <p:spPr>
          <a:xfrm>
            <a:off x="685800" y="5120640"/>
            <a:ext cx="3240938" cy="1005840"/>
          </a:xfrm>
          <a:prstGeom prst="roundRect">
            <a:avLst>
              <a:gd name="adj" fmla="val 5455"/>
            </a:avLst>
          </a:prstGeom>
          <a:solidFill>
            <a:schemeClr val="bg2"/>
          </a:solidFill>
          <a:ln w="12700">
            <a:solidFill>
              <a:schemeClr val="bg2"/>
            </a:solidFill>
            <a:prstDash val="solid"/>
          </a:ln>
        </p:spPr>
      </p:sp>
      <p:sp>
        <p:nvSpPr>
          <p:cNvPr id="27" name="a-931"/>
          <p:cNvSpPr txBox="1"/>
          <p:nvPr/>
        </p:nvSpPr>
        <p:spPr>
          <a:xfrm>
            <a:off x="822960"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It contains secrets (the VPN PSK); state is protected by its own versioned bucket.</a:t>
            </a:r>
            <a:endParaRPr lang="en-US" sz="1500" dirty="0"/>
          </a:p>
        </p:txBody>
      </p:sp>
      <p:sp>
        <p:nvSpPr>
          <p:cNvPr id="28" name="qcard-932"/>
          <p:cNvSpPr/>
          <p:nvPr/>
        </p:nvSpPr>
        <p:spPr>
          <a:xfrm>
            <a:off x="4338218" y="4069080"/>
            <a:ext cx="3515258" cy="2194560"/>
          </a:xfrm>
          <a:prstGeom prst="roundRect">
            <a:avLst>
              <a:gd name="adj" fmla="val 3333"/>
            </a:avLst>
          </a:prstGeom>
          <a:solidFill>
            <a:schemeClr val="bg1"/>
          </a:solidFill>
          <a:ln w="15875">
            <a:solidFill>
              <a:schemeClr val="accent1"/>
            </a:solidFill>
            <a:prstDash val="solid"/>
          </a:ln>
        </p:spPr>
      </p:sp>
      <p:sp>
        <p:nvSpPr>
          <p:cNvPr id="29" name="badge-933"/>
          <p:cNvSpPr/>
          <p:nvPr/>
        </p:nvSpPr>
        <p:spPr>
          <a:xfrm>
            <a:off x="4521098" y="4251960"/>
            <a:ext cx="420624" cy="420624"/>
          </a:xfrm>
          <a:prstGeom prst="ellipse">
            <a:avLst/>
          </a:prstGeom>
          <a:solidFill>
            <a:schemeClr val="accent2"/>
          </a:solidFill>
          <a:ln w="12700">
            <a:solidFill>
              <a:schemeClr val="accent2"/>
            </a:solidFill>
            <a:prstDash val="solid"/>
          </a:ln>
        </p:spPr>
      </p:sp>
      <p:sp>
        <p:nvSpPr>
          <p:cNvPr id="30" name="badgetxt-934"/>
          <p:cNvSpPr txBox="1"/>
          <p:nvPr/>
        </p:nvSpPr>
        <p:spPr>
          <a:xfrm>
            <a:off x="452109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1" name="q-935"/>
          <p:cNvSpPr txBox="1"/>
          <p:nvPr/>
        </p:nvSpPr>
        <p:spPr>
          <a:xfrm>
            <a:off x="5069738"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 stops another GitHub repo using your WIF provider?</a:t>
            </a:r>
            <a:endParaRPr lang="en-US" sz="1600" dirty="0"/>
          </a:p>
        </p:txBody>
      </p:sp>
      <p:sp>
        <p:nvSpPr>
          <p:cNvPr id="32" name="aback-936"/>
          <p:cNvSpPr/>
          <p:nvPr/>
        </p:nvSpPr>
        <p:spPr>
          <a:xfrm>
            <a:off x="4475378" y="5120640"/>
            <a:ext cx="3240938" cy="1005840"/>
          </a:xfrm>
          <a:prstGeom prst="roundRect">
            <a:avLst>
              <a:gd name="adj" fmla="val 5455"/>
            </a:avLst>
          </a:prstGeom>
          <a:solidFill>
            <a:schemeClr val="bg2"/>
          </a:solidFill>
          <a:ln w="12700">
            <a:solidFill>
              <a:schemeClr val="bg2"/>
            </a:solidFill>
            <a:prstDash val="solid"/>
          </a:ln>
        </p:spPr>
      </p:sp>
      <p:sp>
        <p:nvSpPr>
          <p:cNvPr id="33" name="a-937"/>
          <p:cNvSpPr txBox="1"/>
          <p:nvPr/>
        </p:nvSpPr>
        <p:spPr>
          <a:xfrm>
            <a:off x="4612538"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The attribute condition assertion.repository == 'danielolasupo02/gcp-saas-vpc'.</a:t>
            </a:r>
            <a:endParaRPr lang="en-US" sz="1500" dirty="0"/>
          </a:p>
        </p:txBody>
      </p:sp>
      <p:sp>
        <p:nvSpPr>
          <p:cNvPr id="34" name="qcard-938"/>
          <p:cNvSpPr/>
          <p:nvPr/>
        </p:nvSpPr>
        <p:spPr>
          <a:xfrm>
            <a:off x="8127797" y="4069080"/>
            <a:ext cx="3515258" cy="2194560"/>
          </a:xfrm>
          <a:prstGeom prst="roundRect">
            <a:avLst>
              <a:gd name="adj" fmla="val 3333"/>
            </a:avLst>
          </a:prstGeom>
          <a:solidFill>
            <a:schemeClr val="bg1"/>
          </a:solidFill>
          <a:ln w="15875">
            <a:solidFill>
              <a:schemeClr val="accent1"/>
            </a:solidFill>
            <a:prstDash val="solid"/>
          </a:ln>
        </p:spPr>
      </p:sp>
      <p:sp>
        <p:nvSpPr>
          <p:cNvPr id="35" name="badge-939"/>
          <p:cNvSpPr/>
          <p:nvPr/>
        </p:nvSpPr>
        <p:spPr>
          <a:xfrm>
            <a:off x="8310677" y="4251960"/>
            <a:ext cx="420624" cy="420624"/>
          </a:xfrm>
          <a:prstGeom prst="ellipse">
            <a:avLst/>
          </a:prstGeom>
          <a:solidFill>
            <a:schemeClr val="accent2"/>
          </a:solidFill>
          <a:ln w="12700">
            <a:solidFill>
              <a:schemeClr val="accent2"/>
            </a:solidFill>
            <a:prstDash val="solid"/>
          </a:ln>
        </p:spPr>
      </p:sp>
      <p:sp>
        <p:nvSpPr>
          <p:cNvPr id="36" name="badgetxt-940"/>
          <p:cNvSpPr txBox="1"/>
          <p:nvPr/>
        </p:nvSpPr>
        <p:spPr>
          <a:xfrm>
            <a:off x="8310677"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Q</a:t>
            </a:r>
            <a:endParaRPr lang="en-US" sz="1400" dirty="0"/>
          </a:p>
        </p:txBody>
      </p:sp>
      <p:sp>
        <p:nvSpPr>
          <p:cNvPr id="37" name="q-941"/>
          <p:cNvSpPr txBox="1"/>
          <p:nvPr/>
        </p:nvSpPr>
        <p:spPr>
          <a:xfrm>
            <a:off x="8859317" y="4206240"/>
            <a:ext cx="2600858" cy="868680"/>
          </a:xfrm>
          <a:prstGeom prst="rect">
            <a:avLst/>
          </a:prstGeom>
          <a:noFill/>
          <a:ln/>
        </p:spPr>
        <p:txBody>
          <a:bodyPr wrap="square" lIns="0" tIns="0" rIns="0" bIns="0" rtlCol="0" anchor="t"/>
          <a:lstStyle/>
          <a:p>
            <a:pPr indent="0" marL="0">
              <a:buNone/>
            </a:pPr>
            <a:r>
              <a:rPr lang="en-US" sz="1600" b="1" dirty="0">
                <a:solidFill>
                  <a:schemeClr val="tx2"/>
                </a:solidFill>
              </a:rPr>
              <a:t>What does -detailed-exitcode 2 mean?</a:t>
            </a:r>
            <a:endParaRPr lang="en-US" sz="1600" dirty="0"/>
          </a:p>
        </p:txBody>
      </p:sp>
      <p:sp>
        <p:nvSpPr>
          <p:cNvPr id="38" name="aback-942"/>
          <p:cNvSpPr/>
          <p:nvPr/>
        </p:nvSpPr>
        <p:spPr>
          <a:xfrm>
            <a:off x="8264957" y="5120640"/>
            <a:ext cx="3240938" cy="1005840"/>
          </a:xfrm>
          <a:prstGeom prst="roundRect">
            <a:avLst>
              <a:gd name="adj" fmla="val 5455"/>
            </a:avLst>
          </a:prstGeom>
          <a:solidFill>
            <a:schemeClr val="bg2"/>
          </a:solidFill>
          <a:ln w="12700">
            <a:solidFill>
              <a:schemeClr val="bg2"/>
            </a:solidFill>
            <a:prstDash val="solid"/>
          </a:ln>
        </p:spPr>
      </p:sp>
      <p:sp>
        <p:nvSpPr>
          <p:cNvPr id="39" name="a-943"/>
          <p:cNvSpPr txBox="1"/>
          <p:nvPr/>
        </p:nvSpPr>
        <p:spPr>
          <a:xfrm>
            <a:off x="8402117" y="5184648"/>
            <a:ext cx="2966618" cy="877824"/>
          </a:xfrm>
          <a:prstGeom prst="rect">
            <a:avLst/>
          </a:prstGeom>
          <a:noFill/>
          <a:ln/>
        </p:spPr>
        <p:txBody>
          <a:bodyPr wrap="square" lIns="0" tIns="0" rIns="0" bIns="0" rtlCol="0" anchor="t"/>
          <a:lstStyle/>
          <a:p>
            <a:pPr indent="0" marL="0">
              <a:buNone/>
            </a:pPr>
            <a:r>
              <a:rPr lang="en-US" sz="1500" dirty="0">
                <a:solidFill>
                  <a:schemeClr val="tx1"/>
                </a:solidFill>
              </a:rPr>
              <a:t>The plan succeeded and there are changes; the daily job treats it as drift.</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ag-944"/>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QUICK REFERENCE</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Numbers and ranges to remember</a:t>
            </a:r>
            <a:endParaRPr lang="en-US" sz="3200" dirty="0"/>
          </a:p>
        </p:txBody>
      </p:sp>
      <p:graphicFrame>
        <p:nvGraphicFramePr>
          <p:cNvPr id="60" name="table-945"/>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4206240"/>
                <a:gridCol w="6885432"/>
              </a:tblGrid>
              <a:tr h="0">
                <a:tc>
                  <a:txBody>
                    <a:bodyPr/>
                    <a:lstStyle/>
                    <a:p>
                      <a:pPr indent="0" marL="0">
                        <a:buNone/>
                      </a:pPr>
                      <a:r>
                        <a:rPr lang="en-US" sz="1600" b="1" dirty="0">
                          <a:solidFill>
                            <a:schemeClr val="bg1"/>
                          </a:solidFill>
                        </a:rPr>
                        <a:t>Value</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Meaning</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600" b="1" dirty="0">
                          <a:solidFill>
                            <a:schemeClr val="tx1"/>
                          </a:solidFill>
                        </a:rPr>
                        <a:t>35.235.240.0/20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IAP TCP forwarding source range (allow for tcp:22)</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199.36.153.8/30 · .4/30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private.googleapis.com · restricted.googleapis.com (VPC-SC)</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35.191.0.0/16 · 130.211.0.0/22</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Google load balancer health checks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169.254.0.0/16</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Link-local: BGP peering IPs; 169.254.169.254 = metadata server</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64512–65534</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Private BGP ASNs (we used 64512 and 64513)</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64,512</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Usable NAT ports per external IP</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0–65535, default 1000</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Firewall/route priority; lower wins; implied rules at 65535</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4 per subnet</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Addresses Google reserves in every subnet</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ag-94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QUICK REFERENCE</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Commands worth knowing</a:t>
            </a:r>
            <a:endParaRPr lang="en-US" sz="3200" dirty="0"/>
          </a:p>
        </p:txBody>
      </p:sp>
      <p:graphicFrame>
        <p:nvGraphicFramePr>
          <p:cNvPr id="61" name="table-947"/>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5120640"/>
                <a:gridCol w="5971032"/>
              </a:tblGrid>
              <a:tr h="0">
                <a:tc>
                  <a:txBody>
                    <a:bodyPr/>
                    <a:lstStyle/>
                    <a:p>
                      <a:pPr indent="0" marL="0">
                        <a:buNone/>
                      </a:pPr>
                      <a:r>
                        <a:rPr lang="en-US" sz="1600" b="1" dirty="0">
                          <a:solidFill>
                            <a:schemeClr val="bg1"/>
                          </a:solidFill>
                        </a:rPr>
                        <a:t>Command</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Use</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600" b="1" dirty="0">
                          <a:solidFill>
                            <a:schemeClr val="tx1"/>
                          </a:solidFill>
                        </a:rPr>
                        <a:t>terraform plan -out=x.tfplan</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Review exactly what apply will do</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terraform apply -refresh-only</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Update state from reality without changing infrastructure</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terraform import &lt;addr&gt; &lt;id&gt;</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Adopt an existing resource into state</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terraform state rm &lt;addr&gt;</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Stop managing a resource without deleting it</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gcloud compute routers get-status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BGP session state and learned routes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gcloud compute routers nats update --nat-external-drain-ip-pool</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Drain a NAT IP</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gcloud logging read 'log_id(…)' --freshness=1h</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Query logs from the terminal</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gcloud iam service-accounts add-iam-policy-binding</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Grant impersonation or WIF access</a:t>
                      </a:r>
                      <a:endParaRPr lang="en-US" sz="1600" dirty="0"/>
                    </a:p>
                  </a:txBody>
                  <a:tcPr marL="91440" marR="91440"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ag-94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QUICK REFERENCE</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Telling the story in an interview</a:t>
            </a:r>
            <a:endParaRPr lang="en-US" sz="3200" dirty="0"/>
          </a:p>
        </p:txBody>
      </p:sp>
      <p:sp>
        <p:nvSpPr>
          <p:cNvPr id="5" name="card-949"/>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6" name="badge-950"/>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951"/>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952"/>
          <p:cNvSpPr txBox="1"/>
          <p:nvPr/>
        </p:nvSpPr>
        <p:spPr>
          <a:xfrm>
            <a:off x="1280160"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Situation</a:t>
            </a:r>
            <a:endParaRPr lang="en-US" sz="1800" dirty="0"/>
          </a:p>
        </p:txBody>
      </p:sp>
      <p:sp>
        <p:nvSpPr>
          <p:cNvPr id="9" name="cardb-953"/>
          <p:cNvSpPr txBox="1"/>
          <p:nvPr/>
        </p:nvSpPr>
        <p:spPr>
          <a:xfrm>
            <a:off x="777240"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A SaaS platform serving fintech and healthcare needed tenant isolation, controlled egress, hybrid access and audit-grade evidence on GCP.</a:t>
            </a:r>
            <a:endParaRPr lang="en-US" sz="1700" dirty="0"/>
          </a:p>
        </p:txBody>
      </p:sp>
      <p:sp>
        <p:nvSpPr>
          <p:cNvPr id="10" name="card-954"/>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1" name="badge-955"/>
          <p:cNvSpPr/>
          <p:nvPr/>
        </p:nvSpPr>
        <p:spPr>
          <a:xfrm>
            <a:off x="6415888" y="1783080"/>
            <a:ext cx="420624" cy="420624"/>
          </a:xfrm>
          <a:prstGeom prst="ellipse">
            <a:avLst/>
          </a:prstGeom>
          <a:solidFill>
            <a:schemeClr val="accent1"/>
          </a:solidFill>
          <a:ln w="12700">
            <a:solidFill>
              <a:schemeClr val="accent1"/>
            </a:solidFill>
            <a:prstDash val="solid"/>
          </a:ln>
        </p:spPr>
      </p:sp>
      <p:sp>
        <p:nvSpPr>
          <p:cNvPr id="12" name="badgetxt-956"/>
          <p:cNvSpPr txBox="1"/>
          <p:nvPr/>
        </p:nvSpPr>
        <p:spPr>
          <a:xfrm>
            <a:off x="641588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957"/>
          <p:cNvSpPr txBox="1"/>
          <p:nvPr/>
        </p:nvSpPr>
        <p:spPr>
          <a:xfrm>
            <a:off x="6964528"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Design</a:t>
            </a:r>
            <a:endParaRPr lang="en-US" sz="1800" dirty="0"/>
          </a:p>
        </p:txBody>
      </p:sp>
      <p:sp>
        <p:nvSpPr>
          <p:cNvPr id="14" name="cardb-958"/>
          <p:cNvSpPr txBox="1"/>
          <p:nvPr/>
        </p:nvSpPr>
        <p:spPr>
          <a:xfrm>
            <a:off x="6461608"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Shared VPC hub for internal environments, peered tenant spokes, defence in depth at org and VPC level, all in Terraform modules.</a:t>
            </a:r>
            <a:endParaRPr lang="en-US" sz="1700" dirty="0"/>
          </a:p>
        </p:txBody>
      </p:sp>
      <p:sp>
        <p:nvSpPr>
          <p:cNvPr id="15" name="card-959"/>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6" name="badge-960"/>
          <p:cNvSpPr/>
          <p:nvPr/>
        </p:nvSpPr>
        <p:spPr>
          <a:xfrm>
            <a:off x="731520" y="4251960"/>
            <a:ext cx="420624" cy="420624"/>
          </a:xfrm>
          <a:prstGeom prst="ellipse">
            <a:avLst/>
          </a:prstGeom>
          <a:solidFill>
            <a:schemeClr val="accent1"/>
          </a:solidFill>
          <a:ln w="12700">
            <a:solidFill>
              <a:schemeClr val="accent1"/>
            </a:solidFill>
            <a:prstDash val="solid"/>
          </a:ln>
        </p:spPr>
      </p:sp>
      <p:sp>
        <p:nvSpPr>
          <p:cNvPr id="17" name="badgetxt-961"/>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962"/>
          <p:cNvSpPr txBox="1"/>
          <p:nvPr/>
        </p:nvSpPr>
        <p:spPr>
          <a:xfrm>
            <a:off x="1280160"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Proof</a:t>
            </a:r>
            <a:endParaRPr lang="en-US" sz="1800" dirty="0"/>
          </a:p>
        </p:txBody>
      </p:sp>
      <p:sp>
        <p:nvSpPr>
          <p:cNvPr id="19" name="cardb-963"/>
          <p:cNvSpPr txBox="1"/>
          <p:nvPr/>
        </p:nvSpPr>
        <p:spPr>
          <a:xfrm>
            <a:off x="777240"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Test scripts per phase (7, 12, 10, 10, 8 checks), NAT failover, alerts that fired, and a DR drill with a measured 249 s RTO.</a:t>
            </a:r>
            <a:endParaRPr lang="en-US" sz="1700" dirty="0"/>
          </a:p>
        </p:txBody>
      </p:sp>
      <p:sp>
        <p:nvSpPr>
          <p:cNvPr id="20" name="card-964"/>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1" name="badge-965"/>
          <p:cNvSpPr/>
          <p:nvPr/>
        </p:nvSpPr>
        <p:spPr>
          <a:xfrm>
            <a:off x="6415888" y="4251960"/>
            <a:ext cx="420624" cy="420624"/>
          </a:xfrm>
          <a:prstGeom prst="ellipse">
            <a:avLst/>
          </a:prstGeom>
          <a:solidFill>
            <a:schemeClr val="accent1"/>
          </a:solidFill>
          <a:ln w="12700">
            <a:solidFill>
              <a:schemeClr val="accent1"/>
            </a:solidFill>
            <a:prstDash val="solid"/>
          </a:ln>
        </p:spPr>
      </p:sp>
      <p:sp>
        <p:nvSpPr>
          <p:cNvPr id="22" name="badgetxt-966"/>
          <p:cNvSpPr txBox="1"/>
          <p:nvPr/>
        </p:nvSpPr>
        <p:spPr>
          <a:xfrm>
            <a:off x="641588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967"/>
          <p:cNvSpPr txBox="1"/>
          <p:nvPr/>
        </p:nvSpPr>
        <p:spPr>
          <a:xfrm>
            <a:off x="6964528"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What I'd add next</a:t>
            </a:r>
            <a:endParaRPr lang="en-US" sz="1800" dirty="0"/>
          </a:p>
        </p:txBody>
      </p:sp>
      <p:sp>
        <p:nvSpPr>
          <p:cNvPr id="24" name="cardb-968"/>
          <p:cNvSpPr txBox="1"/>
          <p:nvPr/>
        </p:nvSpPr>
        <p:spPr>
          <a:xfrm>
            <a:off x="6461608"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A DR HA VPN in us-east1, VPC Service Controls around data services, policy-as-code checks in CI, and folders per tenant.</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theme/theme1.xml><?xml version="1.0" encoding="utf-8"?>
<a:theme xmlns:a="http://schemas.openxmlformats.org/drawingml/2006/main" name="GCP Network Revision">
  <a:themeElements>
    <a:clrScheme name="GCP Network Revision">
      <a:dk1>
        <a:srgbClr val="14213D"/>
      </a:dk1>
      <a:lt1>
        <a:srgbClr val="FFFFFF"/>
      </a:lt1>
      <a:dk2>
        <a:srgbClr val="102A43"/>
      </a:dk2>
      <a:lt2>
        <a:srgbClr val="EDF2F7"/>
      </a:lt2>
      <a:accent1>
        <a:srgbClr val="0E9AA7"/>
      </a:accent1>
      <a:accent2>
        <a:srgbClr val="F4A621"/>
      </a:accent2>
      <a:accent3>
        <a:srgbClr val="2E6F95"/>
      </a:accent3>
      <a:accent4>
        <a:srgbClr val="6B7C93"/>
      </a:accent4>
      <a:accent5>
        <a:srgbClr val="C8453B"/>
      </a:accent5>
      <a:accent6>
        <a:srgbClr val="3E9E5A"/>
      </a:accent6>
      <a:hlink>
        <a:srgbClr val="0E9AA7"/>
      </a:hlink>
      <a:folHlink>
        <a:srgbClr val="2E6F95"/>
      </a:folHlink>
    </a:clrScheme>
    <a:fontScheme name="GCP Network Re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GCP Multi-Tenant SaaS Network - Revision Notes</dc:title>
  <dc:subject>PptxGenJS Presentation</dc:subject>
  <dc:creator>Daniel Olasupo</dc:creator>
  <cp:lastModifiedBy>Daniel Olasupo</cp:lastModifiedBy>
  <cp:revision>1</cp:revision>
  <dcterms:created xsi:type="dcterms:W3CDTF">2026-10-21T22:15:20Z</dcterms:created>
  <dcterms:modified xsi:type="dcterms:W3CDTF">2026-10-21T22:15:20Z</dcterms:modified>
</cp:coreProperties>
</file>