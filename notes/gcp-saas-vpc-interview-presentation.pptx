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id="{3fe08361-593b-536f-0d3f-6329f78b56ee}">
          <p14:sldIdLst>
            <p14:sldId id="256"/>
            <p14:sldId id="257"/>
            <p14:sldId id="258"/>
            <p14:sldId id="259"/>
            <p14:sldId id="260"/>
            <p14:sldId id="261"/>
            <p14:sldId id="262"/>
          </p14:sldIdLst>
        </p14:section>
        <p14:section name="Appendix (backup slides)" id="{eff94f43-6a69-abb1-af21-fc6522a5536e}">
          <p14:sldIdLst>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Hi, I'm Daniel. I'll take about three minutes to walk you through a GCP network I designed and built end to end for a multi-tenant SaaS platform with fintech and healthcare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[0:10–0:35] The problem: a SaaS platform serving fintech and healthcare customers. Regulated customers ask three questions. One: can another customer reach my data? Two: which IPs does my data leave from, so I can allowlist them? Three: can you prove all of this, and recover if something breaks? The network had to answer all three by design, not by policy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[0:35–1:15] Here's the design. Our own environments, dev, staging and prod, plus shared services, live in a Shared VPC hub owned by one team. Each tenant gets its own project and its own VPC, peered only to the hub. Peering is non-transitive, so fintech and healthcare have no route to each other. That's isolation by routing. On top of that, firewall rules target service accounts, and an org-level firewall policy denies tenant-to-tenant traffic, so isolation is enforced twice. Egress goes through Cloud NAT, one gateway per tenant, so each customer gets fixed IPs to allowlist. On-prem connects over HA VPN with BGP and only ever learns the shared-services range. Everything is Terraform, with no service account keys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[1:15–1:45] Three decisions mattered most. First, peering for tenants but Shared VPC for our own environments: tenants are separate trust domains, while we want central control internally. The trade-off is peering limits, so at larger scale I'd move tenants to Private Service Connect. Second, every boundary is enforced twice, so a single misconfigured rule can't open a path, and I actually saw that in the logs. Third, keyless by default: humans and CI impersonate one Terraform service account, CI uses Workload Identity Federation, and key creation is blocked org-wide.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[1:45–2:30] The part I'm proudest of is proving recovery, not just designing for it. I ran a drill: I deleted a firewall rule in the fintech tenant. Traffic from shared services to that tenant went from open to blocked. Within minutes an alert fired, 'network change made outside Terraform', naming who did it and the exact API call. A diff of my latest config backup showed exactly which rule was missing. Terraform planned one resource to add, I applied it, and traffic was open again. Measured end to end: 249 seconds, against a 15-minute target. That's backed by daily config backups stored in the DR region and a pilot-light DR region that passed all eight readiness tests. (If asked about debugging: see appendix, the alert that never fired.)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[2:30–2:50] The results: 47 automated tests across five suites, isolation, security, egress, observability and DR, all passing. 249-second measured recovery. Zero service account keys, including CI. NAT failover tested live, with egress moving between two fixed IPs without touching a VM. And it stays that way: every change goes through a pull request with the plan posted for review and an approval gate before apply, plus a daily drift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[2:50–3:00] Finally, what I'd add next, and what I left out on purpose: a second HA VPN in the DR region, which I skipped for cost; VPC Service Controls around data services; and policy-as-code checks in CI. That's the project. I'm happy to go deeper into any part. (Stop here and let them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if asked about a hard debugging problem. Method: confirm the data exists (logs), confirm the metric counts it (timeSeries API), then find why the alert doesn't match (resource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51560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794760"/>
            <a:ext cx="1005840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9144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chemeClr val="accent4"/>
                </a:solidFill>
              </a:rPr>
              <a:t>Daniel Olasupo  ·  Multi-tenant SaaS network on GCP</a:t>
            </a:r>
            <a:endParaRPr lang="en-US" sz="10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94415" cy="9144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515600" cy="1737360"/>
          </a:xfrm>
          <a:prstGeom prst="rect">
            <a:avLst/>
          </a:prstGeom>
          <a:noFill/>
          <a:ln/>
        </p:spPr>
        <p:txBody>
          <a:bodyPr wrap="square" lIns="0" tIns="0" rIns="0" bIns="0" rtlCol="0" anchor="b"/>
          <a:lstStyle/>
          <a:p>
            <a:pPr algn="l" indent="0" marL="0">
              <a:buNone/>
            </a:pPr>
            <a:r>
              <a:rPr lang="en-US" sz="4400" b="1" dirty="0">
                <a:solidFill>
                  <a:schemeClr val="bg1"/>
                </a:solidFill>
              </a:rPr>
              <a:t>Isolated by design: a multi-tenant SaaS network on Google Cloud</a:t>
            </a:r>
            <a:endParaRPr lang="en-US" sz="4400" dirty="0"/>
          </a:p>
        </p:txBody>
      </p:sp>
      <p:sp>
        <p:nvSpPr>
          <p:cNvPr id="3" name="Text 0"/>
          <p:cNvSpPr/>
          <p:nvPr>
            <p:ph idx="101" type="body" hasCustomPrompt="1"/>
          </p:nvPr>
        </p:nvSpPr>
        <p:spPr>
          <a:xfrm>
            <a:off x="548640" y="3794760"/>
            <a:ext cx="10058400" cy="1097280"/>
          </a:xfrm>
          <a:prstGeom prst="rect">
            <a:avLst/>
          </a:prstGeom>
          <a:noFill/>
          <a:ln/>
        </p:spPr>
        <p:txBody>
          <a:bodyPr wrap="square" lIns="0" tIns="0" rIns="0" bIns="0" rtlCol="0" anchor="t"/>
          <a:lstStyle/>
          <a:p>
            <a:pPr algn="l" indent="0" marL="0">
              <a:buNone/>
            </a:pPr>
            <a:r>
              <a:rPr lang="en-US" sz="2000" dirty="0">
                <a:solidFill>
                  <a:schemeClr val="bg2"/>
                </a:solidFill>
              </a:rPr>
              <a:t>Daniel Olasupo  ·  DevOps / SRE  ·  Terraform, Shared VPC, zero trust, hybrid, DR</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1"/>
          <p:cNvSpPr txBox="1"/>
          <p:nvPr/>
        </p:nvSpPr>
        <p:spPr>
          <a:xfrm>
            <a:off x="548640" y="228600"/>
            <a:ext cx="11094415"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THE PROBLEM</a:t>
            </a:r>
            <a:endParaRPr lang="en-US" sz="1200" dirty="0"/>
          </a:p>
        </p:txBody>
      </p:sp>
      <p:sp>
        <p:nvSpPr>
          <p:cNvPr id="3" name="Text 0"/>
          <p:cNvSpPr/>
          <p:nvPr>
            <p:ph idx="100" type="title" hasCustomPrompt="1"/>
          </p:nvPr>
        </p:nvSpPr>
        <p:spPr>
          <a:xfrm>
            <a:off x="548640" y="502920"/>
            <a:ext cx="11094415" cy="914400"/>
          </a:xfrm>
          <a:prstGeom prst="rect">
            <a:avLst/>
          </a:prstGeom>
          <a:noFill/>
          <a:ln/>
        </p:spPr>
        <p:txBody>
          <a:bodyPr wrap="square" lIns="0" tIns="0" rIns="0" bIns="0" rtlCol="0" anchor="t"/>
          <a:lstStyle/>
          <a:p>
            <a:pPr algn="l" indent="0" marL="0">
              <a:buNone/>
            </a:pPr>
            <a:r>
              <a:rPr lang="en-US" sz="3400" b="1" dirty="0">
                <a:solidFill>
                  <a:schemeClr val="tx2"/>
                </a:solidFill>
              </a:rPr>
              <a:t>Three questions regulated customers ask first</a:t>
            </a:r>
            <a:endParaRPr lang="en-US" sz="3400" dirty="0"/>
          </a:p>
        </p:txBody>
      </p:sp>
      <p:sp>
        <p:nvSpPr>
          <p:cNvPr id="4" name="box-2"/>
          <p:cNvSpPr/>
          <p:nvPr/>
        </p:nvSpPr>
        <p:spPr>
          <a:xfrm>
            <a:off x="548640" y="1874520"/>
            <a:ext cx="3515258" cy="4160520"/>
          </a:xfrm>
          <a:prstGeom prst="roundRect">
            <a:avLst>
              <a:gd name="adj" fmla="val 2081"/>
            </a:avLst>
          </a:prstGeom>
          <a:solidFill>
            <a:schemeClr val="bg2"/>
          </a:solidFill>
          <a:ln w="12700">
            <a:solidFill>
              <a:schemeClr val="bg2"/>
            </a:solidFill>
            <a:prstDash val="solid"/>
          </a:ln>
        </p:spPr>
      </p:sp>
      <p:sp>
        <p:nvSpPr>
          <p:cNvPr id="5" name="circle-3"/>
          <p:cNvSpPr/>
          <p:nvPr/>
        </p:nvSpPr>
        <p:spPr>
          <a:xfrm>
            <a:off x="868680" y="2194560"/>
            <a:ext cx="868680" cy="868680"/>
          </a:xfrm>
          <a:prstGeom prst="ellipse">
            <a:avLst/>
          </a:prstGeom>
          <a:solidFill>
            <a:schemeClr val="accent1"/>
          </a:solidFill>
          <a:ln w="12700">
            <a:solidFill>
              <a:schemeClr val="accent1"/>
            </a:solidFill>
            <a:prstDash val="solid"/>
          </a:ln>
        </p:spPr>
      </p:sp>
      <p:pic>
        <p:nvPicPr>
          <p:cNvPr id="6" name="icon-4" descr="preencoded.png">    </p:cNvPr>
          <p:cNvPicPr>
            <a:picLocks noChangeAspect="1"/>
          </p:cNvPicPr>
          <p:nvPr/>
        </p:nvPicPr>
        <p:blipFill>
          <a:blip r:embed="rId1"/>
          <a:stretch>
            <a:fillRect/>
          </a:stretch>
        </p:blipFill>
        <p:spPr>
          <a:xfrm>
            <a:off x="1094537" y="2420417"/>
            <a:ext cx="416966" cy="416966"/>
          </a:xfrm>
          <a:prstGeom prst="rect">
            <a:avLst/>
          </a:prstGeom>
        </p:spPr>
      </p:pic>
      <p:sp>
        <p:nvSpPr>
          <p:cNvPr id="7" name="t-5"/>
          <p:cNvSpPr txBox="1"/>
          <p:nvPr/>
        </p:nvSpPr>
        <p:spPr>
          <a:xfrm>
            <a:off x="868680" y="3246120"/>
            <a:ext cx="2875178" cy="411480"/>
          </a:xfrm>
          <a:prstGeom prst="rect">
            <a:avLst/>
          </a:prstGeom>
          <a:noFill/>
          <a:ln/>
        </p:spPr>
        <p:txBody>
          <a:bodyPr wrap="square" lIns="0" tIns="0" rIns="0" bIns="0" rtlCol="0" anchor="ctr"/>
          <a:lstStyle/>
          <a:p>
            <a:pPr indent="0" marL="0">
              <a:buNone/>
            </a:pPr>
            <a:r>
              <a:rPr lang="en-US" sz="1500" b="1" spc="100" kern="0" dirty="0">
                <a:solidFill>
                  <a:schemeClr val="accent3"/>
                </a:solidFill>
              </a:rPr>
              <a:t>Tenant isolation</a:t>
            </a:r>
            <a:endParaRPr lang="en-US" sz="1500" dirty="0"/>
          </a:p>
        </p:txBody>
      </p:sp>
      <p:sp>
        <p:nvSpPr>
          <p:cNvPr id="8" name="t-6"/>
          <p:cNvSpPr txBox="1"/>
          <p:nvPr/>
        </p:nvSpPr>
        <p:spPr>
          <a:xfrm>
            <a:off x="868680" y="3657600"/>
            <a:ext cx="2875178" cy="96012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Can another customer reach my data?</a:t>
            </a:r>
            <a:endParaRPr lang="en-US" sz="2100" dirty="0"/>
          </a:p>
        </p:txBody>
      </p:sp>
      <p:sp>
        <p:nvSpPr>
          <p:cNvPr id="9" name="t-7"/>
          <p:cNvSpPr txBox="1"/>
          <p:nvPr/>
        </p:nvSpPr>
        <p:spPr>
          <a:xfrm>
            <a:off x="868680" y="4709160"/>
            <a:ext cx="2875178" cy="1188720"/>
          </a:xfrm>
          <a:prstGeom prst="rect">
            <a:avLst/>
          </a:prstGeom>
          <a:noFill/>
          <a:ln/>
        </p:spPr>
        <p:txBody>
          <a:bodyPr wrap="square" lIns="0" tIns="0" rIns="0" bIns="0" rtlCol="0" anchor="t"/>
          <a:lstStyle/>
          <a:p>
            <a:pPr indent="0" marL="0">
              <a:buNone/>
            </a:pPr>
            <a:r>
              <a:rPr lang="en-US" sz="1600" dirty="0">
                <a:solidFill>
                  <a:schemeClr val="tx1"/>
                </a:solidFill>
              </a:rPr>
              <a:t>Fintech and healthcare tenants must never see each other's traffic, even if one is compromised.</a:t>
            </a:r>
            <a:endParaRPr lang="en-US" sz="1600" dirty="0"/>
          </a:p>
        </p:txBody>
      </p:sp>
      <p:sp>
        <p:nvSpPr>
          <p:cNvPr id="10" name="box-8"/>
          <p:cNvSpPr/>
          <p:nvPr/>
        </p:nvSpPr>
        <p:spPr>
          <a:xfrm>
            <a:off x="4338218" y="1874520"/>
            <a:ext cx="3515258" cy="4160520"/>
          </a:xfrm>
          <a:prstGeom prst="roundRect">
            <a:avLst>
              <a:gd name="adj" fmla="val 2081"/>
            </a:avLst>
          </a:prstGeom>
          <a:solidFill>
            <a:schemeClr val="bg2"/>
          </a:solidFill>
          <a:ln w="12700">
            <a:solidFill>
              <a:schemeClr val="bg2"/>
            </a:solidFill>
            <a:prstDash val="solid"/>
          </a:ln>
        </p:spPr>
      </p:sp>
      <p:sp>
        <p:nvSpPr>
          <p:cNvPr id="11" name="circle-9"/>
          <p:cNvSpPr/>
          <p:nvPr/>
        </p:nvSpPr>
        <p:spPr>
          <a:xfrm>
            <a:off x="4658258" y="2194560"/>
            <a:ext cx="868680" cy="868680"/>
          </a:xfrm>
          <a:prstGeom prst="ellipse">
            <a:avLst/>
          </a:prstGeom>
          <a:solidFill>
            <a:schemeClr val="accent3"/>
          </a:solidFill>
          <a:ln w="12700">
            <a:solidFill>
              <a:schemeClr val="accent3"/>
            </a:solidFill>
            <a:prstDash val="solid"/>
          </a:ln>
        </p:spPr>
      </p:sp>
      <p:pic>
        <p:nvPicPr>
          <p:cNvPr id="12" name="icon-10" descr="preencoded.png">    </p:cNvPr>
          <p:cNvPicPr>
            <a:picLocks noChangeAspect="1"/>
          </p:cNvPicPr>
          <p:nvPr/>
        </p:nvPicPr>
        <p:blipFill>
          <a:blip r:embed="rId2"/>
          <a:stretch>
            <a:fillRect/>
          </a:stretch>
        </p:blipFill>
        <p:spPr>
          <a:xfrm>
            <a:off x="4884115" y="2420417"/>
            <a:ext cx="416966" cy="416966"/>
          </a:xfrm>
          <a:prstGeom prst="rect">
            <a:avLst/>
          </a:prstGeom>
        </p:spPr>
      </p:pic>
      <p:sp>
        <p:nvSpPr>
          <p:cNvPr id="13" name="t-11"/>
          <p:cNvSpPr txBox="1"/>
          <p:nvPr/>
        </p:nvSpPr>
        <p:spPr>
          <a:xfrm>
            <a:off x="4658258" y="3246120"/>
            <a:ext cx="2875178" cy="411480"/>
          </a:xfrm>
          <a:prstGeom prst="rect">
            <a:avLst/>
          </a:prstGeom>
          <a:noFill/>
          <a:ln/>
        </p:spPr>
        <p:txBody>
          <a:bodyPr wrap="square" lIns="0" tIns="0" rIns="0" bIns="0" rtlCol="0" anchor="ctr"/>
          <a:lstStyle/>
          <a:p>
            <a:pPr indent="0" marL="0">
              <a:buNone/>
            </a:pPr>
            <a:r>
              <a:rPr lang="en-US" sz="1500" b="1" spc="100" kern="0" dirty="0">
                <a:solidFill>
                  <a:schemeClr val="accent3"/>
                </a:solidFill>
              </a:rPr>
              <a:t>Controlled egress</a:t>
            </a:r>
            <a:endParaRPr lang="en-US" sz="1500" dirty="0"/>
          </a:p>
        </p:txBody>
      </p:sp>
      <p:sp>
        <p:nvSpPr>
          <p:cNvPr id="14" name="t-12"/>
          <p:cNvSpPr txBox="1"/>
          <p:nvPr/>
        </p:nvSpPr>
        <p:spPr>
          <a:xfrm>
            <a:off x="4658258" y="3657600"/>
            <a:ext cx="2875178" cy="96012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Which IPs does my data leave from?</a:t>
            </a:r>
            <a:endParaRPr lang="en-US" sz="2100" dirty="0"/>
          </a:p>
        </p:txBody>
      </p:sp>
      <p:sp>
        <p:nvSpPr>
          <p:cNvPr id="15" name="t-13"/>
          <p:cNvSpPr txBox="1"/>
          <p:nvPr/>
        </p:nvSpPr>
        <p:spPr>
          <a:xfrm>
            <a:off x="4658258" y="4709160"/>
            <a:ext cx="2875178" cy="1188720"/>
          </a:xfrm>
          <a:prstGeom prst="rect">
            <a:avLst/>
          </a:prstGeom>
          <a:noFill/>
          <a:ln/>
        </p:spPr>
        <p:txBody>
          <a:bodyPr wrap="square" lIns="0" tIns="0" rIns="0" bIns="0" rtlCol="0" anchor="t"/>
          <a:lstStyle/>
          <a:p>
            <a:pPr indent="0" marL="0">
              <a:buNone/>
            </a:pPr>
            <a:r>
              <a:rPr lang="en-US" sz="1600" dirty="0">
                <a:solidFill>
                  <a:schemeClr val="tx1"/>
                </a:solidFill>
              </a:rPr>
              <a:t>Customers allowlist fixed outbound IPs; internet access must be narrow and attributable.</a:t>
            </a:r>
            <a:endParaRPr lang="en-US" sz="1600" dirty="0"/>
          </a:p>
        </p:txBody>
      </p:sp>
      <p:sp>
        <p:nvSpPr>
          <p:cNvPr id="16" name="box-14"/>
          <p:cNvSpPr/>
          <p:nvPr/>
        </p:nvSpPr>
        <p:spPr>
          <a:xfrm>
            <a:off x="8127797" y="1874520"/>
            <a:ext cx="3515258" cy="4160520"/>
          </a:xfrm>
          <a:prstGeom prst="roundRect">
            <a:avLst>
              <a:gd name="adj" fmla="val 2081"/>
            </a:avLst>
          </a:prstGeom>
          <a:solidFill>
            <a:schemeClr val="bg2"/>
          </a:solidFill>
          <a:ln w="12700">
            <a:solidFill>
              <a:schemeClr val="bg2"/>
            </a:solidFill>
            <a:prstDash val="solid"/>
          </a:ln>
        </p:spPr>
      </p:sp>
      <p:sp>
        <p:nvSpPr>
          <p:cNvPr id="17" name="circle-15"/>
          <p:cNvSpPr/>
          <p:nvPr/>
        </p:nvSpPr>
        <p:spPr>
          <a:xfrm>
            <a:off x="8447837" y="2194560"/>
            <a:ext cx="868680" cy="868680"/>
          </a:xfrm>
          <a:prstGeom prst="ellipse">
            <a:avLst/>
          </a:prstGeom>
          <a:solidFill>
            <a:schemeClr val="accent2"/>
          </a:solidFill>
          <a:ln w="12700">
            <a:solidFill>
              <a:schemeClr val="accent2"/>
            </a:solidFill>
            <a:prstDash val="solid"/>
          </a:ln>
        </p:spPr>
      </p:sp>
      <p:pic>
        <p:nvPicPr>
          <p:cNvPr id="18" name="icon-16" descr="preencoded.png">    </p:cNvPr>
          <p:cNvPicPr>
            <a:picLocks noChangeAspect="1"/>
          </p:cNvPicPr>
          <p:nvPr/>
        </p:nvPicPr>
        <p:blipFill>
          <a:blip r:embed="rId3"/>
          <a:stretch>
            <a:fillRect/>
          </a:stretch>
        </p:blipFill>
        <p:spPr>
          <a:xfrm>
            <a:off x="8673694" y="2420417"/>
            <a:ext cx="416966" cy="416966"/>
          </a:xfrm>
          <a:prstGeom prst="rect">
            <a:avLst/>
          </a:prstGeom>
        </p:spPr>
      </p:pic>
      <p:sp>
        <p:nvSpPr>
          <p:cNvPr id="19" name="t-17"/>
          <p:cNvSpPr txBox="1"/>
          <p:nvPr/>
        </p:nvSpPr>
        <p:spPr>
          <a:xfrm>
            <a:off x="8447837" y="3246120"/>
            <a:ext cx="2875178" cy="411480"/>
          </a:xfrm>
          <a:prstGeom prst="rect">
            <a:avLst/>
          </a:prstGeom>
          <a:noFill/>
          <a:ln/>
        </p:spPr>
        <p:txBody>
          <a:bodyPr wrap="square" lIns="0" tIns="0" rIns="0" bIns="0" rtlCol="0" anchor="ctr"/>
          <a:lstStyle/>
          <a:p>
            <a:pPr indent="0" marL="0">
              <a:buNone/>
            </a:pPr>
            <a:r>
              <a:rPr lang="en-US" sz="1500" b="1" spc="100" kern="0" dirty="0">
                <a:solidFill>
                  <a:schemeClr val="accent3"/>
                </a:solidFill>
              </a:rPr>
              <a:t>Evidence and resilience</a:t>
            </a:r>
            <a:endParaRPr lang="en-US" sz="1500" dirty="0"/>
          </a:p>
        </p:txBody>
      </p:sp>
      <p:sp>
        <p:nvSpPr>
          <p:cNvPr id="20" name="t-18"/>
          <p:cNvSpPr txBox="1"/>
          <p:nvPr/>
        </p:nvSpPr>
        <p:spPr>
          <a:xfrm>
            <a:off x="8447837" y="3657600"/>
            <a:ext cx="2875178" cy="96012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Can you prove it, and recover?</a:t>
            </a:r>
            <a:endParaRPr lang="en-US" sz="2100" dirty="0"/>
          </a:p>
        </p:txBody>
      </p:sp>
      <p:sp>
        <p:nvSpPr>
          <p:cNvPr id="21" name="t-19"/>
          <p:cNvSpPr txBox="1"/>
          <p:nvPr/>
        </p:nvSpPr>
        <p:spPr>
          <a:xfrm>
            <a:off x="8447837" y="4709160"/>
            <a:ext cx="2875178" cy="1188720"/>
          </a:xfrm>
          <a:prstGeom prst="rect">
            <a:avLst/>
          </a:prstGeom>
          <a:noFill/>
          <a:ln/>
        </p:spPr>
        <p:txBody>
          <a:bodyPr wrap="square" lIns="0" tIns="0" rIns="0" bIns="0" rtlCol="0" anchor="t"/>
          <a:lstStyle/>
          <a:p>
            <a:pPr indent="0" marL="0">
              <a:buNone/>
            </a:pPr>
            <a:r>
              <a:rPr lang="en-US" sz="1600" dirty="0">
                <a:solidFill>
                  <a:schemeClr val="tx1"/>
                </a:solidFill>
              </a:rPr>
              <a:t>Every flow and change logged, drift detected, and a tested recovery path.</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20"/>
          <p:cNvSpPr txBox="1"/>
          <p:nvPr/>
        </p:nvSpPr>
        <p:spPr>
          <a:xfrm>
            <a:off x="548640" y="228600"/>
            <a:ext cx="11094415"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THE ARCHITECTURE</a:t>
            </a:r>
            <a:endParaRPr lang="en-US" sz="1200" dirty="0"/>
          </a:p>
        </p:txBody>
      </p:sp>
      <p:sp>
        <p:nvSpPr>
          <p:cNvPr id="3" name="Text 0"/>
          <p:cNvSpPr/>
          <p:nvPr>
            <p:ph idx="100" type="title" hasCustomPrompt="1"/>
          </p:nvPr>
        </p:nvSpPr>
        <p:spPr>
          <a:xfrm>
            <a:off x="548640" y="502920"/>
            <a:ext cx="11094415" cy="914400"/>
          </a:xfrm>
          <a:prstGeom prst="rect">
            <a:avLst/>
          </a:prstGeom>
          <a:noFill/>
          <a:ln/>
        </p:spPr>
        <p:txBody>
          <a:bodyPr wrap="square" lIns="0" tIns="0" rIns="0" bIns="0" rtlCol="0" anchor="t"/>
          <a:lstStyle/>
          <a:p>
            <a:pPr algn="l" indent="0" marL="0">
              <a:buNone/>
            </a:pPr>
            <a:r>
              <a:rPr lang="en-US" sz="3400" b="1" dirty="0">
                <a:solidFill>
                  <a:schemeClr val="tx2"/>
                </a:solidFill>
              </a:rPr>
              <a:t>Hub and spokes, every boundary enforced twice</a:t>
            </a:r>
            <a:endParaRPr lang="en-US" sz="3400" dirty="0"/>
          </a:p>
        </p:txBody>
      </p:sp>
      <p:sp>
        <p:nvSpPr>
          <p:cNvPr id="4" name="box-21"/>
          <p:cNvSpPr/>
          <p:nvPr/>
        </p:nvSpPr>
        <p:spPr>
          <a:xfrm>
            <a:off x="548640" y="1691640"/>
            <a:ext cx="7818120" cy="4434840"/>
          </a:xfrm>
          <a:prstGeom prst="roundRect">
            <a:avLst>
              <a:gd name="adj" fmla="val 1649"/>
            </a:avLst>
          </a:prstGeom>
          <a:solidFill>
            <a:schemeClr val="bg1"/>
          </a:solidFill>
          <a:ln w="19050">
            <a:solidFill>
              <a:schemeClr val="accent2"/>
            </a:solidFill>
            <a:prstDash val="dash"/>
          </a:ln>
        </p:spPr>
      </p:sp>
      <p:sp>
        <p:nvSpPr>
          <p:cNvPr id="5" name="t-22"/>
          <p:cNvSpPr txBox="1"/>
          <p:nvPr/>
        </p:nvSpPr>
        <p:spPr>
          <a:xfrm>
            <a:off x="731520" y="1783080"/>
            <a:ext cx="7498080" cy="320040"/>
          </a:xfrm>
          <a:prstGeom prst="rect">
            <a:avLst/>
          </a:prstGeom>
          <a:noFill/>
          <a:ln/>
        </p:spPr>
        <p:txBody>
          <a:bodyPr wrap="square" lIns="0" tIns="0" rIns="0" bIns="0" rtlCol="0" anchor="ctr"/>
          <a:lstStyle/>
          <a:p>
            <a:pPr indent="0" marL="0">
              <a:buNone/>
            </a:pPr>
            <a:r>
              <a:rPr lang="en-US" sz="1200" b="1" spc="100" kern="0" dirty="0">
                <a:solidFill>
                  <a:schemeClr val="accent2"/>
                </a:solidFill>
              </a:rPr>
              <a:t>ORGANIZATION GUARDRAILS · org policies + hierarchical firewall</a:t>
            </a:r>
            <a:endParaRPr lang="en-US" sz="1200" dirty="0"/>
          </a:p>
        </p:txBody>
      </p:sp>
      <p:sp>
        <p:nvSpPr>
          <p:cNvPr id="6" name="box-23"/>
          <p:cNvSpPr/>
          <p:nvPr/>
        </p:nvSpPr>
        <p:spPr>
          <a:xfrm>
            <a:off x="777240" y="2926080"/>
            <a:ext cx="1417320" cy="1051560"/>
          </a:xfrm>
          <a:prstGeom prst="roundRect">
            <a:avLst>
              <a:gd name="adj" fmla="val 6957"/>
            </a:avLst>
          </a:prstGeom>
          <a:solidFill>
            <a:schemeClr val="bg2"/>
          </a:solidFill>
          <a:ln w="12700">
            <a:solidFill>
              <a:schemeClr val="accent4"/>
            </a:solidFill>
            <a:prstDash val="solid"/>
          </a:ln>
        </p:spPr>
      </p:sp>
      <p:sp>
        <p:nvSpPr>
          <p:cNvPr id="7" name="t-24"/>
          <p:cNvSpPr txBox="1"/>
          <p:nvPr/>
        </p:nvSpPr>
        <p:spPr>
          <a:xfrm>
            <a:off x="777240" y="2926080"/>
            <a:ext cx="1417320" cy="1051560"/>
          </a:xfrm>
          <a:prstGeom prst="rect">
            <a:avLst/>
          </a:prstGeom>
          <a:noFill/>
          <a:ln/>
        </p:spPr>
        <p:txBody>
          <a:bodyPr wrap="square" lIns="0" tIns="0" rIns="0" bIns="0" rtlCol="0" anchor="ctr"/>
          <a:lstStyle/>
          <a:p>
            <a:pPr algn="ctr" indent="0" marL="0">
              <a:buNone/>
            </a:pPr>
            <a:r>
              <a:rPr lang="en-US" sz="1500" b="1" dirty="0">
                <a:solidFill>
                  <a:schemeClr val="tx2"/>
                </a:solidFill>
              </a:rPr>
              <a:t>On-prem</a:t>
            </a:r>
            <a:endParaRPr lang="en-US" sz="1500" dirty="0"/>
          </a:p>
        </p:txBody>
      </p:sp>
      <p:sp>
        <p:nvSpPr>
          <p:cNvPr id="8" name="vpn-25"/>
          <p:cNvSpPr/>
          <p:nvPr/>
        </p:nvSpPr>
        <p:spPr>
          <a:xfrm>
            <a:off x="2194560" y="3451860"/>
            <a:ext cx="868680" cy="0"/>
          </a:xfrm>
          <a:prstGeom prst="line">
            <a:avLst/>
          </a:prstGeom>
          <a:noFill/>
          <a:ln w="31750">
            <a:solidFill>
              <a:schemeClr val="accent3"/>
            </a:solidFill>
            <a:prstDash val="solid"/>
          </a:ln>
        </p:spPr>
      </p:sp>
      <p:sp>
        <p:nvSpPr>
          <p:cNvPr id="9" name="t-26"/>
          <p:cNvSpPr txBox="1"/>
          <p:nvPr/>
        </p:nvSpPr>
        <p:spPr>
          <a:xfrm>
            <a:off x="2194560" y="3520440"/>
            <a:ext cx="868680" cy="502920"/>
          </a:xfrm>
          <a:prstGeom prst="rect">
            <a:avLst/>
          </a:prstGeom>
          <a:noFill/>
          <a:ln/>
        </p:spPr>
        <p:txBody>
          <a:bodyPr wrap="square" lIns="0" tIns="0" rIns="0" bIns="0" rtlCol="0" anchor="ctr"/>
          <a:lstStyle/>
          <a:p>
            <a:pPr algn="ctr" indent="0" marL="0">
              <a:buNone/>
            </a:pPr>
            <a:r>
              <a:rPr lang="en-US" sz="1100" b="1" dirty="0">
                <a:solidFill>
                  <a:schemeClr val="accent3"/>
                </a:solidFill>
              </a:rPr>
              <a:t>HA VPN</a:t>
            </a:r>
            <a:endParaRPr lang="en-US" sz="1100" dirty="0"/>
          </a:p>
          <a:p>
            <a:pPr algn="ctr" indent="0" marL="0">
              <a:buNone/>
            </a:pPr>
            <a:r>
              <a:rPr lang="en-US" sz="1100" b="1" dirty="0">
                <a:solidFill>
                  <a:schemeClr val="accent3"/>
                </a:solidFill>
              </a:rPr>
              <a:t>+ BGP</a:t>
            </a:r>
            <a:endParaRPr lang="en-US" sz="1100" dirty="0"/>
          </a:p>
        </p:txBody>
      </p:sp>
      <p:sp>
        <p:nvSpPr>
          <p:cNvPr id="10" name="box-27"/>
          <p:cNvSpPr/>
          <p:nvPr/>
        </p:nvSpPr>
        <p:spPr>
          <a:xfrm>
            <a:off x="3063240" y="2286000"/>
            <a:ext cx="3108960" cy="2377440"/>
          </a:xfrm>
          <a:prstGeom prst="roundRect">
            <a:avLst>
              <a:gd name="adj" fmla="val 3077"/>
            </a:avLst>
          </a:prstGeom>
          <a:solidFill>
            <a:schemeClr val="tx2"/>
          </a:solidFill>
          <a:ln w="12700">
            <a:solidFill>
              <a:schemeClr val="tx2"/>
            </a:solidFill>
            <a:prstDash val="solid"/>
          </a:ln>
        </p:spPr>
      </p:sp>
      <p:sp>
        <p:nvSpPr>
          <p:cNvPr id="11" name="t-28"/>
          <p:cNvSpPr txBox="1"/>
          <p:nvPr/>
        </p:nvSpPr>
        <p:spPr>
          <a:xfrm>
            <a:off x="3246120" y="2423160"/>
            <a:ext cx="2743200" cy="411480"/>
          </a:xfrm>
          <a:prstGeom prst="rect">
            <a:avLst/>
          </a:prstGeom>
          <a:noFill/>
          <a:ln/>
        </p:spPr>
        <p:txBody>
          <a:bodyPr wrap="square" lIns="0" tIns="0" rIns="0" bIns="0" rtlCol="0" anchor="ctr"/>
          <a:lstStyle/>
          <a:p>
            <a:pPr indent="0" marL="0">
              <a:buNone/>
            </a:pPr>
            <a:r>
              <a:rPr lang="en-US" sz="1800" b="1" dirty="0">
                <a:solidFill>
                  <a:schemeClr val="bg1"/>
                </a:solidFill>
              </a:rPr>
              <a:t>Shared VPC hub</a:t>
            </a:r>
            <a:endParaRPr lang="en-US" sz="1800" dirty="0"/>
          </a:p>
        </p:txBody>
      </p:sp>
      <p:sp>
        <p:nvSpPr>
          <p:cNvPr id="12" name="box-29"/>
          <p:cNvSpPr/>
          <p:nvPr/>
        </p:nvSpPr>
        <p:spPr>
          <a:xfrm>
            <a:off x="3291840" y="3017520"/>
            <a:ext cx="1234440" cy="548640"/>
          </a:xfrm>
          <a:prstGeom prst="roundRect">
            <a:avLst>
              <a:gd name="adj" fmla="val 13333"/>
            </a:avLst>
          </a:prstGeom>
          <a:solidFill>
            <a:schemeClr val="accent1"/>
          </a:solidFill>
          <a:ln w="12700">
            <a:solidFill>
              <a:schemeClr val="accent1"/>
            </a:solidFill>
            <a:prstDash val="solid"/>
          </a:ln>
        </p:spPr>
      </p:sp>
      <p:sp>
        <p:nvSpPr>
          <p:cNvPr id="13" name="t-30"/>
          <p:cNvSpPr txBox="1"/>
          <p:nvPr/>
        </p:nvSpPr>
        <p:spPr>
          <a:xfrm>
            <a:off x="3291840" y="3017520"/>
            <a:ext cx="1234440" cy="548640"/>
          </a:xfrm>
          <a:prstGeom prst="rect">
            <a:avLst/>
          </a:prstGeom>
          <a:noFill/>
          <a:ln/>
        </p:spPr>
        <p:txBody>
          <a:bodyPr wrap="square" lIns="0" tIns="0" rIns="0" bIns="0" rtlCol="0" anchor="ctr"/>
          <a:lstStyle/>
          <a:p>
            <a:pPr algn="ctr" indent="0" marL="0">
              <a:buNone/>
            </a:pPr>
            <a:r>
              <a:rPr lang="en-US" sz="1400" b="1" dirty="0">
                <a:solidFill>
                  <a:schemeClr val="bg1"/>
                </a:solidFill>
              </a:rPr>
              <a:t>dev</a:t>
            </a:r>
            <a:endParaRPr lang="en-US" sz="1400" dirty="0"/>
          </a:p>
        </p:txBody>
      </p:sp>
      <p:sp>
        <p:nvSpPr>
          <p:cNvPr id="14" name="box-31"/>
          <p:cNvSpPr/>
          <p:nvPr/>
        </p:nvSpPr>
        <p:spPr>
          <a:xfrm>
            <a:off x="4663440" y="3017520"/>
            <a:ext cx="1234440" cy="548640"/>
          </a:xfrm>
          <a:prstGeom prst="roundRect">
            <a:avLst>
              <a:gd name="adj" fmla="val 13333"/>
            </a:avLst>
          </a:prstGeom>
          <a:solidFill>
            <a:schemeClr val="accent1"/>
          </a:solidFill>
          <a:ln w="12700">
            <a:solidFill>
              <a:schemeClr val="accent1"/>
            </a:solidFill>
            <a:prstDash val="solid"/>
          </a:ln>
        </p:spPr>
      </p:sp>
      <p:sp>
        <p:nvSpPr>
          <p:cNvPr id="15" name="t-32"/>
          <p:cNvSpPr txBox="1"/>
          <p:nvPr/>
        </p:nvSpPr>
        <p:spPr>
          <a:xfrm>
            <a:off x="4663440" y="3017520"/>
            <a:ext cx="1234440" cy="548640"/>
          </a:xfrm>
          <a:prstGeom prst="rect">
            <a:avLst/>
          </a:prstGeom>
          <a:noFill/>
          <a:ln/>
        </p:spPr>
        <p:txBody>
          <a:bodyPr wrap="square" lIns="0" tIns="0" rIns="0" bIns="0" rtlCol="0" anchor="ctr"/>
          <a:lstStyle/>
          <a:p>
            <a:pPr algn="ctr" indent="0" marL="0">
              <a:buNone/>
            </a:pPr>
            <a:r>
              <a:rPr lang="en-US" sz="1400" b="1" dirty="0">
                <a:solidFill>
                  <a:schemeClr val="bg1"/>
                </a:solidFill>
              </a:rPr>
              <a:t>staging</a:t>
            </a:r>
            <a:endParaRPr lang="en-US" sz="1400" dirty="0"/>
          </a:p>
        </p:txBody>
      </p:sp>
      <p:sp>
        <p:nvSpPr>
          <p:cNvPr id="16" name="box-33"/>
          <p:cNvSpPr/>
          <p:nvPr/>
        </p:nvSpPr>
        <p:spPr>
          <a:xfrm>
            <a:off x="3291840" y="3749040"/>
            <a:ext cx="1234440" cy="548640"/>
          </a:xfrm>
          <a:prstGeom prst="roundRect">
            <a:avLst>
              <a:gd name="adj" fmla="val 13333"/>
            </a:avLst>
          </a:prstGeom>
          <a:solidFill>
            <a:schemeClr val="accent1"/>
          </a:solidFill>
          <a:ln w="12700">
            <a:solidFill>
              <a:schemeClr val="accent1"/>
            </a:solidFill>
            <a:prstDash val="solid"/>
          </a:ln>
        </p:spPr>
      </p:sp>
      <p:sp>
        <p:nvSpPr>
          <p:cNvPr id="17" name="t-34"/>
          <p:cNvSpPr txBox="1"/>
          <p:nvPr/>
        </p:nvSpPr>
        <p:spPr>
          <a:xfrm>
            <a:off x="3291840" y="3749040"/>
            <a:ext cx="1234440" cy="548640"/>
          </a:xfrm>
          <a:prstGeom prst="rect">
            <a:avLst/>
          </a:prstGeom>
          <a:noFill/>
          <a:ln/>
        </p:spPr>
        <p:txBody>
          <a:bodyPr wrap="square" lIns="0" tIns="0" rIns="0" bIns="0" rtlCol="0" anchor="ctr"/>
          <a:lstStyle/>
          <a:p>
            <a:pPr algn="ctr" indent="0" marL="0">
              <a:buNone/>
            </a:pPr>
            <a:r>
              <a:rPr lang="en-US" sz="1400" b="1" dirty="0">
                <a:solidFill>
                  <a:schemeClr val="bg1"/>
                </a:solidFill>
              </a:rPr>
              <a:t>prod</a:t>
            </a:r>
            <a:endParaRPr lang="en-US" sz="1400" dirty="0"/>
          </a:p>
        </p:txBody>
      </p:sp>
      <p:sp>
        <p:nvSpPr>
          <p:cNvPr id="18" name="box-35"/>
          <p:cNvSpPr/>
          <p:nvPr/>
        </p:nvSpPr>
        <p:spPr>
          <a:xfrm>
            <a:off x="4663440" y="3749040"/>
            <a:ext cx="1234440" cy="548640"/>
          </a:xfrm>
          <a:prstGeom prst="roundRect">
            <a:avLst>
              <a:gd name="adj" fmla="val 13333"/>
            </a:avLst>
          </a:prstGeom>
          <a:solidFill>
            <a:schemeClr val="accent2"/>
          </a:solidFill>
          <a:ln w="12700">
            <a:solidFill>
              <a:schemeClr val="accent2"/>
            </a:solidFill>
            <a:prstDash val="solid"/>
          </a:ln>
        </p:spPr>
      </p:sp>
      <p:sp>
        <p:nvSpPr>
          <p:cNvPr id="19" name="t-36"/>
          <p:cNvSpPr txBox="1"/>
          <p:nvPr/>
        </p:nvSpPr>
        <p:spPr>
          <a:xfrm>
            <a:off x="4663440" y="3749040"/>
            <a:ext cx="1234440" cy="548640"/>
          </a:xfrm>
          <a:prstGeom prst="rect">
            <a:avLst/>
          </a:prstGeom>
          <a:noFill/>
          <a:ln/>
        </p:spPr>
        <p:txBody>
          <a:bodyPr wrap="square" lIns="0" tIns="0" rIns="0" bIns="0" rtlCol="0" anchor="ctr"/>
          <a:lstStyle/>
          <a:p>
            <a:pPr algn="ctr" indent="0" marL="0">
              <a:buNone/>
            </a:pPr>
            <a:r>
              <a:rPr lang="en-US" sz="1400" b="1" dirty="0">
                <a:solidFill>
                  <a:schemeClr val="bg1"/>
                </a:solidFill>
              </a:rPr>
              <a:t>shared svc</a:t>
            </a:r>
            <a:endParaRPr lang="en-US" sz="1400" dirty="0"/>
          </a:p>
        </p:txBody>
      </p:sp>
      <p:sp>
        <p:nvSpPr>
          <p:cNvPr id="20" name="box-37"/>
          <p:cNvSpPr/>
          <p:nvPr/>
        </p:nvSpPr>
        <p:spPr>
          <a:xfrm>
            <a:off x="6949440" y="2286000"/>
            <a:ext cx="1280160" cy="960120"/>
          </a:xfrm>
          <a:prstGeom prst="roundRect">
            <a:avLst>
              <a:gd name="adj" fmla="val 7619"/>
            </a:avLst>
          </a:prstGeom>
          <a:solidFill>
            <a:schemeClr val="bg2"/>
          </a:solidFill>
          <a:ln w="19050">
            <a:solidFill>
              <a:schemeClr val="accent1"/>
            </a:solidFill>
            <a:prstDash val="solid"/>
          </a:ln>
        </p:spPr>
      </p:sp>
      <p:sp>
        <p:nvSpPr>
          <p:cNvPr id="21" name="t-38"/>
          <p:cNvSpPr txBox="1"/>
          <p:nvPr/>
        </p:nvSpPr>
        <p:spPr>
          <a:xfrm>
            <a:off x="6949440" y="2286000"/>
            <a:ext cx="1280160" cy="960120"/>
          </a:xfrm>
          <a:prstGeom prst="rect">
            <a:avLst/>
          </a:prstGeom>
          <a:noFill/>
          <a:ln/>
        </p:spPr>
        <p:txBody>
          <a:bodyPr wrap="square" lIns="0" tIns="0" rIns="0" bIns="0" rtlCol="0" anchor="ctr"/>
          <a:lstStyle/>
          <a:p>
            <a:pPr algn="ctr" indent="0" marL="0">
              <a:buNone/>
            </a:pPr>
            <a:r>
              <a:rPr lang="en-US" sz="1400" b="1" dirty="0">
                <a:solidFill>
                  <a:schemeClr val="tx2"/>
                </a:solidFill>
              </a:rPr>
              <a:t>Fintech VPC</a:t>
            </a:r>
            <a:endParaRPr lang="en-US" sz="1400" dirty="0"/>
          </a:p>
        </p:txBody>
      </p:sp>
      <p:sp>
        <p:nvSpPr>
          <p:cNvPr id="22" name="box-39"/>
          <p:cNvSpPr/>
          <p:nvPr/>
        </p:nvSpPr>
        <p:spPr>
          <a:xfrm>
            <a:off x="6949440" y="3703320"/>
            <a:ext cx="1280160" cy="960120"/>
          </a:xfrm>
          <a:prstGeom prst="roundRect">
            <a:avLst>
              <a:gd name="adj" fmla="val 7619"/>
            </a:avLst>
          </a:prstGeom>
          <a:solidFill>
            <a:schemeClr val="bg2"/>
          </a:solidFill>
          <a:ln w="19050">
            <a:solidFill>
              <a:schemeClr val="accent1"/>
            </a:solidFill>
            <a:prstDash val="solid"/>
          </a:ln>
        </p:spPr>
      </p:sp>
      <p:sp>
        <p:nvSpPr>
          <p:cNvPr id="23" name="t-40"/>
          <p:cNvSpPr txBox="1"/>
          <p:nvPr/>
        </p:nvSpPr>
        <p:spPr>
          <a:xfrm>
            <a:off x="6949440" y="3703320"/>
            <a:ext cx="1280160" cy="960120"/>
          </a:xfrm>
          <a:prstGeom prst="rect">
            <a:avLst/>
          </a:prstGeom>
          <a:noFill/>
          <a:ln/>
        </p:spPr>
        <p:txBody>
          <a:bodyPr wrap="square" lIns="0" tIns="0" rIns="0" bIns="0" rtlCol="0" anchor="ctr"/>
          <a:lstStyle/>
          <a:p>
            <a:pPr algn="ctr" indent="0" marL="0">
              <a:buNone/>
            </a:pPr>
            <a:r>
              <a:rPr lang="en-US" sz="1400" b="1" dirty="0">
                <a:solidFill>
                  <a:schemeClr val="tx2"/>
                </a:solidFill>
              </a:rPr>
              <a:t>Healthcare VPC</a:t>
            </a:r>
            <a:endParaRPr lang="en-US" sz="1400" dirty="0"/>
          </a:p>
        </p:txBody>
      </p:sp>
      <p:sp>
        <p:nvSpPr>
          <p:cNvPr id="24" name="peer1-41"/>
          <p:cNvSpPr/>
          <p:nvPr/>
        </p:nvSpPr>
        <p:spPr>
          <a:xfrm>
            <a:off x="6172200" y="2761488"/>
            <a:ext cx="777240" cy="0"/>
          </a:xfrm>
          <a:prstGeom prst="line">
            <a:avLst/>
          </a:prstGeom>
          <a:noFill/>
          <a:ln w="31750">
            <a:solidFill>
              <a:schemeClr val="accent1"/>
            </a:solidFill>
            <a:prstDash val="solid"/>
          </a:ln>
        </p:spPr>
      </p:sp>
      <p:sp>
        <p:nvSpPr>
          <p:cNvPr id="25" name="peer2-42"/>
          <p:cNvSpPr/>
          <p:nvPr/>
        </p:nvSpPr>
        <p:spPr>
          <a:xfrm>
            <a:off x="6172200" y="4178808"/>
            <a:ext cx="777240" cy="0"/>
          </a:xfrm>
          <a:prstGeom prst="line">
            <a:avLst/>
          </a:prstGeom>
          <a:noFill/>
          <a:ln w="31750">
            <a:solidFill>
              <a:schemeClr val="accent1"/>
            </a:solidFill>
            <a:prstDash val="solid"/>
          </a:ln>
        </p:spPr>
      </p:sp>
      <p:sp>
        <p:nvSpPr>
          <p:cNvPr id="26" name="t-43"/>
          <p:cNvSpPr txBox="1"/>
          <p:nvPr/>
        </p:nvSpPr>
        <p:spPr>
          <a:xfrm>
            <a:off x="6172200" y="2423160"/>
            <a:ext cx="777240" cy="274320"/>
          </a:xfrm>
          <a:prstGeom prst="rect">
            <a:avLst/>
          </a:prstGeom>
          <a:noFill/>
          <a:ln/>
        </p:spPr>
        <p:txBody>
          <a:bodyPr wrap="square" lIns="0" tIns="0" rIns="0" bIns="0" rtlCol="0" anchor="ctr"/>
          <a:lstStyle/>
          <a:p>
            <a:pPr algn="ctr" indent="0" marL="0">
              <a:buNone/>
            </a:pPr>
            <a:r>
              <a:rPr lang="en-US" sz="1100" b="1" dirty="0">
                <a:solidFill>
                  <a:schemeClr val="accent1"/>
                </a:solidFill>
              </a:rPr>
              <a:t>peering</a:t>
            </a:r>
            <a:endParaRPr lang="en-US" sz="1100" dirty="0"/>
          </a:p>
        </p:txBody>
      </p:sp>
      <p:sp>
        <p:nvSpPr>
          <p:cNvPr id="27" name="t-44"/>
          <p:cNvSpPr txBox="1"/>
          <p:nvPr/>
        </p:nvSpPr>
        <p:spPr>
          <a:xfrm>
            <a:off x="6172200" y="3840480"/>
            <a:ext cx="777240" cy="274320"/>
          </a:xfrm>
          <a:prstGeom prst="rect">
            <a:avLst/>
          </a:prstGeom>
          <a:noFill/>
          <a:ln/>
        </p:spPr>
        <p:txBody>
          <a:bodyPr wrap="square" lIns="0" tIns="0" rIns="0" bIns="0" rtlCol="0" anchor="ctr"/>
          <a:lstStyle/>
          <a:p>
            <a:pPr algn="ctr" indent="0" marL="0">
              <a:buNone/>
            </a:pPr>
            <a:r>
              <a:rPr lang="en-US" sz="1100" b="1" dirty="0">
                <a:solidFill>
                  <a:schemeClr val="accent1"/>
                </a:solidFill>
              </a:rPr>
              <a:t>peering</a:t>
            </a:r>
            <a:endParaRPr lang="en-US" sz="1100" dirty="0"/>
          </a:p>
        </p:txBody>
      </p:sp>
      <p:sp>
        <p:nvSpPr>
          <p:cNvPr id="28" name="noroute-45"/>
          <p:cNvSpPr/>
          <p:nvPr/>
        </p:nvSpPr>
        <p:spPr>
          <a:xfrm>
            <a:off x="7589520" y="3246120"/>
            <a:ext cx="0" cy="457200"/>
          </a:xfrm>
          <a:prstGeom prst="line">
            <a:avLst/>
          </a:prstGeom>
          <a:noFill/>
          <a:ln w="31750">
            <a:solidFill>
              <a:schemeClr val="accent5"/>
            </a:solidFill>
            <a:prstDash val="dash"/>
          </a:ln>
        </p:spPr>
      </p:sp>
      <p:sp>
        <p:nvSpPr>
          <p:cNvPr id="29" name="t-46"/>
          <p:cNvSpPr txBox="1"/>
          <p:nvPr/>
        </p:nvSpPr>
        <p:spPr>
          <a:xfrm>
            <a:off x="7680960" y="3310128"/>
            <a:ext cx="822960" cy="320040"/>
          </a:xfrm>
          <a:prstGeom prst="rect">
            <a:avLst/>
          </a:prstGeom>
          <a:noFill/>
          <a:ln/>
        </p:spPr>
        <p:txBody>
          <a:bodyPr wrap="square" lIns="0" tIns="0" rIns="0" bIns="0" rtlCol="0" anchor="ctr"/>
          <a:lstStyle/>
          <a:p>
            <a:pPr indent="0" marL="0">
              <a:buNone/>
            </a:pPr>
            <a:r>
              <a:rPr lang="en-US" sz="1100" b="1" dirty="0">
                <a:solidFill>
                  <a:schemeClr val="accent5"/>
                </a:solidFill>
              </a:rPr>
              <a:t>no route</a:t>
            </a:r>
            <a:endParaRPr lang="en-US" sz="1100" dirty="0"/>
          </a:p>
        </p:txBody>
      </p:sp>
      <p:sp>
        <p:nvSpPr>
          <p:cNvPr id="30" name="box-47"/>
          <p:cNvSpPr/>
          <p:nvPr/>
        </p:nvSpPr>
        <p:spPr>
          <a:xfrm>
            <a:off x="3063240" y="4937760"/>
            <a:ext cx="5166360" cy="868680"/>
          </a:xfrm>
          <a:prstGeom prst="roundRect">
            <a:avLst>
              <a:gd name="adj" fmla="val 8421"/>
            </a:avLst>
          </a:prstGeom>
          <a:solidFill>
            <a:schemeClr val="bg2"/>
          </a:solidFill>
          <a:ln w="12700">
            <a:solidFill>
              <a:schemeClr val="accent3"/>
            </a:solidFill>
            <a:prstDash val="solid"/>
          </a:ln>
        </p:spPr>
      </p:sp>
      <p:sp>
        <p:nvSpPr>
          <p:cNvPr id="31" name="t-48"/>
          <p:cNvSpPr txBox="1"/>
          <p:nvPr/>
        </p:nvSpPr>
        <p:spPr>
          <a:xfrm>
            <a:off x="3246120" y="4937760"/>
            <a:ext cx="4800600" cy="868680"/>
          </a:xfrm>
          <a:prstGeom prst="rect">
            <a:avLst/>
          </a:prstGeom>
          <a:noFill/>
          <a:ln/>
        </p:spPr>
        <p:txBody>
          <a:bodyPr wrap="square" lIns="0" tIns="0" rIns="0" bIns="0" rtlCol="0" anchor="ctr"/>
          <a:lstStyle/>
          <a:p>
            <a:pPr indent="0" marL="0">
              <a:buNone/>
            </a:pPr>
            <a:r>
              <a:rPr lang="en-US" sz="1400" b="1" dirty="0">
                <a:solidFill>
                  <a:schemeClr val="tx2"/>
                </a:solidFill>
              </a:rPr>
              <a:t>Cloud NAT per environment and tenant → fixed, allowlistable IPs · HTTPS only</a:t>
            </a:r>
            <a:endParaRPr lang="en-US" sz="1400" dirty="0"/>
          </a:p>
        </p:txBody>
      </p:sp>
      <p:sp>
        <p:nvSpPr>
          <p:cNvPr id="32" name="box-49"/>
          <p:cNvSpPr/>
          <p:nvPr/>
        </p:nvSpPr>
        <p:spPr>
          <a:xfrm>
            <a:off x="8641080" y="1691640"/>
            <a:ext cx="3001975" cy="4434840"/>
          </a:xfrm>
          <a:prstGeom prst="roundRect">
            <a:avLst>
              <a:gd name="adj" fmla="val 2437"/>
            </a:avLst>
          </a:prstGeom>
          <a:solidFill>
            <a:schemeClr val="bg2"/>
          </a:solidFill>
          <a:ln w="12700">
            <a:solidFill>
              <a:schemeClr val="bg2"/>
            </a:solidFill>
            <a:prstDash val="solid"/>
          </a:ln>
        </p:spPr>
      </p:sp>
      <p:sp>
        <p:nvSpPr>
          <p:cNvPr id="33" name="t-50"/>
          <p:cNvSpPr txBox="1"/>
          <p:nvPr/>
        </p:nvSpPr>
        <p:spPr>
          <a:xfrm>
            <a:off x="8915400" y="1920240"/>
            <a:ext cx="2453335" cy="365760"/>
          </a:xfrm>
          <a:prstGeom prst="rect">
            <a:avLst/>
          </a:prstGeom>
          <a:noFill/>
          <a:ln/>
        </p:spPr>
        <p:txBody>
          <a:bodyPr wrap="square" lIns="0" tIns="0" rIns="0" bIns="0" rtlCol="0" anchor="ctr"/>
          <a:lstStyle/>
          <a:p>
            <a:pPr indent="0" marL="0">
              <a:buNone/>
            </a:pPr>
            <a:r>
              <a:rPr lang="en-US" sz="1700" b="1" dirty="0">
                <a:solidFill>
                  <a:schemeClr val="accent3"/>
                </a:solidFill>
              </a:rPr>
              <a:t>Isolation</a:t>
            </a:r>
            <a:endParaRPr lang="en-US" sz="1700" dirty="0"/>
          </a:p>
        </p:txBody>
      </p:sp>
      <p:sp>
        <p:nvSpPr>
          <p:cNvPr id="34" name="t-51"/>
          <p:cNvSpPr txBox="1"/>
          <p:nvPr/>
        </p:nvSpPr>
        <p:spPr>
          <a:xfrm>
            <a:off x="8915400" y="2286000"/>
            <a:ext cx="2453335" cy="868680"/>
          </a:xfrm>
          <a:prstGeom prst="rect">
            <a:avLst/>
          </a:prstGeom>
          <a:noFill/>
          <a:ln/>
        </p:spPr>
        <p:txBody>
          <a:bodyPr wrap="square" lIns="0" tIns="0" rIns="0" bIns="0" rtlCol="0" anchor="t"/>
          <a:lstStyle/>
          <a:p>
            <a:pPr indent="0" marL="0">
              <a:buNone/>
            </a:pPr>
            <a:r>
              <a:rPr lang="en-US" sz="1500" dirty="0">
                <a:solidFill>
                  <a:schemeClr val="tx1"/>
                </a:solidFill>
              </a:rPr>
              <a:t>Non-transitive peering, SA-targeted firewalls, org-level tenant deny</a:t>
            </a:r>
            <a:endParaRPr lang="en-US" sz="1500" dirty="0"/>
          </a:p>
        </p:txBody>
      </p:sp>
      <p:sp>
        <p:nvSpPr>
          <p:cNvPr id="35" name="t-52"/>
          <p:cNvSpPr txBox="1"/>
          <p:nvPr/>
        </p:nvSpPr>
        <p:spPr>
          <a:xfrm>
            <a:off x="8915400" y="3291840"/>
            <a:ext cx="2453335" cy="365760"/>
          </a:xfrm>
          <a:prstGeom prst="rect">
            <a:avLst/>
          </a:prstGeom>
          <a:noFill/>
          <a:ln/>
        </p:spPr>
        <p:txBody>
          <a:bodyPr wrap="square" lIns="0" tIns="0" rIns="0" bIns="0" rtlCol="0" anchor="ctr"/>
          <a:lstStyle/>
          <a:p>
            <a:pPr indent="0" marL="0">
              <a:buNone/>
            </a:pPr>
            <a:r>
              <a:rPr lang="en-US" sz="1700" b="1" dirty="0">
                <a:solidFill>
                  <a:schemeClr val="accent3"/>
                </a:solidFill>
              </a:rPr>
              <a:t>Egress</a:t>
            </a:r>
            <a:endParaRPr lang="en-US" sz="1700" dirty="0"/>
          </a:p>
        </p:txBody>
      </p:sp>
      <p:sp>
        <p:nvSpPr>
          <p:cNvPr id="36" name="t-53"/>
          <p:cNvSpPr txBox="1"/>
          <p:nvPr/>
        </p:nvSpPr>
        <p:spPr>
          <a:xfrm>
            <a:off x="8915400" y="3657600"/>
            <a:ext cx="2453335" cy="868680"/>
          </a:xfrm>
          <a:prstGeom prst="rect">
            <a:avLst/>
          </a:prstGeom>
          <a:noFill/>
          <a:ln/>
        </p:spPr>
        <p:txBody>
          <a:bodyPr wrap="square" lIns="0" tIns="0" rIns="0" bIns="0" rtlCol="0" anchor="t"/>
          <a:lstStyle/>
          <a:p>
            <a:pPr indent="0" marL="0">
              <a:buNone/>
            </a:pPr>
            <a:r>
              <a:rPr lang="en-US" sz="1500" dirty="0">
                <a:solidFill>
                  <a:schemeClr val="tx1"/>
                </a:solidFill>
              </a:rPr>
              <a:t>One NAT per tenant; prod has two IPs for failover</a:t>
            </a:r>
            <a:endParaRPr lang="en-US" sz="1500" dirty="0"/>
          </a:p>
        </p:txBody>
      </p:sp>
      <p:sp>
        <p:nvSpPr>
          <p:cNvPr id="37" name="t-54"/>
          <p:cNvSpPr txBox="1"/>
          <p:nvPr/>
        </p:nvSpPr>
        <p:spPr>
          <a:xfrm>
            <a:off x="8915400" y="4663440"/>
            <a:ext cx="2453335" cy="365760"/>
          </a:xfrm>
          <a:prstGeom prst="rect">
            <a:avLst/>
          </a:prstGeom>
          <a:noFill/>
          <a:ln/>
        </p:spPr>
        <p:txBody>
          <a:bodyPr wrap="square" lIns="0" tIns="0" rIns="0" bIns="0" rtlCol="0" anchor="ctr"/>
          <a:lstStyle/>
          <a:p>
            <a:pPr indent="0" marL="0">
              <a:buNone/>
            </a:pPr>
            <a:r>
              <a:rPr lang="en-US" sz="1700" b="1" dirty="0">
                <a:solidFill>
                  <a:schemeClr val="accent3"/>
                </a:solidFill>
              </a:rPr>
              <a:t>Operations</a:t>
            </a:r>
            <a:endParaRPr lang="en-US" sz="1700" dirty="0"/>
          </a:p>
        </p:txBody>
      </p:sp>
      <p:sp>
        <p:nvSpPr>
          <p:cNvPr id="38" name="t-55"/>
          <p:cNvSpPr txBox="1"/>
          <p:nvPr/>
        </p:nvSpPr>
        <p:spPr>
          <a:xfrm>
            <a:off x="8915400" y="5029200"/>
            <a:ext cx="2453335" cy="868680"/>
          </a:xfrm>
          <a:prstGeom prst="rect">
            <a:avLst/>
          </a:prstGeom>
          <a:noFill/>
          <a:ln/>
        </p:spPr>
        <p:txBody>
          <a:bodyPr wrap="square" lIns="0" tIns="0" rIns="0" bIns="0" rtlCol="0" anchor="t"/>
          <a:lstStyle/>
          <a:p>
            <a:pPr indent="0" marL="0">
              <a:buNone/>
            </a:pPr>
            <a:r>
              <a:rPr lang="en-US" sz="1500" dirty="0">
                <a:solidFill>
                  <a:schemeClr val="tx1"/>
                </a:solidFill>
              </a:rPr>
              <a:t>All Terraform, keyless, logged, alerted, DR region</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56"/>
          <p:cNvSpPr txBox="1"/>
          <p:nvPr/>
        </p:nvSpPr>
        <p:spPr>
          <a:xfrm>
            <a:off x="548640" y="228600"/>
            <a:ext cx="11094415"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KEY DECISIONS</a:t>
            </a:r>
            <a:endParaRPr lang="en-US" sz="1200" dirty="0"/>
          </a:p>
        </p:txBody>
      </p:sp>
      <p:sp>
        <p:nvSpPr>
          <p:cNvPr id="3" name="Text 0"/>
          <p:cNvSpPr/>
          <p:nvPr>
            <p:ph idx="100" type="title" hasCustomPrompt="1"/>
          </p:nvPr>
        </p:nvSpPr>
        <p:spPr>
          <a:xfrm>
            <a:off x="548640" y="502920"/>
            <a:ext cx="11094415" cy="914400"/>
          </a:xfrm>
          <a:prstGeom prst="rect">
            <a:avLst/>
          </a:prstGeom>
          <a:noFill/>
          <a:ln/>
        </p:spPr>
        <p:txBody>
          <a:bodyPr wrap="square" lIns="0" tIns="0" rIns="0" bIns="0" rtlCol="0" anchor="t"/>
          <a:lstStyle/>
          <a:p>
            <a:pPr algn="l" indent="0" marL="0">
              <a:buNone/>
            </a:pPr>
            <a:r>
              <a:rPr lang="en-US" sz="3400" b="1" dirty="0">
                <a:solidFill>
                  <a:schemeClr val="tx2"/>
                </a:solidFill>
              </a:rPr>
              <a:t>Three choices that shaped the design</a:t>
            </a:r>
            <a:endParaRPr lang="en-US" sz="3400" dirty="0"/>
          </a:p>
        </p:txBody>
      </p:sp>
      <p:sp>
        <p:nvSpPr>
          <p:cNvPr id="4" name="box-57"/>
          <p:cNvSpPr/>
          <p:nvPr/>
        </p:nvSpPr>
        <p:spPr>
          <a:xfrm>
            <a:off x="548640" y="1783080"/>
            <a:ext cx="11094415" cy="1280160"/>
          </a:xfrm>
          <a:prstGeom prst="roundRect">
            <a:avLst>
              <a:gd name="adj" fmla="val 5714"/>
            </a:avLst>
          </a:prstGeom>
          <a:solidFill>
            <a:schemeClr val="bg2"/>
          </a:solidFill>
          <a:ln w="12700">
            <a:solidFill>
              <a:schemeClr val="bg2"/>
            </a:solidFill>
            <a:prstDash val="solid"/>
          </a:ln>
        </p:spPr>
      </p:sp>
      <p:sp>
        <p:nvSpPr>
          <p:cNvPr id="5" name="circle-58"/>
          <p:cNvSpPr/>
          <p:nvPr/>
        </p:nvSpPr>
        <p:spPr>
          <a:xfrm>
            <a:off x="822960" y="2011680"/>
            <a:ext cx="822960" cy="822960"/>
          </a:xfrm>
          <a:prstGeom prst="ellipse">
            <a:avLst/>
          </a:prstGeom>
          <a:solidFill>
            <a:schemeClr val="accent1"/>
          </a:solidFill>
          <a:ln w="12700">
            <a:solidFill>
              <a:schemeClr val="accent1"/>
            </a:solidFill>
            <a:prstDash val="solid"/>
          </a:ln>
        </p:spPr>
      </p:sp>
      <p:pic>
        <p:nvPicPr>
          <p:cNvPr id="6" name="icon-59" descr="preencoded.png">    </p:cNvPr>
          <p:cNvPicPr>
            <a:picLocks noChangeAspect="1"/>
          </p:cNvPicPr>
          <p:nvPr/>
        </p:nvPicPr>
        <p:blipFill>
          <a:blip r:embed="rId1"/>
          <a:stretch>
            <a:fillRect/>
          </a:stretch>
        </p:blipFill>
        <p:spPr>
          <a:xfrm>
            <a:off x="1036930" y="2225650"/>
            <a:ext cx="395021" cy="395021"/>
          </a:xfrm>
          <a:prstGeom prst="rect">
            <a:avLst/>
          </a:prstGeom>
        </p:spPr>
      </p:pic>
      <p:sp>
        <p:nvSpPr>
          <p:cNvPr id="7" name="t-60"/>
          <p:cNvSpPr txBox="1"/>
          <p:nvPr/>
        </p:nvSpPr>
        <p:spPr>
          <a:xfrm>
            <a:off x="1874520" y="1947672"/>
            <a:ext cx="3749040" cy="96012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Peering for tenants, Shared VPC for us</a:t>
            </a:r>
            <a:endParaRPr lang="en-US" sz="2000" dirty="0"/>
          </a:p>
        </p:txBody>
      </p:sp>
      <p:sp>
        <p:nvSpPr>
          <p:cNvPr id="8" name="t-61"/>
          <p:cNvSpPr txBox="1"/>
          <p:nvPr/>
        </p:nvSpPr>
        <p:spPr>
          <a:xfrm>
            <a:off x="5760720" y="1947672"/>
            <a:ext cx="3657600" cy="960120"/>
          </a:xfrm>
          <a:prstGeom prst="rect">
            <a:avLst/>
          </a:prstGeom>
          <a:noFill/>
          <a:ln/>
        </p:spPr>
        <p:txBody>
          <a:bodyPr wrap="square" lIns="0" tIns="0" rIns="0" bIns="0" rtlCol="0" anchor="ctr"/>
          <a:lstStyle/>
          <a:p>
            <a:pPr indent="0" marL="0">
              <a:buNone/>
            </a:pPr>
            <a:r>
              <a:rPr lang="en-US" sz="1500" dirty="0">
                <a:solidFill>
                  <a:schemeClr val="tx1"/>
                </a:solidFill>
              </a:rPr>
              <a:t>Tenants are separate trust domains with their own projects; internal environments benefit from central control.</a:t>
            </a:r>
            <a:endParaRPr lang="en-US" sz="1500" dirty="0"/>
          </a:p>
        </p:txBody>
      </p:sp>
      <p:sp>
        <p:nvSpPr>
          <p:cNvPr id="9" name="t-62"/>
          <p:cNvSpPr txBox="1"/>
          <p:nvPr/>
        </p:nvSpPr>
        <p:spPr>
          <a:xfrm>
            <a:off x="9601200" y="1947672"/>
            <a:ext cx="1858975" cy="960120"/>
          </a:xfrm>
          <a:prstGeom prst="rect">
            <a:avLst/>
          </a:prstGeom>
          <a:noFill/>
          <a:ln/>
        </p:spPr>
        <p:txBody>
          <a:bodyPr wrap="square" lIns="0" tIns="0" rIns="0" bIns="0" rtlCol="0" anchor="ctr"/>
          <a:lstStyle/>
          <a:p>
            <a:pPr indent="0" marL="0">
              <a:buNone/>
            </a:pPr>
            <a:r>
              <a:rPr lang="en-US" sz="1400" i="1" dirty="0">
                <a:solidFill>
                  <a:schemeClr val="accent3"/>
                </a:solidFill>
              </a:rPr>
              <a:t>Trade-off: peering limits per VPC; at scale, Private Service Connect</a:t>
            </a:r>
            <a:endParaRPr lang="en-US" sz="1400" dirty="0"/>
          </a:p>
        </p:txBody>
      </p:sp>
      <p:sp>
        <p:nvSpPr>
          <p:cNvPr id="10" name="box-63"/>
          <p:cNvSpPr/>
          <p:nvPr/>
        </p:nvSpPr>
        <p:spPr>
          <a:xfrm>
            <a:off x="548640" y="3246120"/>
            <a:ext cx="11094415" cy="1280160"/>
          </a:xfrm>
          <a:prstGeom prst="roundRect">
            <a:avLst>
              <a:gd name="adj" fmla="val 5714"/>
            </a:avLst>
          </a:prstGeom>
          <a:solidFill>
            <a:schemeClr val="bg2"/>
          </a:solidFill>
          <a:ln w="12700">
            <a:solidFill>
              <a:schemeClr val="bg2"/>
            </a:solidFill>
            <a:prstDash val="solid"/>
          </a:ln>
        </p:spPr>
      </p:sp>
      <p:sp>
        <p:nvSpPr>
          <p:cNvPr id="11" name="circle-64"/>
          <p:cNvSpPr/>
          <p:nvPr/>
        </p:nvSpPr>
        <p:spPr>
          <a:xfrm>
            <a:off x="822960" y="3474720"/>
            <a:ext cx="822960" cy="822960"/>
          </a:xfrm>
          <a:prstGeom prst="ellipse">
            <a:avLst/>
          </a:prstGeom>
          <a:solidFill>
            <a:schemeClr val="accent3"/>
          </a:solidFill>
          <a:ln w="12700">
            <a:solidFill>
              <a:schemeClr val="accent3"/>
            </a:solidFill>
            <a:prstDash val="solid"/>
          </a:ln>
        </p:spPr>
      </p:sp>
      <p:pic>
        <p:nvPicPr>
          <p:cNvPr id="12" name="icon-65" descr="preencoded.png">    </p:cNvPr>
          <p:cNvPicPr>
            <a:picLocks noChangeAspect="1"/>
          </p:cNvPicPr>
          <p:nvPr/>
        </p:nvPicPr>
        <p:blipFill>
          <a:blip r:embed="rId2"/>
          <a:stretch>
            <a:fillRect/>
          </a:stretch>
        </p:blipFill>
        <p:spPr>
          <a:xfrm>
            <a:off x="1036930" y="3688690"/>
            <a:ext cx="395021" cy="395021"/>
          </a:xfrm>
          <a:prstGeom prst="rect">
            <a:avLst/>
          </a:prstGeom>
        </p:spPr>
      </p:pic>
      <p:sp>
        <p:nvSpPr>
          <p:cNvPr id="13" name="t-66"/>
          <p:cNvSpPr txBox="1"/>
          <p:nvPr/>
        </p:nvSpPr>
        <p:spPr>
          <a:xfrm>
            <a:off x="1874520" y="3410712"/>
            <a:ext cx="3749040" cy="96012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Every boundary enforced twice</a:t>
            </a:r>
            <a:endParaRPr lang="en-US" sz="2000" dirty="0"/>
          </a:p>
        </p:txBody>
      </p:sp>
      <p:sp>
        <p:nvSpPr>
          <p:cNvPr id="14" name="t-67"/>
          <p:cNvSpPr txBox="1"/>
          <p:nvPr/>
        </p:nvSpPr>
        <p:spPr>
          <a:xfrm>
            <a:off x="5760720" y="3410712"/>
            <a:ext cx="3657600" cy="960120"/>
          </a:xfrm>
          <a:prstGeom prst="rect">
            <a:avLst/>
          </a:prstGeom>
          <a:noFill/>
          <a:ln/>
        </p:spPr>
        <p:txBody>
          <a:bodyPr wrap="square" lIns="0" tIns="0" rIns="0" bIns="0" rtlCol="0" anchor="ctr"/>
          <a:lstStyle/>
          <a:p>
            <a:pPr indent="0" marL="0">
              <a:buNone/>
            </a:pPr>
            <a:r>
              <a:rPr lang="en-US" sz="1500" dirty="0">
                <a:solidFill>
                  <a:schemeClr val="tx1"/>
                </a:solidFill>
              </a:rPr>
              <a:t>Routing + firewall, VPC rule + org rule, IAM + network. One mistake can't open a path.</a:t>
            </a:r>
            <a:endParaRPr lang="en-US" sz="1500" dirty="0"/>
          </a:p>
        </p:txBody>
      </p:sp>
      <p:sp>
        <p:nvSpPr>
          <p:cNvPr id="15" name="t-68"/>
          <p:cNvSpPr txBox="1"/>
          <p:nvPr/>
        </p:nvSpPr>
        <p:spPr>
          <a:xfrm>
            <a:off x="9601200" y="3410712"/>
            <a:ext cx="1858975" cy="960120"/>
          </a:xfrm>
          <a:prstGeom prst="rect">
            <a:avLst/>
          </a:prstGeom>
          <a:noFill/>
          <a:ln/>
        </p:spPr>
        <p:txBody>
          <a:bodyPr wrap="square" lIns="0" tIns="0" rIns="0" bIns="0" rtlCol="0" anchor="ctr"/>
          <a:lstStyle/>
          <a:p>
            <a:pPr indent="0" marL="0">
              <a:buNone/>
            </a:pPr>
            <a:r>
              <a:rPr lang="en-US" sz="1400" i="1" dirty="0">
                <a:solidFill>
                  <a:schemeClr val="accent3"/>
                </a:solidFill>
              </a:rPr>
              <a:t>Seen in logs: a blocked path was stopped before the second layer was reached</a:t>
            </a:r>
            <a:endParaRPr lang="en-US" sz="1400" dirty="0"/>
          </a:p>
        </p:txBody>
      </p:sp>
      <p:sp>
        <p:nvSpPr>
          <p:cNvPr id="16" name="box-69"/>
          <p:cNvSpPr/>
          <p:nvPr/>
        </p:nvSpPr>
        <p:spPr>
          <a:xfrm>
            <a:off x="548640" y="4709160"/>
            <a:ext cx="11094415" cy="1280160"/>
          </a:xfrm>
          <a:prstGeom prst="roundRect">
            <a:avLst>
              <a:gd name="adj" fmla="val 5714"/>
            </a:avLst>
          </a:prstGeom>
          <a:solidFill>
            <a:schemeClr val="bg2"/>
          </a:solidFill>
          <a:ln w="12700">
            <a:solidFill>
              <a:schemeClr val="bg2"/>
            </a:solidFill>
            <a:prstDash val="solid"/>
          </a:ln>
        </p:spPr>
      </p:sp>
      <p:sp>
        <p:nvSpPr>
          <p:cNvPr id="17" name="circle-70"/>
          <p:cNvSpPr/>
          <p:nvPr/>
        </p:nvSpPr>
        <p:spPr>
          <a:xfrm>
            <a:off x="822960" y="4937760"/>
            <a:ext cx="822960" cy="822960"/>
          </a:xfrm>
          <a:prstGeom prst="ellipse">
            <a:avLst/>
          </a:prstGeom>
          <a:solidFill>
            <a:schemeClr val="accent2"/>
          </a:solidFill>
          <a:ln w="12700">
            <a:solidFill>
              <a:schemeClr val="accent2"/>
            </a:solidFill>
            <a:prstDash val="solid"/>
          </a:ln>
        </p:spPr>
      </p:sp>
      <p:pic>
        <p:nvPicPr>
          <p:cNvPr id="18" name="icon-71" descr="preencoded.png">    </p:cNvPr>
          <p:cNvPicPr>
            <a:picLocks noChangeAspect="1"/>
          </p:cNvPicPr>
          <p:nvPr/>
        </p:nvPicPr>
        <p:blipFill>
          <a:blip r:embed="rId3"/>
          <a:stretch>
            <a:fillRect/>
          </a:stretch>
        </p:blipFill>
        <p:spPr>
          <a:xfrm>
            <a:off x="1036930" y="5151730"/>
            <a:ext cx="395021" cy="395021"/>
          </a:xfrm>
          <a:prstGeom prst="rect">
            <a:avLst/>
          </a:prstGeom>
        </p:spPr>
      </p:pic>
      <p:sp>
        <p:nvSpPr>
          <p:cNvPr id="19" name="t-72"/>
          <p:cNvSpPr txBox="1"/>
          <p:nvPr/>
        </p:nvSpPr>
        <p:spPr>
          <a:xfrm>
            <a:off x="1874520" y="4873752"/>
            <a:ext cx="3749040" cy="96012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Keyless by default</a:t>
            </a:r>
            <a:endParaRPr lang="en-US" sz="2000" dirty="0"/>
          </a:p>
        </p:txBody>
      </p:sp>
      <p:sp>
        <p:nvSpPr>
          <p:cNvPr id="20" name="t-73"/>
          <p:cNvSpPr txBox="1"/>
          <p:nvPr/>
        </p:nvSpPr>
        <p:spPr>
          <a:xfrm>
            <a:off x="5760720" y="4873752"/>
            <a:ext cx="3657600" cy="960120"/>
          </a:xfrm>
          <a:prstGeom prst="rect">
            <a:avLst/>
          </a:prstGeom>
          <a:noFill/>
          <a:ln/>
        </p:spPr>
        <p:txBody>
          <a:bodyPr wrap="square" lIns="0" tIns="0" rIns="0" bIns="0" rtlCol="0" anchor="ctr"/>
          <a:lstStyle/>
          <a:p>
            <a:pPr indent="0" marL="0">
              <a:buNone/>
            </a:pPr>
            <a:r>
              <a:rPr lang="en-US" sz="1500" dirty="0">
                <a:solidFill>
                  <a:schemeClr val="tx1"/>
                </a:solidFill>
              </a:rPr>
              <a:t>Humans and CI impersonate one Terraform service account; CI uses Workload Identity Federation; key creation blocked org-wide.</a:t>
            </a:r>
            <a:endParaRPr lang="en-US" sz="1500" dirty="0"/>
          </a:p>
        </p:txBody>
      </p:sp>
      <p:sp>
        <p:nvSpPr>
          <p:cNvPr id="21" name="t-74"/>
          <p:cNvSpPr txBox="1"/>
          <p:nvPr/>
        </p:nvSpPr>
        <p:spPr>
          <a:xfrm>
            <a:off x="9601200" y="4873752"/>
            <a:ext cx="1858975" cy="960120"/>
          </a:xfrm>
          <a:prstGeom prst="rect">
            <a:avLst/>
          </a:prstGeom>
          <a:noFill/>
          <a:ln/>
        </p:spPr>
        <p:txBody>
          <a:bodyPr wrap="square" lIns="0" tIns="0" rIns="0" bIns="0" rtlCol="0" anchor="ctr"/>
          <a:lstStyle/>
          <a:p>
            <a:pPr indent="0" marL="0">
              <a:buNone/>
            </a:pPr>
            <a:r>
              <a:rPr lang="en-US" sz="1400" i="1" dirty="0">
                <a:solidFill>
                  <a:schemeClr val="accent3"/>
                </a:solidFill>
              </a:rPr>
              <a:t>Nothing long-lived to leak or rotate</a:t>
            </a:r>
            <a:endParaRPr lang="en-US" sz="14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75"/>
          <p:cNvSpPr txBox="1"/>
          <p:nvPr/>
        </p:nvSpPr>
        <p:spPr>
          <a:xfrm>
            <a:off x="548640" y="228600"/>
            <a:ext cx="11094415"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PROVING RECOVERY</a:t>
            </a:r>
            <a:endParaRPr lang="en-US" sz="1200" dirty="0"/>
          </a:p>
        </p:txBody>
      </p:sp>
      <p:sp>
        <p:nvSpPr>
          <p:cNvPr id="3" name="Text 0"/>
          <p:cNvSpPr/>
          <p:nvPr>
            <p:ph idx="100" type="title" hasCustomPrompt="1"/>
          </p:nvPr>
        </p:nvSpPr>
        <p:spPr>
          <a:xfrm>
            <a:off x="548640" y="502920"/>
            <a:ext cx="11094415" cy="914400"/>
          </a:xfrm>
          <a:prstGeom prst="rect">
            <a:avLst/>
          </a:prstGeom>
          <a:noFill/>
          <a:ln/>
        </p:spPr>
        <p:txBody>
          <a:bodyPr wrap="square" lIns="0" tIns="0" rIns="0" bIns="0" rtlCol="0" anchor="t"/>
          <a:lstStyle/>
          <a:p>
            <a:pPr algn="l" indent="0" marL="0">
              <a:buNone/>
            </a:pPr>
            <a:r>
              <a:rPr lang="en-US" sz="3400" b="1" dirty="0">
                <a:solidFill>
                  <a:schemeClr val="bg1"/>
                </a:solidFill>
              </a:rPr>
              <a:t>A recovery drill: break it on purpose, time the fix</a:t>
            </a:r>
            <a:endParaRPr lang="en-US" sz="3400" dirty="0"/>
          </a:p>
        </p:txBody>
      </p:sp>
      <p:sp>
        <p:nvSpPr>
          <p:cNvPr id="4" name="box-76"/>
          <p:cNvSpPr/>
          <p:nvPr/>
        </p:nvSpPr>
        <p:spPr>
          <a:xfrm>
            <a:off x="548640" y="1965960"/>
            <a:ext cx="1965960" cy="3566160"/>
          </a:xfrm>
          <a:prstGeom prst="roundRect">
            <a:avLst>
              <a:gd name="adj" fmla="val 3721"/>
            </a:avLst>
          </a:prstGeom>
          <a:solidFill>
            <a:srgbClr val="1B3A5C"/>
          </a:solidFill>
          <a:ln w="12700">
            <a:solidFill>
              <a:srgbClr val="1B3A5C"/>
            </a:solidFill>
            <a:prstDash val="solid"/>
          </a:ln>
        </p:spPr>
      </p:sp>
      <p:sp>
        <p:nvSpPr>
          <p:cNvPr id="5" name="circle-77"/>
          <p:cNvSpPr/>
          <p:nvPr/>
        </p:nvSpPr>
        <p:spPr>
          <a:xfrm>
            <a:off x="777240" y="2240280"/>
            <a:ext cx="731520" cy="731520"/>
          </a:xfrm>
          <a:prstGeom prst="ellipse">
            <a:avLst/>
          </a:prstGeom>
          <a:solidFill>
            <a:schemeClr val="accent5"/>
          </a:solidFill>
          <a:ln w="12700">
            <a:solidFill>
              <a:schemeClr val="accent5"/>
            </a:solidFill>
            <a:prstDash val="solid"/>
          </a:ln>
        </p:spPr>
      </p:sp>
      <p:pic>
        <p:nvPicPr>
          <p:cNvPr id="6" name="icon-78" descr="preencoded.png">    </p:cNvPr>
          <p:cNvPicPr>
            <a:picLocks noChangeAspect="1"/>
          </p:cNvPicPr>
          <p:nvPr/>
        </p:nvPicPr>
        <p:blipFill>
          <a:blip r:embed="rId1"/>
          <a:stretch>
            <a:fillRect/>
          </a:stretch>
        </p:blipFill>
        <p:spPr>
          <a:xfrm>
            <a:off x="967435" y="2430475"/>
            <a:ext cx="351130" cy="351130"/>
          </a:xfrm>
          <a:prstGeom prst="rect">
            <a:avLst/>
          </a:prstGeom>
        </p:spPr>
      </p:pic>
      <p:sp>
        <p:nvSpPr>
          <p:cNvPr id="7" name="t-79"/>
          <p:cNvSpPr txBox="1"/>
          <p:nvPr/>
        </p:nvSpPr>
        <p:spPr>
          <a:xfrm>
            <a:off x="777240" y="3154680"/>
            <a:ext cx="1508760" cy="4572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Incident</a:t>
            </a:r>
            <a:endParaRPr lang="en-US" sz="2000" dirty="0"/>
          </a:p>
        </p:txBody>
      </p:sp>
      <p:sp>
        <p:nvSpPr>
          <p:cNvPr id="8" name="t-80"/>
          <p:cNvSpPr txBox="1"/>
          <p:nvPr/>
        </p:nvSpPr>
        <p:spPr>
          <a:xfrm>
            <a:off x="777240" y="3657600"/>
            <a:ext cx="1508760" cy="1737360"/>
          </a:xfrm>
          <a:prstGeom prst="rect">
            <a:avLst/>
          </a:prstGeom>
          <a:noFill/>
          <a:ln/>
        </p:spPr>
        <p:txBody>
          <a:bodyPr wrap="square" lIns="0" tIns="0" rIns="0" bIns="0" rtlCol="0" anchor="t"/>
          <a:lstStyle/>
          <a:p>
            <a:pPr indent="0" marL="0">
              <a:buNone/>
            </a:pPr>
            <a:r>
              <a:rPr lang="en-US" sz="1500" dirty="0">
                <a:solidFill>
                  <a:schemeClr val="bg2"/>
                </a:solidFill>
              </a:rPr>
              <a:t>Deleted a tenant's firewall rule; shared services → tenant went OPEN → BLOCKED</a:t>
            </a:r>
            <a:endParaRPr lang="en-US" sz="1500" dirty="0"/>
          </a:p>
        </p:txBody>
      </p:sp>
      <p:sp>
        <p:nvSpPr>
          <p:cNvPr id="9" name="arrow-81"/>
          <p:cNvSpPr/>
          <p:nvPr/>
        </p:nvSpPr>
        <p:spPr>
          <a:xfrm>
            <a:off x="2560320" y="3611880"/>
            <a:ext cx="228600" cy="274320"/>
          </a:xfrm>
          <a:prstGeom prst="rightArrow">
            <a:avLst/>
          </a:prstGeom>
          <a:solidFill>
            <a:schemeClr val="accent2"/>
          </a:solidFill>
          <a:ln w="12700">
            <a:solidFill>
              <a:schemeClr val="accent2"/>
            </a:solidFill>
            <a:prstDash val="solid"/>
          </a:ln>
        </p:spPr>
      </p:sp>
      <p:sp>
        <p:nvSpPr>
          <p:cNvPr id="10" name="box-82"/>
          <p:cNvSpPr/>
          <p:nvPr/>
        </p:nvSpPr>
        <p:spPr>
          <a:xfrm>
            <a:off x="2834640" y="1965960"/>
            <a:ext cx="1965960" cy="3566160"/>
          </a:xfrm>
          <a:prstGeom prst="roundRect">
            <a:avLst>
              <a:gd name="adj" fmla="val 3721"/>
            </a:avLst>
          </a:prstGeom>
          <a:solidFill>
            <a:srgbClr val="1B3A5C"/>
          </a:solidFill>
          <a:ln w="12700">
            <a:solidFill>
              <a:srgbClr val="1B3A5C"/>
            </a:solidFill>
            <a:prstDash val="solid"/>
          </a:ln>
        </p:spPr>
      </p:sp>
      <p:sp>
        <p:nvSpPr>
          <p:cNvPr id="11" name="circle-83"/>
          <p:cNvSpPr/>
          <p:nvPr/>
        </p:nvSpPr>
        <p:spPr>
          <a:xfrm>
            <a:off x="3063240" y="2240280"/>
            <a:ext cx="731520" cy="731520"/>
          </a:xfrm>
          <a:prstGeom prst="ellipse">
            <a:avLst/>
          </a:prstGeom>
          <a:solidFill>
            <a:schemeClr val="accent2"/>
          </a:solidFill>
          <a:ln w="12700">
            <a:solidFill>
              <a:schemeClr val="accent2"/>
            </a:solidFill>
            <a:prstDash val="solid"/>
          </a:ln>
        </p:spPr>
      </p:sp>
      <p:pic>
        <p:nvPicPr>
          <p:cNvPr id="12" name="icon-84" descr="preencoded.png">    </p:cNvPr>
          <p:cNvPicPr>
            <a:picLocks noChangeAspect="1"/>
          </p:cNvPicPr>
          <p:nvPr/>
        </p:nvPicPr>
        <p:blipFill>
          <a:blip r:embed="rId2"/>
          <a:stretch>
            <a:fillRect/>
          </a:stretch>
        </p:blipFill>
        <p:spPr>
          <a:xfrm>
            <a:off x="3253435" y="2430475"/>
            <a:ext cx="351130" cy="351130"/>
          </a:xfrm>
          <a:prstGeom prst="rect">
            <a:avLst/>
          </a:prstGeom>
        </p:spPr>
      </p:pic>
      <p:sp>
        <p:nvSpPr>
          <p:cNvPr id="13" name="t-85"/>
          <p:cNvSpPr txBox="1"/>
          <p:nvPr/>
        </p:nvSpPr>
        <p:spPr>
          <a:xfrm>
            <a:off x="3063240" y="3154680"/>
            <a:ext cx="1508760" cy="4572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Detect</a:t>
            </a:r>
            <a:endParaRPr lang="en-US" sz="2000" dirty="0"/>
          </a:p>
        </p:txBody>
      </p:sp>
      <p:sp>
        <p:nvSpPr>
          <p:cNvPr id="14" name="t-86"/>
          <p:cNvSpPr txBox="1"/>
          <p:nvPr/>
        </p:nvSpPr>
        <p:spPr>
          <a:xfrm>
            <a:off x="3063240" y="3657600"/>
            <a:ext cx="1508760" cy="1737360"/>
          </a:xfrm>
          <a:prstGeom prst="rect">
            <a:avLst/>
          </a:prstGeom>
          <a:noFill/>
          <a:ln/>
        </p:spPr>
        <p:txBody>
          <a:bodyPr wrap="square" lIns="0" tIns="0" rIns="0" bIns="0" rtlCol="0" anchor="t"/>
          <a:lstStyle/>
          <a:p>
            <a:pPr indent="0" marL="0">
              <a:buNone/>
            </a:pPr>
            <a:r>
              <a:rPr lang="en-US" sz="1500" dirty="0">
                <a:solidFill>
                  <a:schemeClr val="bg2"/>
                </a:solidFill>
              </a:rPr>
              <a:t>Alert: 'change made outside Terraform', with who did it and which API call</a:t>
            </a:r>
            <a:endParaRPr lang="en-US" sz="1500" dirty="0"/>
          </a:p>
        </p:txBody>
      </p:sp>
      <p:sp>
        <p:nvSpPr>
          <p:cNvPr id="15" name="arrow-87"/>
          <p:cNvSpPr/>
          <p:nvPr/>
        </p:nvSpPr>
        <p:spPr>
          <a:xfrm>
            <a:off x="4846320" y="3611880"/>
            <a:ext cx="228600" cy="274320"/>
          </a:xfrm>
          <a:prstGeom prst="rightArrow">
            <a:avLst/>
          </a:prstGeom>
          <a:solidFill>
            <a:schemeClr val="accent2"/>
          </a:solidFill>
          <a:ln w="12700">
            <a:solidFill>
              <a:schemeClr val="accent2"/>
            </a:solidFill>
            <a:prstDash val="solid"/>
          </a:ln>
        </p:spPr>
      </p:sp>
      <p:sp>
        <p:nvSpPr>
          <p:cNvPr id="16" name="box-88"/>
          <p:cNvSpPr/>
          <p:nvPr/>
        </p:nvSpPr>
        <p:spPr>
          <a:xfrm>
            <a:off x="5120640" y="1965960"/>
            <a:ext cx="1965960" cy="3566160"/>
          </a:xfrm>
          <a:prstGeom prst="roundRect">
            <a:avLst>
              <a:gd name="adj" fmla="val 3721"/>
            </a:avLst>
          </a:prstGeom>
          <a:solidFill>
            <a:srgbClr val="1B3A5C"/>
          </a:solidFill>
          <a:ln w="12700">
            <a:solidFill>
              <a:srgbClr val="1B3A5C"/>
            </a:solidFill>
            <a:prstDash val="solid"/>
          </a:ln>
        </p:spPr>
      </p:sp>
      <p:sp>
        <p:nvSpPr>
          <p:cNvPr id="17" name="circle-89"/>
          <p:cNvSpPr/>
          <p:nvPr/>
        </p:nvSpPr>
        <p:spPr>
          <a:xfrm>
            <a:off x="5349240" y="2240280"/>
            <a:ext cx="731520" cy="731520"/>
          </a:xfrm>
          <a:prstGeom prst="ellipse">
            <a:avLst/>
          </a:prstGeom>
          <a:solidFill>
            <a:schemeClr val="accent3"/>
          </a:solidFill>
          <a:ln w="12700">
            <a:solidFill>
              <a:schemeClr val="accent3"/>
            </a:solidFill>
            <a:prstDash val="solid"/>
          </a:ln>
        </p:spPr>
      </p:sp>
      <p:pic>
        <p:nvPicPr>
          <p:cNvPr id="18" name="icon-90" descr="preencoded.png">    </p:cNvPr>
          <p:cNvPicPr>
            <a:picLocks noChangeAspect="1"/>
          </p:cNvPicPr>
          <p:nvPr/>
        </p:nvPicPr>
        <p:blipFill>
          <a:blip r:embed="rId3"/>
          <a:stretch>
            <a:fillRect/>
          </a:stretch>
        </p:blipFill>
        <p:spPr>
          <a:xfrm>
            <a:off x="5539435" y="2430475"/>
            <a:ext cx="351130" cy="351130"/>
          </a:xfrm>
          <a:prstGeom prst="rect">
            <a:avLst/>
          </a:prstGeom>
        </p:spPr>
      </p:pic>
      <p:sp>
        <p:nvSpPr>
          <p:cNvPr id="19" name="t-91"/>
          <p:cNvSpPr txBox="1"/>
          <p:nvPr/>
        </p:nvSpPr>
        <p:spPr>
          <a:xfrm>
            <a:off x="5349240" y="3154680"/>
            <a:ext cx="1508760" cy="4572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Diagnose</a:t>
            </a:r>
            <a:endParaRPr lang="en-US" sz="2000" dirty="0"/>
          </a:p>
        </p:txBody>
      </p:sp>
      <p:sp>
        <p:nvSpPr>
          <p:cNvPr id="20" name="t-92"/>
          <p:cNvSpPr txBox="1"/>
          <p:nvPr/>
        </p:nvSpPr>
        <p:spPr>
          <a:xfrm>
            <a:off x="5349240" y="3657600"/>
            <a:ext cx="1508760" cy="1737360"/>
          </a:xfrm>
          <a:prstGeom prst="rect">
            <a:avLst/>
          </a:prstGeom>
          <a:noFill/>
          <a:ln/>
        </p:spPr>
        <p:txBody>
          <a:bodyPr wrap="square" lIns="0" tIns="0" rIns="0" bIns="0" rtlCol="0" anchor="t"/>
          <a:lstStyle/>
          <a:p>
            <a:pPr indent="0" marL="0">
              <a:buNone/>
            </a:pPr>
            <a:r>
              <a:rPr lang="en-US" sz="1500" dirty="0">
                <a:solidFill>
                  <a:schemeClr val="bg2"/>
                </a:solidFill>
              </a:rPr>
              <a:t>Config backup diff showed exactly which rule was missing</a:t>
            </a:r>
            <a:endParaRPr lang="en-US" sz="1500" dirty="0"/>
          </a:p>
        </p:txBody>
      </p:sp>
      <p:sp>
        <p:nvSpPr>
          <p:cNvPr id="21" name="arrow-93"/>
          <p:cNvSpPr/>
          <p:nvPr/>
        </p:nvSpPr>
        <p:spPr>
          <a:xfrm>
            <a:off x="7132320" y="3611880"/>
            <a:ext cx="228600" cy="274320"/>
          </a:xfrm>
          <a:prstGeom prst="rightArrow">
            <a:avLst/>
          </a:prstGeom>
          <a:solidFill>
            <a:schemeClr val="accent2"/>
          </a:solidFill>
          <a:ln w="12700">
            <a:solidFill>
              <a:schemeClr val="accent2"/>
            </a:solidFill>
            <a:prstDash val="solid"/>
          </a:ln>
        </p:spPr>
      </p:sp>
      <p:sp>
        <p:nvSpPr>
          <p:cNvPr id="22" name="box-94"/>
          <p:cNvSpPr/>
          <p:nvPr/>
        </p:nvSpPr>
        <p:spPr>
          <a:xfrm>
            <a:off x="7406640" y="1965960"/>
            <a:ext cx="1965960" cy="3566160"/>
          </a:xfrm>
          <a:prstGeom prst="roundRect">
            <a:avLst>
              <a:gd name="adj" fmla="val 3721"/>
            </a:avLst>
          </a:prstGeom>
          <a:solidFill>
            <a:srgbClr val="1B3A5C"/>
          </a:solidFill>
          <a:ln w="12700">
            <a:solidFill>
              <a:srgbClr val="1B3A5C"/>
            </a:solidFill>
            <a:prstDash val="solid"/>
          </a:ln>
        </p:spPr>
      </p:sp>
      <p:sp>
        <p:nvSpPr>
          <p:cNvPr id="23" name="circle-95"/>
          <p:cNvSpPr/>
          <p:nvPr/>
        </p:nvSpPr>
        <p:spPr>
          <a:xfrm>
            <a:off x="7635240" y="2240280"/>
            <a:ext cx="731520" cy="731520"/>
          </a:xfrm>
          <a:prstGeom prst="ellipse">
            <a:avLst/>
          </a:prstGeom>
          <a:solidFill>
            <a:schemeClr val="accent1"/>
          </a:solidFill>
          <a:ln w="12700">
            <a:solidFill>
              <a:schemeClr val="accent1"/>
            </a:solidFill>
            <a:prstDash val="solid"/>
          </a:ln>
        </p:spPr>
      </p:sp>
      <p:pic>
        <p:nvPicPr>
          <p:cNvPr id="24" name="icon-96" descr="preencoded.png">    </p:cNvPr>
          <p:cNvPicPr>
            <a:picLocks noChangeAspect="1"/>
          </p:cNvPicPr>
          <p:nvPr/>
        </p:nvPicPr>
        <p:blipFill>
          <a:blip r:embed="rId4"/>
          <a:stretch>
            <a:fillRect/>
          </a:stretch>
        </p:blipFill>
        <p:spPr>
          <a:xfrm>
            <a:off x="7825435" y="2430475"/>
            <a:ext cx="351130" cy="351130"/>
          </a:xfrm>
          <a:prstGeom prst="rect">
            <a:avLst/>
          </a:prstGeom>
        </p:spPr>
      </p:pic>
      <p:sp>
        <p:nvSpPr>
          <p:cNvPr id="25" name="t-97"/>
          <p:cNvSpPr txBox="1"/>
          <p:nvPr/>
        </p:nvSpPr>
        <p:spPr>
          <a:xfrm>
            <a:off x="7635240" y="3154680"/>
            <a:ext cx="1508760" cy="4572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Recover</a:t>
            </a:r>
            <a:endParaRPr lang="en-US" sz="2000" dirty="0"/>
          </a:p>
        </p:txBody>
      </p:sp>
      <p:sp>
        <p:nvSpPr>
          <p:cNvPr id="26" name="t-98"/>
          <p:cNvSpPr txBox="1"/>
          <p:nvPr/>
        </p:nvSpPr>
        <p:spPr>
          <a:xfrm>
            <a:off x="7635240" y="3657600"/>
            <a:ext cx="1508760" cy="1737360"/>
          </a:xfrm>
          <a:prstGeom prst="rect">
            <a:avLst/>
          </a:prstGeom>
          <a:noFill/>
          <a:ln/>
        </p:spPr>
        <p:txBody>
          <a:bodyPr wrap="square" lIns="0" tIns="0" rIns="0" bIns="0" rtlCol="0" anchor="t"/>
          <a:lstStyle/>
          <a:p>
            <a:pPr indent="0" marL="0">
              <a:buNone/>
            </a:pPr>
            <a:r>
              <a:rPr lang="en-US" sz="1500" dirty="0">
                <a:solidFill>
                  <a:schemeClr val="bg2"/>
                </a:solidFill>
              </a:rPr>
              <a:t>terraform plan: 1 to add → apply → traffic OPEN again</a:t>
            </a:r>
            <a:endParaRPr lang="en-US" sz="1500" dirty="0"/>
          </a:p>
        </p:txBody>
      </p:sp>
      <p:sp>
        <p:nvSpPr>
          <p:cNvPr id="27" name="box-99"/>
          <p:cNvSpPr/>
          <p:nvPr/>
        </p:nvSpPr>
        <p:spPr>
          <a:xfrm>
            <a:off x="9646920" y="1965960"/>
            <a:ext cx="1996135" cy="3566160"/>
          </a:xfrm>
          <a:prstGeom prst="roundRect">
            <a:avLst>
              <a:gd name="adj" fmla="val 3665"/>
            </a:avLst>
          </a:prstGeom>
          <a:solidFill>
            <a:schemeClr val="accent2"/>
          </a:solidFill>
          <a:ln w="12700">
            <a:solidFill>
              <a:schemeClr val="accent2"/>
            </a:solidFill>
            <a:prstDash val="solid"/>
          </a:ln>
        </p:spPr>
      </p:sp>
      <p:sp>
        <p:nvSpPr>
          <p:cNvPr id="28" name="t-100"/>
          <p:cNvSpPr txBox="1"/>
          <p:nvPr/>
        </p:nvSpPr>
        <p:spPr>
          <a:xfrm>
            <a:off x="9646920" y="2514600"/>
            <a:ext cx="1996135" cy="1188720"/>
          </a:xfrm>
          <a:prstGeom prst="rect">
            <a:avLst/>
          </a:prstGeom>
          <a:noFill/>
          <a:ln/>
        </p:spPr>
        <p:txBody>
          <a:bodyPr wrap="square" lIns="0" tIns="0" rIns="0" bIns="0" rtlCol="0" anchor="ctr"/>
          <a:lstStyle/>
          <a:p>
            <a:pPr algn="ctr" indent="0" marL="0">
              <a:buNone/>
            </a:pPr>
            <a:r>
              <a:rPr lang="en-US" sz="6400" b="1" dirty="0">
                <a:solidFill>
                  <a:schemeClr val="tx2"/>
                </a:solidFill>
              </a:rPr>
              <a:t>249 s</a:t>
            </a:r>
            <a:endParaRPr lang="en-US" sz="6400" dirty="0"/>
          </a:p>
        </p:txBody>
      </p:sp>
      <p:sp>
        <p:nvSpPr>
          <p:cNvPr id="29" name="t-101"/>
          <p:cNvSpPr txBox="1"/>
          <p:nvPr/>
        </p:nvSpPr>
        <p:spPr>
          <a:xfrm>
            <a:off x="9829800" y="3794760"/>
            <a:ext cx="1630375" cy="914400"/>
          </a:xfrm>
          <a:prstGeom prst="rect">
            <a:avLst/>
          </a:prstGeom>
          <a:noFill/>
          <a:ln/>
        </p:spPr>
        <p:txBody>
          <a:bodyPr wrap="square" lIns="0" tIns="0" rIns="0" bIns="0" rtlCol="0" anchor="t"/>
          <a:lstStyle/>
          <a:p>
            <a:pPr algn="ctr" indent="0" marL="0">
              <a:buNone/>
            </a:pPr>
            <a:r>
              <a:rPr lang="en-US" sz="1600" b="1" dirty="0">
                <a:solidFill>
                  <a:schemeClr val="tx2"/>
                </a:solidFill>
              </a:rPr>
              <a:t>recovery time</a:t>
            </a:r>
            <a:endParaRPr lang="en-US" sz="1600" dirty="0"/>
          </a:p>
          <a:p>
            <a:pPr algn="ctr" indent="0" marL="0">
              <a:buNone/>
            </a:pPr>
            <a:r>
              <a:rPr lang="en-US" sz="1600" b="1" dirty="0">
                <a:solidFill>
                  <a:schemeClr val="tx2"/>
                </a:solidFill>
              </a:rPr>
              <a:t>(target &lt; 15 min)</a:t>
            </a:r>
            <a:endParaRPr lang="en-US" sz="1600" dirty="0"/>
          </a:p>
        </p:txBody>
      </p:sp>
      <p:sp>
        <p:nvSpPr>
          <p:cNvPr id="30" name="t-102"/>
          <p:cNvSpPr txBox="1"/>
          <p:nvPr/>
        </p:nvSpPr>
        <p:spPr>
          <a:xfrm>
            <a:off x="548640" y="5760720"/>
            <a:ext cx="11094415" cy="502920"/>
          </a:xfrm>
          <a:prstGeom prst="rect">
            <a:avLst/>
          </a:prstGeom>
          <a:noFill/>
          <a:ln/>
        </p:spPr>
        <p:txBody>
          <a:bodyPr wrap="square" lIns="0" tIns="0" rIns="0" bIns="0" rtlCol="0" anchor="ctr"/>
          <a:lstStyle/>
          <a:p>
            <a:pPr indent="0" marL="0">
              <a:buNone/>
            </a:pPr>
            <a:r>
              <a:rPr lang="en-US" sz="1500" i="1" dirty="0">
                <a:solidFill>
                  <a:schemeClr val="bg2"/>
                </a:solidFill>
              </a:rPr>
              <a:t>Built to support it: daily config backups stored in the DR region, plan-time guardrails, and a pilot-light us-east1 region that passed 8/8 readiness tests.</a:t>
            </a:r>
            <a:endParaRPr lang="en-US" sz="15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103"/>
          <p:cNvSpPr txBox="1"/>
          <p:nvPr/>
        </p:nvSpPr>
        <p:spPr>
          <a:xfrm>
            <a:off x="548640" y="228600"/>
            <a:ext cx="11094415"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RESULTS</a:t>
            </a:r>
            <a:endParaRPr lang="en-US" sz="1200" dirty="0"/>
          </a:p>
        </p:txBody>
      </p:sp>
      <p:sp>
        <p:nvSpPr>
          <p:cNvPr id="3" name="Text 0"/>
          <p:cNvSpPr/>
          <p:nvPr>
            <p:ph idx="100" type="title" hasCustomPrompt="1"/>
          </p:nvPr>
        </p:nvSpPr>
        <p:spPr>
          <a:xfrm>
            <a:off x="548640" y="502920"/>
            <a:ext cx="11094415" cy="914400"/>
          </a:xfrm>
          <a:prstGeom prst="rect">
            <a:avLst/>
          </a:prstGeom>
          <a:noFill/>
          <a:ln/>
        </p:spPr>
        <p:txBody>
          <a:bodyPr wrap="square" lIns="0" tIns="0" rIns="0" bIns="0" rtlCol="0" anchor="t"/>
          <a:lstStyle/>
          <a:p>
            <a:pPr algn="l" indent="0" marL="0">
              <a:buNone/>
            </a:pPr>
            <a:r>
              <a:rPr lang="en-US" sz="3400" b="1" dirty="0">
                <a:solidFill>
                  <a:schemeClr val="tx2"/>
                </a:solidFill>
              </a:rPr>
              <a:t>Every claim is backed by a test or a measurement</a:t>
            </a:r>
            <a:endParaRPr lang="en-US" sz="3400" dirty="0"/>
          </a:p>
        </p:txBody>
      </p:sp>
      <p:sp>
        <p:nvSpPr>
          <p:cNvPr id="4" name="box-104"/>
          <p:cNvSpPr/>
          <p:nvPr/>
        </p:nvSpPr>
        <p:spPr>
          <a:xfrm>
            <a:off x="548640" y="1783080"/>
            <a:ext cx="2567864" cy="2468880"/>
          </a:xfrm>
          <a:prstGeom prst="roundRect">
            <a:avLst>
              <a:gd name="adj" fmla="val 2963"/>
            </a:avLst>
          </a:prstGeom>
          <a:solidFill>
            <a:schemeClr val="tx2"/>
          </a:solidFill>
          <a:ln w="12700">
            <a:solidFill>
              <a:schemeClr val="tx2"/>
            </a:solidFill>
            <a:prstDash val="solid"/>
          </a:ln>
        </p:spPr>
      </p:sp>
      <p:sp>
        <p:nvSpPr>
          <p:cNvPr id="5" name="t-105"/>
          <p:cNvSpPr txBox="1"/>
          <p:nvPr/>
        </p:nvSpPr>
        <p:spPr>
          <a:xfrm>
            <a:off x="548640" y="1965960"/>
            <a:ext cx="2567864" cy="1188720"/>
          </a:xfrm>
          <a:prstGeom prst="rect">
            <a:avLst/>
          </a:prstGeom>
          <a:noFill/>
          <a:ln/>
        </p:spPr>
        <p:txBody>
          <a:bodyPr wrap="square" lIns="0" tIns="0" rIns="0" bIns="0" rtlCol="0" anchor="ctr"/>
          <a:lstStyle/>
          <a:p>
            <a:pPr algn="ctr" indent="0" marL="0">
              <a:buNone/>
            </a:pPr>
            <a:r>
              <a:rPr lang="en-US" sz="5800" b="1" dirty="0">
                <a:solidFill>
                  <a:schemeClr val="accent2"/>
                </a:solidFill>
              </a:rPr>
              <a:t>47/47</a:t>
            </a:r>
            <a:endParaRPr lang="en-US" sz="5800" dirty="0"/>
          </a:p>
        </p:txBody>
      </p:sp>
      <p:sp>
        <p:nvSpPr>
          <p:cNvPr id="6" name="t-106"/>
          <p:cNvSpPr txBox="1"/>
          <p:nvPr/>
        </p:nvSpPr>
        <p:spPr>
          <a:xfrm>
            <a:off x="777240" y="3200400"/>
            <a:ext cx="2110664" cy="914400"/>
          </a:xfrm>
          <a:prstGeom prst="rect">
            <a:avLst/>
          </a:prstGeom>
          <a:noFill/>
          <a:ln/>
        </p:spPr>
        <p:txBody>
          <a:bodyPr wrap="square" lIns="0" tIns="0" rIns="0" bIns="0" rtlCol="0" anchor="t"/>
          <a:lstStyle/>
          <a:p>
            <a:pPr algn="ctr" indent="0" marL="0">
              <a:buNone/>
            </a:pPr>
            <a:r>
              <a:rPr lang="en-US" sz="1600" dirty="0">
                <a:solidFill>
                  <a:schemeClr val="bg1"/>
                </a:solidFill>
              </a:rPr>
              <a:t>Automated network tests passed across 5 suites</a:t>
            </a:r>
            <a:endParaRPr lang="en-US" sz="1600" dirty="0"/>
          </a:p>
        </p:txBody>
      </p:sp>
      <p:sp>
        <p:nvSpPr>
          <p:cNvPr id="7" name="box-107"/>
          <p:cNvSpPr/>
          <p:nvPr/>
        </p:nvSpPr>
        <p:spPr>
          <a:xfrm>
            <a:off x="3390824" y="1783080"/>
            <a:ext cx="2567864" cy="2468880"/>
          </a:xfrm>
          <a:prstGeom prst="roundRect">
            <a:avLst>
              <a:gd name="adj" fmla="val 2963"/>
            </a:avLst>
          </a:prstGeom>
          <a:solidFill>
            <a:schemeClr val="tx2"/>
          </a:solidFill>
          <a:ln w="12700">
            <a:solidFill>
              <a:schemeClr val="tx2"/>
            </a:solidFill>
            <a:prstDash val="solid"/>
          </a:ln>
        </p:spPr>
      </p:sp>
      <p:sp>
        <p:nvSpPr>
          <p:cNvPr id="8" name="t-108"/>
          <p:cNvSpPr txBox="1"/>
          <p:nvPr/>
        </p:nvSpPr>
        <p:spPr>
          <a:xfrm>
            <a:off x="3390824" y="1965960"/>
            <a:ext cx="2567864" cy="1188720"/>
          </a:xfrm>
          <a:prstGeom prst="rect">
            <a:avLst/>
          </a:prstGeom>
          <a:noFill/>
          <a:ln/>
        </p:spPr>
        <p:txBody>
          <a:bodyPr wrap="square" lIns="0" tIns="0" rIns="0" bIns="0" rtlCol="0" anchor="ctr"/>
          <a:lstStyle/>
          <a:p>
            <a:pPr algn="ctr" indent="0" marL="0">
              <a:buNone/>
            </a:pPr>
            <a:r>
              <a:rPr lang="en-US" sz="5800" b="1" dirty="0">
                <a:solidFill>
                  <a:schemeClr val="accent2"/>
                </a:solidFill>
              </a:rPr>
              <a:t>249 s</a:t>
            </a:r>
            <a:endParaRPr lang="en-US" sz="5800" dirty="0"/>
          </a:p>
        </p:txBody>
      </p:sp>
      <p:sp>
        <p:nvSpPr>
          <p:cNvPr id="9" name="t-109"/>
          <p:cNvSpPr txBox="1"/>
          <p:nvPr/>
        </p:nvSpPr>
        <p:spPr>
          <a:xfrm>
            <a:off x="3619424" y="3200400"/>
            <a:ext cx="2110664" cy="914400"/>
          </a:xfrm>
          <a:prstGeom prst="rect">
            <a:avLst/>
          </a:prstGeom>
          <a:noFill/>
          <a:ln/>
        </p:spPr>
        <p:txBody>
          <a:bodyPr wrap="square" lIns="0" tIns="0" rIns="0" bIns="0" rtlCol="0" anchor="t"/>
          <a:lstStyle/>
          <a:p>
            <a:pPr algn="ctr" indent="0" marL="0">
              <a:buNone/>
            </a:pPr>
            <a:r>
              <a:rPr lang="en-US" sz="1600" dirty="0">
                <a:solidFill>
                  <a:schemeClr val="bg1"/>
                </a:solidFill>
              </a:rPr>
              <a:t>Measured recovery from a deleted rule</a:t>
            </a:r>
            <a:endParaRPr lang="en-US" sz="1600" dirty="0"/>
          </a:p>
        </p:txBody>
      </p:sp>
      <p:sp>
        <p:nvSpPr>
          <p:cNvPr id="10" name="box-110"/>
          <p:cNvSpPr/>
          <p:nvPr/>
        </p:nvSpPr>
        <p:spPr>
          <a:xfrm>
            <a:off x="6233008" y="1783080"/>
            <a:ext cx="2567864" cy="2468880"/>
          </a:xfrm>
          <a:prstGeom prst="roundRect">
            <a:avLst>
              <a:gd name="adj" fmla="val 2963"/>
            </a:avLst>
          </a:prstGeom>
          <a:solidFill>
            <a:schemeClr val="tx2"/>
          </a:solidFill>
          <a:ln w="12700">
            <a:solidFill>
              <a:schemeClr val="tx2"/>
            </a:solidFill>
            <a:prstDash val="solid"/>
          </a:ln>
        </p:spPr>
      </p:sp>
      <p:sp>
        <p:nvSpPr>
          <p:cNvPr id="11" name="t-111"/>
          <p:cNvSpPr txBox="1"/>
          <p:nvPr/>
        </p:nvSpPr>
        <p:spPr>
          <a:xfrm>
            <a:off x="6233008" y="1965960"/>
            <a:ext cx="2567864" cy="1188720"/>
          </a:xfrm>
          <a:prstGeom prst="rect">
            <a:avLst/>
          </a:prstGeom>
          <a:noFill/>
          <a:ln/>
        </p:spPr>
        <p:txBody>
          <a:bodyPr wrap="square" lIns="0" tIns="0" rIns="0" bIns="0" rtlCol="0" anchor="ctr"/>
          <a:lstStyle/>
          <a:p>
            <a:pPr algn="ctr" indent="0" marL="0">
              <a:buNone/>
            </a:pPr>
            <a:r>
              <a:rPr lang="en-US" sz="5800" b="1" dirty="0">
                <a:solidFill>
                  <a:schemeClr val="accent2"/>
                </a:solidFill>
              </a:rPr>
              <a:t>0</a:t>
            </a:r>
            <a:endParaRPr lang="en-US" sz="5800" dirty="0"/>
          </a:p>
        </p:txBody>
      </p:sp>
      <p:sp>
        <p:nvSpPr>
          <p:cNvPr id="12" name="t-112"/>
          <p:cNvSpPr txBox="1"/>
          <p:nvPr/>
        </p:nvSpPr>
        <p:spPr>
          <a:xfrm>
            <a:off x="6461608" y="3200400"/>
            <a:ext cx="2110664" cy="914400"/>
          </a:xfrm>
          <a:prstGeom prst="rect">
            <a:avLst/>
          </a:prstGeom>
          <a:noFill/>
          <a:ln/>
        </p:spPr>
        <p:txBody>
          <a:bodyPr wrap="square" lIns="0" tIns="0" rIns="0" bIns="0" rtlCol="0" anchor="t"/>
          <a:lstStyle/>
          <a:p>
            <a:pPr algn="ctr" indent="0" marL="0">
              <a:buNone/>
            </a:pPr>
            <a:r>
              <a:rPr lang="en-US" sz="1600" dirty="0">
                <a:solidFill>
                  <a:schemeClr val="bg1"/>
                </a:solidFill>
              </a:rPr>
              <a:t>Service account keys, CI included</a:t>
            </a:r>
            <a:endParaRPr lang="en-US" sz="1600" dirty="0"/>
          </a:p>
        </p:txBody>
      </p:sp>
      <p:sp>
        <p:nvSpPr>
          <p:cNvPr id="13" name="box-113"/>
          <p:cNvSpPr/>
          <p:nvPr/>
        </p:nvSpPr>
        <p:spPr>
          <a:xfrm>
            <a:off x="9075191" y="1783080"/>
            <a:ext cx="2567864" cy="2468880"/>
          </a:xfrm>
          <a:prstGeom prst="roundRect">
            <a:avLst>
              <a:gd name="adj" fmla="val 2963"/>
            </a:avLst>
          </a:prstGeom>
          <a:solidFill>
            <a:schemeClr val="tx2"/>
          </a:solidFill>
          <a:ln w="12700">
            <a:solidFill>
              <a:schemeClr val="tx2"/>
            </a:solidFill>
            <a:prstDash val="solid"/>
          </a:ln>
        </p:spPr>
      </p:sp>
      <p:sp>
        <p:nvSpPr>
          <p:cNvPr id="14" name="t-114"/>
          <p:cNvSpPr txBox="1"/>
          <p:nvPr/>
        </p:nvSpPr>
        <p:spPr>
          <a:xfrm>
            <a:off x="9075191" y="1965960"/>
            <a:ext cx="2567864" cy="1188720"/>
          </a:xfrm>
          <a:prstGeom prst="rect">
            <a:avLst/>
          </a:prstGeom>
          <a:noFill/>
          <a:ln/>
        </p:spPr>
        <p:txBody>
          <a:bodyPr wrap="square" lIns="0" tIns="0" rIns="0" bIns="0" rtlCol="0" anchor="ctr"/>
          <a:lstStyle/>
          <a:p>
            <a:pPr algn="ctr" indent="0" marL="0">
              <a:buNone/>
            </a:pPr>
            <a:r>
              <a:rPr lang="en-US" sz="5800" b="1" dirty="0">
                <a:solidFill>
                  <a:schemeClr val="accent2"/>
                </a:solidFill>
              </a:rPr>
              <a:t>2</a:t>
            </a:r>
            <a:endParaRPr lang="en-US" sz="5800" dirty="0"/>
          </a:p>
        </p:txBody>
      </p:sp>
      <p:sp>
        <p:nvSpPr>
          <p:cNvPr id="15" name="t-115"/>
          <p:cNvSpPr txBox="1"/>
          <p:nvPr/>
        </p:nvSpPr>
        <p:spPr>
          <a:xfrm>
            <a:off x="9303791" y="3200400"/>
            <a:ext cx="2110664" cy="914400"/>
          </a:xfrm>
          <a:prstGeom prst="rect">
            <a:avLst/>
          </a:prstGeom>
          <a:noFill/>
          <a:ln/>
        </p:spPr>
        <p:txBody>
          <a:bodyPr wrap="square" lIns="0" tIns="0" rIns="0" bIns="0" rtlCol="0" anchor="t"/>
          <a:lstStyle/>
          <a:p>
            <a:pPr algn="ctr" indent="0" marL="0">
              <a:buNone/>
            </a:pPr>
            <a:r>
              <a:rPr lang="en-US" sz="1600" dirty="0">
                <a:solidFill>
                  <a:schemeClr val="bg1"/>
                </a:solidFill>
              </a:rPr>
              <a:t>Fixed NAT IPs for prod, failover tested live</a:t>
            </a:r>
            <a:endParaRPr lang="en-US" sz="1600" dirty="0"/>
          </a:p>
        </p:txBody>
      </p:sp>
      <p:sp>
        <p:nvSpPr>
          <p:cNvPr id="16" name="box-116"/>
          <p:cNvSpPr/>
          <p:nvPr/>
        </p:nvSpPr>
        <p:spPr>
          <a:xfrm>
            <a:off x="548640" y="4526280"/>
            <a:ext cx="11094415" cy="1600200"/>
          </a:xfrm>
          <a:prstGeom prst="roundRect">
            <a:avLst>
              <a:gd name="adj" fmla="val 4571"/>
            </a:avLst>
          </a:prstGeom>
          <a:solidFill>
            <a:schemeClr val="bg2"/>
          </a:solidFill>
          <a:ln w="12700">
            <a:solidFill>
              <a:schemeClr val="bg2"/>
            </a:solidFill>
            <a:prstDash val="solid"/>
          </a:ln>
        </p:spPr>
      </p:sp>
      <p:sp>
        <p:nvSpPr>
          <p:cNvPr id="17" name="t-117"/>
          <p:cNvSpPr txBox="1"/>
          <p:nvPr/>
        </p:nvSpPr>
        <p:spPr>
          <a:xfrm>
            <a:off x="868680" y="4617720"/>
            <a:ext cx="10454335" cy="1417320"/>
          </a:xfrm>
          <a:prstGeom prst="rect">
            <a:avLst/>
          </a:prstGeom>
          <a:noFill/>
          <a:ln/>
        </p:spPr>
        <p:txBody>
          <a:bodyPr wrap="square" lIns="0" tIns="0" rIns="0" bIns="0" rtlCol="0" anchor="ctr"/>
          <a:lstStyle/>
          <a:p>
            <a:pPr indent="0" marL="0">
              <a:buNone/>
            </a:pPr>
            <a:r>
              <a:rPr lang="en-US" sz="1700" b="1" dirty="0">
                <a:solidFill>
                  <a:schemeClr val="tx2"/>
                </a:solidFill>
              </a:rPr>
              <a:t>How it stays that way: </a:t>
            </a:r>
            <a:pPr indent="0" marL="0">
              <a:buNone/>
            </a:pPr>
            <a:r>
              <a:rPr lang="en-US" sz="1700" dirty="0">
                <a:solidFill>
                  <a:schemeClr val="tx1"/>
                </a:solidFill>
              </a:rPr>
              <a:t>every change goes pull request → plan comment → approval → apply in GitHub Actions. A daily job fails if live config drifts from Git, and backs up the configuration. Alerts cover NAT drops, firewall-deny spikes and changes made outside Terraform.</a:t>
            </a:r>
            <a:endParaRPr lang="en-US" sz="17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118"/>
          <p:cNvSpPr txBox="1"/>
          <p:nvPr/>
        </p:nvSpPr>
        <p:spPr>
          <a:xfrm>
            <a:off x="548640" y="228600"/>
            <a:ext cx="11094415" cy="274320"/>
          </a:xfrm>
          <a:prstGeom prst="rect">
            <a:avLst/>
          </a:prstGeom>
          <a:noFill/>
          <a:ln/>
        </p:spPr>
        <p:txBody>
          <a:bodyPr wrap="square" lIns="0" tIns="0" rIns="0" bIns="0" rtlCol="0" anchor="ctr"/>
          <a:lstStyle/>
          <a:p>
            <a:pPr indent="0" marL="0">
              <a:buNone/>
            </a:pPr>
            <a:r>
              <a:rPr lang="en-US" sz="1200" b="1" spc="300" kern="0" dirty="0">
                <a:solidFill>
                  <a:schemeClr val="accent2"/>
                </a:solidFill>
              </a:rPr>
              <a:t>WHAT I'D DO NEXT</a:t>
            </a:r>
            <a:endParaRPr lang="en-US" sz="1200" dirty="0"/>
          </a:p>
        </p:txBody>
      </p:sp>
      <p:sp>
        <p:nvSpPr>
          <p:cNvPr id="3" name="Text 0"/>
          <p:cNvSpPr/>
          <p:nvPr>
            <p:ph idx="100" type="title" hasCustomPrompt="1"/>
          </p:nvPr>
        </p:nvSpPr>
        <p:spPr>
          <a:xfrm>
            <a:off x="548640" y="502920"/>
            <a:ext cx="11094415" cy="914400"/>
          </a:xfrm>
          <a:prstGeom prst="rect">
            <a:avLst/>
          </a:prstGeom>
          <a:noFill/>
          <a:ln/>
        </p:spPr>
        <p:txBody>
          <a:bodyPr wrap="square" lIns="0" tIns="0" rIns="0" bIns="0" rtlCol="0" anchor="t"/>
          <a:lstStyle/>
          <a:p>
            <a:pPr algn="l" indent="0" marL="0">
              <a:buNone/>
            </a:pPr>
            <a:r>
              <a:rPr lang="en-US" sz="3400" b="1" dirty="0">
                <a:solidFill>
                  <a:schemeClr val="bg1"/>
                </a:solidFill>
              </a:rPr>
              <a:t>Known gaps, chosen deliberately</a:t>
            </a:r>
            <a:endParaRPr lang="en-US" sz="3400" dirty="0"/>
          </a:p>
        </p:txBody>
      </p:sp>
      <p:sp>
        <p:nvSpPr>
          <p:cNvPr id="4" name="circle-119"/>
          <p:cNvSpPr/>
          <p:nvPr/>
        </p:nvSpPr>
        <p:spPr>
          <a:xfrm>
            <a:off x="548640" y="1920240"/>
            <a:ext cx="685800" cy="685800"/>
          </a:xfrm>
          <a:prstGeom prst="ellipse">
            <a:avLst/>
          </a:prstGeom>
          <a:solidFill>
            <a:schemeClr val="accent2"/>
          </a:solidFill>
          <a:ln w="12700">
            <a:solidFill>
              <a:schemeClr val="accent2"/>
            </a:solidFill>
            <a:prstDash val="solid"/>
          </a:ln>
        </p:spPr>
      </p:sp>
      <p:pic>
        <p:nvPicPr>
          <p:cNvPr id="5" name="icon-120" descr="preencoded.png">    </p:cNvPr>
          <p:cNvPicPr>
            <a:picLocks noChangeAspect="1"/>
          </p:cNvPicPr>
          <p:nvPr/>
        </p:nvPicPr>
        <p:blipFill>
          <a:blip r:embed="rId1"/>
          <a:stretch>
            <a:fillRect/>
          </a:stretch>
        </p:blipFill>
        <p:spPr>
          <a:xfrm>
            <a:off x="726948" y="2098548"/>
            <a:ext cx="329184" cy="329184"/>
          </a:xfrm>
          <a:prstGeom prst="rect">
            <a:avLst/>
          </a:prstGeom>
        </p:spPr>
      </p:pic>
      <p:sp>
        <p:nvSpPr>
          <p:cNvPr id="6" name="t-121"/>
          <p:cNvSpPr txBox="1"/>
          <p:nvPr/>
        </p:nvSpPr>
        <p:spPr>
          <a:xfrm>
            <a:off x="1508760" y="1828800"/>
            <a:ext cx="9601200" cy="457200"/>
          </a:xfrm>
          <a:prstGeom prst="rect">
            <a:avLst/>
          </a:prstGeom>
          <a:noFill/>
          <a:ln/>
        </p:spPr>
        <p:txBody>
          <a:bodyPr wrap="square" lIns="0" tIns="0" rIns="0" bIns="0" rtlCol="0" anchor="ctr"/>
          <a:lstStyle/>
          <a:p>
            <a:pPr indent="0" marL="0">
              <a:buNone/>
            </a:pPr>
            <a:r>
              <a:rPr lang="en-US" sz="2100" b="1" dirty="0">
                <a:solidFill>
                  <a:schemeClr val="bg1"/>
                </a:solidFill>
                <a:latin typeface="Cambria" pitchFamily="34" charset="0"/>
                <a:ea typeface="Cambria" pitchFamily="34" charset="-122"/>
                <a:cs typeface="Cambria" pitchFamily="34" charset="-120"/>
              </a:rPr>
              <a:t>A second HA VPN in the DR region</a:t>
            </a:r>
            <a:endParaRPr lang="en-US" sz="2100" dirty="0"/>
          </a:p>
        </p:txBody>
      </p:sp>
      <p:sp>
        <p:nvSpPr>
          <p:cNvPr id="7" name="t-122"/>
          <p:cNvSpPr txBox="1"/>
          <p:nvPr/>
        </p:nvSpPr>
        <p:spPr>
          <a:xfrm>
            <a:off x="1508760" y="2286000"/>
            <a:ext cx="9601200" cy="548640"/>
          </a:xfrm>
          <a:prstGeom prst="rect">
            <a:avLst/>
          </a:prstGeom>
          <a:noFill/>
          <a:ln/>
        </p:spPr>
        <p:txBody>
          <a:bodyPr wrap="square" lIns="0" tIns="0" rIns="0" bIns="0" rtlCol="0" anchor="ctr"/>
          <a:lstStyle/>
          <a:p>
            <a:pPr indent="0" marL="0">
              <a:buNone/>
            </a:pPr>
            <a:r>
              <a:rPr lang="en-US" sz="1600" dirty="0">
                <a:solidFill>
                  <a:schemeClr val="bg2"/>
                </a:solidFill>
              </a:rPr>
              <a:t>Left out for cost; today on-prem connectivity would be down during a primary-region outage.</a:t>
            </a:r>
            <a:endParaRPr lang="en-US" sz="1600" dirty="0"/>
          </a:p>
        </p:txBody>
      </p:sp>
      <p:sp>
        <p:nvSpPr>
          <p:cNvPr id="8" name="circle-123"/>
          <p:cNvSpPr/>
          <p:nvPr/>
        </p:nvSpPr>
        <p:spPr>
          <a:xfrm>
            <a:off x="548640" y="3108960"/>
            <a:ext cx="685800" cy="685800"/>
          </a:xfrm>
          <a:prstGeom prst="ellipse">
            <a:avLst/>
          </a:prstGeom>
          <a:solidFill>
            <a:schemeClr val="accent1"/>
          </a:solidFill>
          <a:ln w="12700">
            <a:solidFill>
              <a:schemeClr val="accent1"/>
            </a:solidFill>
            <a:prstDash val="solid"/>
          </a:ln>
        </p:spPr>
      </p:sp>
      <p:pic>
        <p:nvPicPr>
          <p:cNvPr id="9" name="icon-124" descr="preencoded.png">    </p:cNvPr>
          <p:cNvPicPr>
            <a:picLocks noChangeAspect="1"/>
          </p:cNvPicPr>
          <p:nvPr/>
        </p:nvPicPr>
        <p:blipFill>
          <a:blip r:embed="rId2"/>
          <a:stretch>
            <a:fillRect/>
          </a:stretch>
        </p:blipFill>
        <p:spPr>
          <a:xfrm>
            <a:off x="726948" y="3287268"/>
            <a:ext cx="329184" cy="329184"/>
          </a:xfrm>
          <a:prstGeom prst="rect">
            <a:avLst/>
          </a:prstGeom>
        </p:spPr>
      </p:pic>
      <p:sp>
        <p:nvSpPr>
          <p:cNvPr id="10" name="t-125"/>
          <p:cNvSpPr txBox="1"/>
          <p:nvPr/>
        </p:nvSpPr>
        <p:spPr>
          <a:xfrm>
            <a:off x="1508760" y="3017520"/>
            <a:ext cx="9601200" cy="457200"/>
          </a:xfrm>
          <a:prstGeom prst="rect">
            <a:avLst/>
          </a:prstGeom>
          <a:noFill/>
          <a:ln/>
        </p:spPr>
        <p:txBody>
          <a:bodyPr wrap="square" lIns="0" tIns="0" rIns="0" bIns="0" rtlCol="0" anchor="ctr"/>
          <a:lstStyle/>
          <a:p>
            <a:pPr indent="0" marL="0">
              <a:buNone/>
            </a:pPr>
            <a:r>
              <a:rPr lang="en-US" sz="2100" b="1" dirty="0">
                <a:solidFill>
                  <a:schemeClr val="bg1"/>
                </a:solidFill>
                <a:latin typeface="Cambria" pitchFamily="34" charset="0"/>
                <a:ea typeface="Cambria" pitchFamily="34" charset="-122"/>
                <a:cs typeface="Cambria" pitchFamily="34" charset="-120"/>
              </a:rPr>
              <a:t>VPC Service Controls</a:t>
            </a:r>
            <a:endParaRPr lang="en-US" sz="2100" dirty="0"/>
          </a:p>
        </p:txBody>
      </p:sp>
      <p:sp>
        <p:nvSpPr>
          <p:cNvPr id="11" name="t-126"/>
          <p:cNvSpPr txBox="1"/>
          <p:nvPr/>
        </p:nvSpPr>
        <p:spPr>
          <a:xfrm>
            <a:off x="1508760" y="3474720"/>
            <a:ext cx="9601200" cy="548640"/>
          </a:xfrm>
          <a:prstGeom prst="rect">
            <a:avLst/>
          </a:prstGeom>
          <a:noFill/>
          <a:ln/>
        </p:spPr>
        <p:txBody>
          <a:bodyPr wrap="square" lIns="0" tIns="0" rIns="0" bIns="0" rtlCol="0" anchor="ctr"/>
          <a:lstStyle/>
          <a:p>
            <a:pPr indent="0" marL="0">
              <a:buNone/>
            </a:pPr>
            <a:r>
              <a:rPr lang="en-US" sz="1600" dirty="0">
                <a:solidFill>
                  <a:schemeClr val="bg2"/>
                </a:solidFill>
              </a:rPr>
              <a:t>A perimeter around data services to stop exfiltration even with valid credentials.</a:t>
            </a:r>
            <a:endParaRPr lang="en-US" sz="1600" dirty="0"/>
          </a:p>
        </p:txBody>
      </p:sp>
      <p:sp>
        <p:nvSpPr>
          <p:cNvPr id="12" name="circle-127"/>
          <p:cNvSpPr/>
          <p:nvPr/>
        </p:nvSpPr>
        <p:spPr>
          <a:xfrm>
            <a:off x="548640" y="4297680"/>
            <a:ext cx="685800" cy="685800"/>
          </a:xfrm>
          <a:prstGeom prst="ellipse">
            <a:avLst/>
          </a:prstGeom>
          <a:solidFill>
            <a:schemeClr val="accent1"/>
          </a:solidFill>
          <a:ln w="12700">
            <a:solidFill>
              <a:schemeClr val="accent1"/>
            </a:solidFill>
            <a:prstDash val="solid"/>
          </a:ln>
        </p:spPr>
      </p:sp>
      <p:pic>
        <p:nvPicPr>
          <p:cNvPr id="13" name="icon-128" descr="preencoded.png">    </p:cNvPr>
          <p:cNvPicPr>
            <a:picLocks noChangeAspect="1"/>
          </p:cNvPicPr>
          <p:nvPr/>
        </p:nvPicPr>
        <p:blipFill>
          <a:blip r:embed="rId3"/>
          <a:stretch>
            <a:fillRect/>
          </a:stretch>
        </p:blipFill>
        <p:spPr>
          <a:xfrm>
            <a:off x="726948" y="4475988"/>
            <a:ext cx="329184" cy="329184"/>
          </a:xfrm>
          <a:prstGeom prst="rect">
            <a:avLst/>
          </a:prstGeom>
        </p:spPr>
      </p:pic>
      <p:sp>
        <p:nvSpPr>
          <p:cNvPr id="14" name="t-129"/>
          <p:cNvSpPr txBox="1"/>
          <p:nvPr/>
        </p:nvSpPr>
        <p:spPr>
          <a:xfrm>
            <a:off x="1508760" y="4206240"/>
            <a:ext cx="9601200" cy="457200"/>
          </a:xfrm>
          <a:prstGeom prst="rect">
            <a:avLst/>
          </a:prstGeom>
          <a:noFill/>
          <a:ln/>
        </p:spPr>
        <p:txBody>
          <a:bodyPr wrap="square" lIns="0" tIns="0" rIns="0" bIns="0" rtlCol="0" anchor="ctr"/>
          <a:lstStyle/>
          <a:p>
            <a:pPr indent="0" marL="0">
              <a:buNone/>
            </a:pPr>
            <a:r>
              <a:rPr lang="en-US" sz="2100" b="1" dirty="0">
                <a:solidFill>
                  <a:schemeClr val="bg1"/>
                </a:solidFill>
                <a:latin typeface="Cambria" pitchFamily="34" charset="0"/>
                <a:ea typeface="Cambria" pitchFamily="34" charset="-122"/>
                <a:cs typeface="Cambria" pitchFamily="34" charset="-120"/>
              </a:rPr>
              <a:t>Policy as code in CI</a:t>
            </a:r>
            <a:endParaRPr lang="en-US" sz="2100" dirty="0"/>
          </a:p>
        </p:txBody>
      </p:sp>
      <p:sp>
        <p:nvSpPr>
          <p:cNvPr id="15" name="t-130"/>
          <p:cNvSpPr txBox="1"/>
          <p:nvPr/>
        </p:nvSpPr>
        <p:spPr>
          <a:xfrm>
            <a:off x="1508760" y="4663440"/>
            <a:ext cx="9601200" cy="548640"/>
          </a:xfrm>
          <a:prstGeom prst="rect">
            <a:avLst/>
          </a:prstGeom>
          <a:noFill/>
          <a:ln/>
        </p:spPr>
        <p:txBody>
          <a:bodyPr wrap="square" lIns="0" tIns="0" rIns="0" bIns="0" rtlCol="0" anchor="ctr"/>
          <a:lstStyle/>
          <a:p>
            <a:pPr indent="0" marL="0">
              <a:buNone/>
            </a:pPr>
            <a:r>
              <a:rPr lang="en-US" sz="1600" dirty="0">
                <a:solidFill>
                  <a:schemeClr val="bg2"/>
                </a:solidFill>
              </a:rPr>
              <a:t>tflint and policy checks on every pull request, before a human reviews the plan.</a:t>
            </a:r>
            <a:endParaRPr lang="en-US" sz="1600" dirty="0"/>
          </a:p>
        </p:txBody>
      </p:sp>
      <p:sp>
        <p:nvSpPr>
          <p:cNvPr id="16" name="t-131"/>
          <p:cNvSpPr txBox="1"/>
          <p:nvPr/>
        </p:nvSpPr>
        <p:spPr>
          <a:xfrm>
            <a:off x="548640" y="5577840"/>
            <a:ext cx="11094415" cy="457200"/>
          </a:xfrm>
          <a:prstGeom prst="rect">
            <a:avLst/>
          </a:prstGeom>
          <a:noFill/>
          <a:ln/>
        </p:spPr>
        <p:txBody>
          <a:bodyPr wrap="square" lIns="0" tIns="0" rIns="0" bIns="0" rtlCol="0" anchor="ctr"/>
          <a:lstStyle/>
          <a:p>
            <a:pPr indent="0" marL="0">
              <a:buNone/>
            </a:pPr>
            <a:r>
              <a:rPr lang="en-US" sz="1800" b="1" dirty="0">
                <a:solidFill>
                  <a:schemeClr val="accent2"/>
                </a:solidFill>
              </a:rPr>
              <a:t>Happy to go deeper into any part: isolation, egress, observability, DR or the pipeline.</a:t>
            </a:r>
            <a:endParaRPr lang="en-US" sz="18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515600" cy="1737360"/>
          </a:xfrm>
          <a:prstGeom prst="rect">
            <a:avLst/>
          </a:prstGeom>
          <a:noFill/>
          <a:ln/>
        </p:spPr>
        <p:txBody>
          <a:bodyPr wrap="square" lIns="0" tIns="0" rIns="0" bIns="0" rtlCol="0" anchor="b"/>
          <a:lstStyle/>
          <a:p>
            <a:pPr algn="l" indent="0" marL="0">
              <a:buNone/>
            </a:pPr>
            <a:r>
              <a:rPr lang="en-US" sz="4400" b="1" dirty="0">
                <a:solidFill>
                  <a:schemeClr val="bg1"/>
                </a:solidFill>
              </a:rPr>
              <a:t>Appendix</a:t>
            </a:r>
            <a:endParaRPr lang="en-US" sz="4400" dirty="0"/>
          </a:p>
        </p:txBody>
      </p:sp>
      <p:sp>
        <p:nvSpPr>
          <p:cNvPr id="3" name="Text 0"/>
          <p:cNvSpPr/>
          <p:nvPr>
            <p:ph idx="101" type="body" hasCustomPrompt="1"/>
          </p:nvPr>
        </p:nvSpPr>
        <p:spPr>
          <a:xfrm>
            <a:off x="548640" y="3794760"/>
            <a:ext cx="10058400" cy="1097280"/>
          </a:xfrm>
          <a:prstGeom prst="rect">
            <a:avLst/>
          </a:prstGeom>
          <a:noFill/>
          <a:ln/>
        </p:spPr>
        <p:txBody>
          <a:bodyPr wrap="square" lIns="0" tIns="0" rIns="0" bIns="0" rtlCol="0" anchor="t"/>
          <a:lstStyle/>
          <a:p>
            <a:pPr algn="l" indent="0" marL="0">
              <a:buNone/>
            </a:pPr>
            <a:r>
              <a:rPr lang="en-US" sz="2000" dirty="0">
                <a:solidFill>
                  <a:schemeClr val="bg2"/>
                </a:solidFill>
              </a:rPr>
              <a:t>Backup slides: open only if asked</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132"/>
          <p:cNvSpPr txBox="1"/>
          <p:nvPr/>
        </p:nvSpPr>
        <p:spPr>
          <a:xfrm>
            <a:off x="548640" y="228600"/>
            <a:ext cx="11094415"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APPENDIX · DEBUGGING STORY</a:t>
            </a:r>
            <a:endParaRPr lang="en-US" sz="1200" dirty="0"/>
          </a:p>
        </p:txBody>
      </p:sp>
      <p:sp>
        <p:nvSpPr>
          <p:cNvPr id="3" name="Text 0"/>
          <p:cNvSpPr/>
          <p:nvPr>
            <p:ph idx="100" type="title" hasCustomPrompt="1"/>
          </p:nvPr>
        </p:nvSpPr>
        <p:spPr>
          <a:xfrm>
            <a:off x="548640" y="502920"/>
            <a:ext cx="11094415" cy="914400"/>
          </a:xfrm>
          <a:prstGeom prst="rect">
            <a:avLst/>
          </a:prstGeom>
          <a:noFill/>
          <a:ln/>
        </p:spPr>
        <p:txBody>
          <a:bodyPr wrap="square" lIns="0" tIns="0" rIns="0" bIns="0" rtlCol="0" anchor="t"/>
          <a:lstStyle/>
          <a:p>
            <a:pPr algn="l" indent="0" marL="0">
              <a:buNone/>
            </a:pPr>
            <a:r>
              <a:rPr lang="en-US" sz="3400" b="1" dirty="0">
                <a:solidFill>
                  <a:schemeClr val="tx2"/>
                </a:solidFill>
              </a:rPr>
              <a:t>The alert that never fired</a:t>
            </a:r>
            <a:endParaRPr lang="en-US" sz="3400" dirty="0"/>
          </a:p>
        </p:txBody>
      </p:sp>
      <p:sp>
        <p:nvSpPr>
          <p:cNvPr id="4" name="box-133"/>
          <p:cNvSpPr/>
          <p:nvPr/>
        </p:nvSpPr>
        <p:spPr>
          <a:xfrm>
            <a:off x="548640" y="1828800"/>
            <a:ext cx="2567864" cy="3017520"/>
          </a:xfrm>
          <a:prstGeom prst="roundRect">
            <a:avLst>
              <a:gd name="adj" fmla="val 2849"/>
            </a:avLst>
          </a:prstGeom>
          <a:solidFill>
            <a:schemeClr val="bg2"/>
          </a:solidFill>
          <a:ln w="12700">
            <a:solidFill>
              <a:schemeClr val="bg2"/>
            </a:solidFill>
            <a:prstDash val="solid"/>
          </a:ln>
        </p:spPr>
      </p:sp>
      <p:sp>
        <p:nvSpPr>
          <p:cNvPr id="5" name="t-134"/>
          <p:cNvSpPr txBox="1"/>
          <p:nvPr/>
        </p:nvSpPr>
        <p:spPr>
          <a:xfrm>
            <a:off x="777240" y="2011680"/>
            <a:ext cx="2110664" cy="457200"/>
          </a:xfrm>
          <a:prstGeom prst="rect">
            <a:avLst/>
          </a:prstGeom>
          <a:noFill/>
          <a:ln/>
        </p:spPr>
        <p:txBody>
          <a:bodyPr wrap="square" lIns="0" tIns="0" rIns="0" bIns="0" rtlCol="0" anchor="ctr"/>
          <a:lstStyle/>
          <a:p>
            <a:pPr indent="0" marL="0">
              <a:buNone/>
            </a:pPr>
            <a:r>
              <a:rPr lang="en-US" sz="1800" b="1" dirty="0">
                <a:solidFill>
                  <a:schemeClr val="tx2"/>
                </a:solidFill>
              </a:rPr>
              <a:t>1. Symptom</a:t>
            </a:r>
            <a:endParaRPr lang="en-US" sz="1800" dirty="0"/>
          </a:p>
        </p:txBody>
      </p:sp>
      <p:sp>
        <p:nvSpPr>
          <p:cNvPr id="6" name="t-135"/>
          <p:cNvSpPr txBox="1"/>
          <p:nvPr/>
        </p:nvSpPr>
        <p:spPr>
          <a:xfrm>
            <a:off x="777240" y="2560320"/>
            <a:ext cx="2110664" cy="2103120"/>
          </a:xfrm>
          <a:prstGeom prst="rect">
            <a:avLst/>
          </a:prstGeom>
          <a:noFill/>
          <a:ln/>
        </p:spPr>
        <p:txBody>
          <a:bodyPr wrap="square" lIns="0" tIns="0" rIns="0" bIns="0" rtlCol="0" anchor="t"/>
          <a:lstStyle/>
          <a:p>
            <a:pPr indent="0" marL="0">
              <a:buNone/>
            </a:pPr>
            <a:r>
              <a:rPr lang="en-US" sz="1600" dirty="0">
                <a:solidFill>
                  <a:schemeClr val="tx1"/>
                </a:solidFill>
              </a:rPr>
              <a:t>30 denied connections in 5 minutes; threshold 20; no alert</a:t>
            </a:r>
            <a:endParaRPr lang="en-US" sz="1600" dirty="0"/>
          </a:p>
        </p:txBody>
      </p:sp>
      <p:sp>
        <p:nvSpPr>
          <p:cNvPr id="7" name="box-136"/>
          <p:cNvSpPr/>
          <p:nvPr/>
        </p:nvSpPr>
        <p:spPr>
          <a:xfrm>
            <a:off x="3390824" y="1828800"/>
            <a:ext cx="2567864" cy="3017520"/>
          </a:xfrm>
          <a:prstGeom prst="roundRect">
            <a:avLst>
              <a:gd name="adj" fmla="val 2849"/>
            </a:avLst>
          </a:prstGeom>
          <a:solidFill>
            <a:schemeClr val="bg2"/>
          </a:solidFill>
          <a:ln w="12700">
            <a:solidFill>
              <a:schemeClr val="bg2"/>
            </a:solidFill>
            <a:prstDash val="solid"/>
          </a:ln>
        </p:spPr>
      </p:sp>
      <p:sp>
        <p:nvSpPr>
          <p:cNvPr id="8" name="t-137"/>
          <p:cNvSpPr txBox="1"/>
          <p:nvPr/>
        </p:nvSpPr>
        <p:spPr>
          <a:xfrm>
            <a:off x="3619424" y="2011680"/>
            <a:ext cx="2110664" cy="457200"/>
          </a:xfrm>
          <a:prstGeom prst="rect">
            <a:avLst/>
          </a:prstGeom>
          <a:noFill/>
          <a:ln/>
        </p:spPr>
        <p:txBody>
          <a:bodyPr wrap="square" lIns="0" tIns="0" rIns="0" bIns="0" rtlCol="0" anchor="ctr"/>
          <a:lstStyle/>
          <a:p>
            <a:pPr indent="0" marL="0">
              <a:buNone/>
            </a:pPr>
            <a:r>
              <a:rPr lang="en-US" sz="1800" b="1" dirty="0">
                <a:solidFill>
                  <a:schemeClr val="tx2"/>
                </a:solidFill>
              </a:rPr>
              <a:t>2. Check the logs</a:t>
            </a:r>
            <a:endParaRPr lang="en-US" sz="1800" dirty="0"/>
          </a:p>
        </p:txBody>
      </p:sp>
      <p:sp>
        <p:nvSpPr>
          <p:cNvPr id="9" name="t-138"/>
          <p:cNvSpPr txBox="1"/>
          <p:nvPr/>
        </p:nvSpPr>
        <p:spPr>
          <a:xfrm>
            <a:off x="3619424" y="2560320"/>
            <a:ext cx="2110664" cy="2103120"/>
          </a:xfrm>
          <a:prstGeom prst="rect">
            <a:avLst/>
          </a:prstGeom>
          <a:noFill/>
          <a:ln/>
        </p:spPr>
        <p:txBody>
          <a:bodyPr wrap="square" lIns="0" tIns="0" rIns="0" bIns="0" rtlCol="0" anchor="t"/>
          <a:lstStyle/>
          <a:p>
            <a:pPr indent="0" marL="0">
              <a:buNone/>
            </a:pPr>
            <a:r>
              <a:rPr lang="en-US" sz="1600" dirty="0">
                <a:solidFill>
                  <a:schemeClr val="tx1"/>
                </a:solidFill>
              </a:rPr>
              <a:t>Firewall logs: 30 DENIED entries, so the data existed</a:t>
            </a:r>
            <a:endParaRPr lang="en-US" sz="1600" dirty="0"/>
          </a:p>
        </p:txBody>
      </p:sp>
      <p:sp>
        <p:nvSpPr>
          <p:cNvPr id="10" name="box-139"/>
          <p:cNvSpPr/>
          <p:nvPr/>
        </p:nvSpPr>
        <p:spPr>
          <a:xfrm>
            <a:off x="6233008" y="1828800"/>
            <a:ext cx="2567864" cy="3017520"/>
          </a:xfrm>
          <a:prstGeom prst="roundRect">
            <a:avLst>
              <a:gd name="adj" fmla="val 2849"/>
            </a:avLst>
          </a:prstGeom>
          <a:solidFill>
            <a:schemeClr val="bg2"/>
          </a:solidFill>
          <a:ln w="12700">
            <a:solidFill>
              <a:schemeClr val="bg2"/>
            </a:solidFill>
            <a:prstDash val="solid"/>
          </a:ln>
        </p:spPr>
      </p:sp>
      <p:sp>
        <p:nvSpPr>
          <p:cNvPr id="11" name="t-140"/>
          <p:cNvSpPr txBox="1"/>
          <p:nvPr/>
        </p:nvSpPr>
        <p:spPr>
          <a:xfrm>
            <a:off x="6461608" y="2011680"/>
            <a:ext cx="2110664" cy="457200"/>
          </a:xfrm>
          <a:prstGeom prst="rect">
            <a:avLst/>
          </a:prstGeom>
          <a:noFill/>
          <a:ln/>
        </p:spPr>
        <p:txBody>
          <a:bodyPr wrap="square" lIns="0" tIns="0" rIns="0" bIns="0" rtlCol="0" anchor="ctr"/>
          <a:lstStyle/>
          <a:p>
            <a:pPr indent="0" marL="0">
              <a:buNone/>
            </a:pPr>
            <a:r>
              <a:rPr lang="en-US" sz="1800" b="1" dirty="0">
                <a:solidFill>
                  <a:schemeClr val="tx2"/>
                </a:solidFill>
              </a:rPr>
              <a:t>3. Check the metric</a:t>
            </a:r>
            <a:endParaRPr lang="en-US" sz="1800" dirty="0"/>
          </a:p>
        </p:txBody>
      </p:sp>
      <p:sp>
        <p:nvSpPr>
          <p:cNvPr id="12" name="t-141"/>
          <p:cNvSpPr txBox="1"/>
          <p:nvPr/>
        </p:nvSpPr>
        <p:spPr>
          <a:xfrm>
            <a:off x="6461608" y="2560320"/>
            <a:ext cx="2110664" cy="2103120"/>
          </a:xfrm>
          <a:prstGeom prst="rect">
            <a:avLst/>
          </a:prstGeom>
          <a:noFill/>
          <a:ln/>
        </p:spPr>
        <p:txBody>
          <a:bodyPr wrap="square" lIns="0" tIns="0" rIns="0" bIns="0" rtlCol="0" anchor="t"/>
          <a:lstStyle/>
          <a:p>
            <a:pPr indent="0" marL="0">
              <a:buNone/>
            </a:pPr>
            <a:r>
              <a:rPr lang="en-US" sz="1600" dirty="0">
                <a:solidFill>
                  <a:schemeClr val="tx1"/>
                </a:solidFill>
              </a:rPr>
              <a:t>timeSeries API: metric peaked at 29, written under resource type gce_subnetwork</a:t>
            </a:r>
            <a:endParaRPr lang="en-US" sz="1600" dirty="0"/>
          </a:p>
        </p:txBody>
      </p:sp>
      <p:sp>
        <p:nvSpPr>
          <p:cNvPr id="13" name="box-142"/>
          <p:cNvSpPr/>
          <p:nvPr/>
        </p:nvSpPr>
        <p:spPr>
          <a:xfrm>
            <a:off x="9075191" y="1828800"/>
            <a:ext cx="2567864" cy="3017520"/>
          </a:xfrm>
          <a:prstGeom prst="roundRect">
            <a:avLst>
              <a:gd name="adj" fmla="val 2849"/>
            </a:avLst>
          </a:prstGeom>
          <a:solidFill>
            <a:schemeClr val="tx2"/>
          </a:solidFill>
          <a:ln w="12700">
            <a:solidFill>
              <a:schemeClr val="tx2"/>
            </a:solidFill>
            <a:prstDash val="solid"/>
          </a:ln>
        </p:spPr>
      </p:sp>
      <p:sp>
        <p:nvSpPr>
          <p:cNvPr id="14" name="t-143"/>
          <p:cNvSpPr txBox="1"/>
          <p:nvPr/>
        </p:nvSpPr>
        <p:spPr>
          <a:xfrm>
            <a:off x="9303791" y="2011680"/>
            <a:ext cx="2110664" cy="457200"/>
          </a:xfrm>
          <a:prstGeom prst="rect">
            <a:avLst/>
          </a:prstGeom>
          <a:noFill/>
          <a:ln/>
        </p:spPr>
        <p:txBody>
          <a:bodyPr wrap="square" lIns="0" tIns="0" rIns="0" bIns="0" rtlCol="0" anchor="ctr"/>
          <a:lstStyle/>
          <a:p>
            <a:pPr indent="0" marL="0">
              <a:buNone/>
            </a:pPr>
            <a:r>
              <a:rPr lang="en-US" sz="1800" b="1" dirty="0">
                <a:solidFill>
                  <a:schemeClr val="accent2"/>
                </a:solidFill>
              </a:rPr>
              <a:t>4. Root cause and fix</a:t>
            </a:r>
            <a:endParaRPr lang="en-US" sz="1800" dirty="0"/>
          </a:p>
        </p:txBody>
      </p:sp>
      <p:sp>
        <p:nvSpPr>
          <p:cNvPr id="15" name="t-144"/>
          <p:cNvSpPr txBox="1"/>
          <p:nvPr/>
        </p:nvSpPr>
        <p:spPr>
          <a:xfrm>
            <a:off x="9303791" y="2560320"/>
            <a:ext cx="2110664" cy="2103120"/>
          </a:xfrm>
          <a:prstGeom prst="rect">
            <a:avLst/>
          </a:prstGeom>
          <a:noFill/>
          <a:ln/>
        </p:spPr>
        <p:txBody>
          <a:bodyPr wrap="square" lIns="0" tIns="0" rIns="0" bIns="0" rtlCol="0" anchor="t"/>
          <a:lstStyle/>
          <a:p>
            <a:pPr indent="0" marL="0">
              <a:buNone/>
            </a:pPr>
            <a:r>
              <a:rPr lang="en-US" sz="1600" dirty="0">
                <a:solidFill>
                  <a:schemeClr val="bg1"/>
                </a:solidFill>
              </a:rPr>
              <a:t>Alert filtered on resource.type 'global'. Changed to gce_subnetwork, re-ran the burst: fired at 30</a:t>
            </a:r>
            <a:endParaRPr lang="en-US" sz="1600" dirty="0"/>
          </a:p>
        </p:txBody>
      </p:sp>
      <p:sp>
        <p:nvSpPr>
          <p:cNvPr id="16" name="t-145"/>
          <p:cNvSpPr txBox="1"/>
          <p:nvPr/>
        </p:nvSpPr>
        <p:spPr>
          <a:xfrm>
            <a:off x="548640" y="5120640"/>
            <a:ext cx="11094415" cy="548640"/>
          </a:xfrm>
          <a:prstGeom prst="rect">
            <a:avLst/>
          </a:prstGeom>
          <a:noFill/>
          <a:ln/>
        </p:spPr>
        <p:txBody>
          <a:bodyPr wrap="square" lIns="0" tIns="0" rIns="0" bIns="0" rtlCol="0" anchor="ctr"/>
          <a:lstStyle/>
          <a:p>
            <a:pPr indent="0" marL="0">
              <a:buNone/>
            </a:pPr>
            <a:r>
              <a:rPr lang="en-US" sz="1700" i="1" dirty="0">
                <a:solidFill>
                  <a:schemeClr val="accent3"/>
                </a:solidFill>
              </a:rPr>
              <a:t>Lesson: follow the data through each layer (log → metric → alert filter) instead of guessing at the config.</a:t>
            </a:r>
            <a:endParaRPr lang="en-US" sz="17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146"/>
          <p:cNvSpPr txBox="1"/>
          <p:nvPr/>
        </p:nvSpPr>
        <p:spPr>
          <a:xfrm>
            <a:off x="548640" y="228600"/>
            <a:ext cx="11094415"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APPENDIX · ZERO-TRUST FIREWALL</a:t>
            </a:r>
            <a:endParaRPr lang="en-US" sz="1200" dirty="0"/>
          </a:p>
        </p:txBody>
      </p:sp>
      <p:sp>
        <p:nvSpPr>
          <p:cNvPr id="3" name="Text 0"/>
          <p:cNvSpPr/>
          <p:nvPr>
            <p:ph idx="100" type="title" hasCustomPrompt="1"/>
          </p:nvPr>
        </p:nvSpPr>
        <p:spPr>
          <a:xfrm>
            <a:off x="548640" y="502920"/>
            <a:ext cx="11094415" cy="914400"/>
          </a:xfrm>
          <a:prstGeom prst="rect">
            <a:avLst/>
          </a:prstGeom>
          <a:noFill/>
          <a:ln/>
        </p:spPr>
        <p:txBody>
          <a:bodyPr wrap="square" lIns="0" tIns="0" rIns="0" bIns="0" rtlCol="0" anchor="t"/>
          <a:lstStyle/>
          <a:p>
            <a:pPr algn="l" indent="0" marL="0">
              <a:buNone/>
            </a:pPr>
            <a:r>
              <a:rPr lang="en-US" sz="3400" b="1" dirty="0">
                <a:solidFill>
                  <a:schemeClr val="tx2"/>
                </a:solidFill>
              </a:rPr>
              <a:t>Firewall rules in priority bands</a:t>
            </a:r>
            <a:endParaRPr lang="en-US" sz="3400" dirty="0"/>
          </a:p>
        </p:txBody>
      </p:sp>
      <p:graphicFrame>
        <p:nvGraphicFramePr>
          <p:cNvPr id="11" name="table-147"/>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560320"/>
                <a:gridCol w="8534095"/>
              </a:tblGrid>
              <a:tr h="0">
                <a:tc>
                  <a:txBody>
                    <a:bodyPr/>
                    <a:lstStyle/>
                    <a:p>
                      <a:pPr indent="0" marL="0">
                        <a:buNone/>
                      </a:pPr>
                      <a:r>
                        <a:rPr lang="en-US" sz="1600" b="1" dirty="0">
                          <a:solidFill>
                            <a:schemeClr val="bg1"/>
                          </a:solidFill>
                        </a:rPr>
                        <a:t>Layer / band</a:t>
                      </a:r>
                      <a:endParaRPr lang="en-US" sz="1600" dirty="0"/>
                    </a:p>
                  </a:txBody>
                  <a:tcPr marL="109728" marR="109728" marT="91440" marB="91440">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Purpose</a:t>
                      </a:r>
                      <a:endParaRPr lang="en-US" sz="1600" dirty="0"/>
                    </a:p>
                  </a:txBody>
                  <a:tcPr marL="109728" marR="109728" marT="91440" marB="91440">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600" b="1" dirty="0">
                          <a:solidFill>
                            <a:schemeClr val="tx1"/>
                          </a:solidFill>
                        </a:rPr>
                        <a:t>Org policy</a:t>
                      </a:r>
                      <a:endParaRPr lang="en-US" sz="1600" dirty="0"/>
                    </a:p>
                  </a:txBody>
                  <a:tcPr marL="109728" marR="109728" marT="91440" marB="91440">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IAP → goto_next; deny SSH/RDP elsewhere; deny fintech ↔ healthcare</a:t>
                      </a:r>
                      <a:endParaRPr lang="en-US" sz="1600" dirty="0"/>
                    </a:p>
                  </a:txBody>
                  <a:tcPr marL="109728" marR="109728" marT="91440" marB="91440">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100–199</a:t>
                      </a:r>
                      <a:endParaRPr lang="en-US" sz="1600" dirty="0"/>
                    </a:p>
                  </a:txBody>
                  <a:tcPr marL="109728" marR="109728" marT="91440" marB="91440">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Platform access: IAP SSH, health checks</a:t>
                      </a:r>
                      <a:endParaRPr lang="en-US" sz="1600" dirty="0"/>
                    </a:p>
                  </a:txBody>
                  <a:tcPr marL="109728" marR="109728" marT="91440" marB="91440">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500–999</a:t>
                      </a:r>
                      <a:endParaRPr lang="en-US" sz="1600" dirty="0"/>
                    </a:p>
                  </a:txBody>
                  <a:tcPr marL="109728" marR="109728" marT="91440" marB="91440">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Isolation denies: nonprod → prod, tenants → environments</a:t>
                      </a:r>
                      <a:endParaRPr lang="en-US" sz="1600" dirty="0"/>
                    </a:p>
                  </a:txBody>
                  <a:tcPr marL="109728" marR="109728" marT="91440" marB="91440">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1000–2999</a:t>
                      </a:r>
                      <a:endParaRPr lang="en-US" sz="1600" dirty="0"/>
                    </a:p>
                  </a:txBody>
                  <a:tcPr marL="109728" marR="109728" marT="91440" marB="91440">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Allows by environment and tenant, targeted by service account</a:t>
                      </a:r>
                      <a:endParaRPr lang="en-US" sz="1600" dirty="0"/>
                    </a:p>
                  </a:txBody>
                  <a:tcPr marL="109728" marR="109728" marT="91440" marB="91440">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3000–3999</a:t>
                      </a:r>
                      <a:endParaRPr lang="en-US" sz="1600" dirty="0"/>
                    </a:p>
                  </a:txBody>
                  <a:tcPr marL="109728" marR="109728" marT="91440" marB="91440">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Hybrid: on-prem → shared services :443</a:t>
                      </a:r>
                      <a:endParaRPr lang="en-US" sz="1600" dirty="0"/>
                    </a:p>
                  </a:txBody>
                  <a:tcPr marL="109728" marR="109728" marT="91440" marB="91440">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600" b="1" dirty="0">
                          <a:solidFill>
                            <a:schemeClr val="tx1"/>
                          </a:solidFill>
                        </a:rPr>
                        <a:t>4000 / 4100</a:t>
                      </a:r>
                      <a:endParaRPr lang="en-US" sz="1600" dirty="0"/>
                    </a:p>
                  </a:txBody>
                  <a:tcPr marL="109728" marR="109728" marT="91440" marB="91440">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Deny private egress / allow internet HTTPS via NAT</a:t>
                      </a:r>
                      <a:endParaRPr lang="en-US" sz="1600" dirty="0"/>
                    </a:p>
                  </a:txBody>
                  <a:tcPr marL="109728" marR="109728" marT="91440" marB="91440">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600" b="1" dirty="0">
                          <a:solidFill>
                            <a:schemeClr val="tx1"/>
                          </a:solidFill>
                        </a:rPr>
                        <a:t>65000</a:t>
                      </a:r>
                      <a:endParaRPr lang="en-US" sz="1600" dirty="0"/>
                    </a:p>
                  </a:txBody>
                  <a:tcPr marL="109728" marR="109728" marT="91440" marB="91440">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Default deny both directions, logged</a:t>
                      </a:r>
                      <a:endParaRPr lang="en-US" sz="1600" dirty="0"/>
                    </a:p>
                  </a:txBody>
                  <a:tcPr marL="109728" marR="109728" marT="91440" marB="91440">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148"/>
          <p:cNvSpPr txBox="1"/>
          <p:nvPr/>
        </p:nvSpPr>
        <p:spPr>
          <a:xfrm>
            <a:off x="548640" y="228600"/>
            <a:ext cx="11094415"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APPENDIX · DELIVERY</a:t>
            </a:r>
            <a:endParaRPr lang="en-US" sz="1200" dirty="0"/>
          </a:p>
        </p:txBody>
      </p:sp>
      <p:sp>
        <p:nvSpPr>
          <p:cNvPr id="3" name="Text 0"/>
          <p:cNvSpPr/>
          <p:nvPr>
            <p:ph idx="100" type="title" hasCustomPrompt="1"/>
          </p:nvPr>
        </p:nvSpPr>
        <p:spPr>
          <a:xfrm>
            <a:off x="548640" y="502920"/>
            <a:ext cx="11094415" cy="914400"/>
          </a:xfrm>
          <a:prstGeom prst="rect">
            <a:avLst/>
          </a:prstGeom>
          <a:noFill/>
          <a:ln/>
        </p:spPr>
        <p:txBody>
          <a:bodyPr wrap="square" lIns="0" tIns="0" rIns="0" bIns="0" rtlCol="0" anchor="t"/>
          <a:lstStyle/>
          <a:p>
            <a:pPr algn="l" indent="0" marL="0">
              <a:buNone/>
            </a:pPr>
            <a:r>
              <a:rPr lang="en-US" sz="3400" b="1" dirty="0">
                <a:solidFill>
                  <a:schemeClr val="tx2"/>
                </a:solidFill>
              </a:rPr>
              <a:t>Keyless CI/CD with an approval gate</a:t>
            </a:r>
            <a:endParaRPr lang="en-US" sz="3400" dirty="0"/>
          </a:p>
        </p:txBody>
      </p:sp>
      <p:sp>
        <p:nvSpPr>
          <p:cNvPr id="4" name="box-149"/>
          <p:cNvSpPr/>
          <p:nvPr/>
        </p:nvSpPr>
        <p:spPr>
          <a:xfrm>
            <a:off x="548640" y="1920240"/>
            <a:ext cx="1962851" cy="2651760"/>
          </a:xfrm>
          <a:prstGeom prst="roundRect">
            <a:avLst>
              <a:gd name="adj" fmla="val 3727"/>
            </a:avLst>
          </a:prstGeom>
          <a:solidFill>
            <a:schemeClr val="bg2"/>
          </a:solidFill>
          <a:ln w="15875">
            <a:solidFill>
              <a:schemeClr val="accent1"/>
            </a:solidFill>
            <a:prstDash val="solid"/>
          </a:ln>
        </p:spPr>
      </p:sp>
      <p:sp>
        <p:nvSpPr>
          <p:cNvPr id="5" name="t-150"/>
          <p:cNvSpPr txBox="1"/>
          <p:nvPr/>
        </p:nvSpPr>
        <p:spPr>
          <a:xfrm>
            <a:off x="685800" y="2103120"/>
            <a:ext cx="1688531" cy="457200"/>
          </a:xfrm>
          <a:prstGeom prst="rect">
            <a:avLst/>
          </a:prstGeom>
          <a:noFill/>
          <a:ln/>
        </p:spPr>
        <p:txBody>
          <a:bodyPr wrap="square" lIns="0" tIns="0" rIns="0" bIns="0" rtlCol="0" anchor="ctr"/>
          <a:lstStyle/>
          <a:p>
            <a:pPr algn="ctr" indent="0" marL="0">
              <a:buNone/>
            </a:pPr>
            <a:r>
              <a:rPr lang="en-US" sz="1800" b="1" dirty="0">
                <a:solidFill>
                  <a:schemeClr val="tx2"/>
                </a:solidFill>
              </a:rPr>
              <a:t>Pull request</a:t>
            </a:r>
            <a:endParaRPr lang="en-US" sz="1800" dirty="0"/>
          </a:p>
        </p:txBody>
      </p:sp>
      <p:sp>
        <p:nvSpPr>
          <p:cNvPr id="6" name="t-151"/>
          <p:cNvSpPr txBox="1"/>
          <p:nvPr/>
        </p:nvSpPr>
        <p:spPr>
          <a:xfrm>
            <a:off x="731520" y="2651760"/>
            <a:ext cx="1597091" cy="1737360"/>
          </a:xfrm>
          <a:prstGeom prst="rect">
            <a:avLst/>
          </a:prstGeom>
          <a:noFill/>
          <a:ln/>
        </p:spPr>
        <p:txBody>
          <a:bodyPr wrap="square" lIns="0" tIns="0" rIns="0" bIns="0" rtlCol="0" anchor="t"/>
          <a:lstStyle/>
          <a:p>
            <a:pPr indent="0" marL="0">
              <a:buNone/>
            </a:pPr>
            <a:r>
              <a:rPr lang="en-US" sz="1500" dirty="0">
                <a:solidFill>
                  <a:schemeClr val="tx1"/>
                </a:solidFill>
              </a:rPr>
              <a:t>fmt, validate, plan; plan posted as a PR comment</a:t>
            </a:r>
            <a:endParaRPr lang="en-US" sz="1500" dirty="0"/>
          </a:p>
        </p:txBody>
      </p:sp>
      <p:sp>
        <p:nvSpPr>
          <p:cNvPr id="7" name="arrow-152"/>
          <p:cNvSpPr/>
          <p:nvPr/>
        </p:nvSpPr>
        <p:spPr>
          <a:xfrm>
            <a:off x="2557211" y="3108960"/>
            <a:ext cx="228600" cy="274320"/>
          </a:xfrm>
          <a:prstGeom prst="rightArrow">
            <a:avLst/>
          </a:prstGeom>
          <a:solidFill>
            <a:schemeClr val="accent2"/>
          </a:solidFill>
          <a:ln w="12700">
            <a:solidFill>
              <a:schemeClr val="accent2"/>
            </a:solidFill>
            <a:prstDash val="solid"/>
          </a:ln>
        </p:spPr>
      </p:sp>
      <p:sp>
        <p:nvSpPr>
          <p:cNvPr id="8" name="box-153"/>
          <p:cNvSpPr/>
          <p:nvPr/>
        </p:nvSpPr>
        <p:spPr>
          <a:xfrm>
            <a:off x="2831531" y="1920240"/>
            <a:ext cx="1962851" cy="2651760"/>
          </a:xfrm>
          <a:prstGeom prst="roundRect">
            <a:avLst>
              <a:gd name="adj" fmla="val 3727"/>
            </a:avLst>
          </a:prstGeom>
          <a:solidFill>
            <a:schemeClr val="bg2"/>
          </a:solidFill>
          <a:ln w="15875">
            <a:solidFill>
              <a:schemeClr val="accent1"/>
            </a:solidFill>
            <a:prstDash val="solid"/>
          </a:ln>
        </p:spPr>
      </p:sp>
      <p:sp>
        <p:nvSpPr>
          <p:cNvPr id="9" name="t-154"/>
          <p:cNvSpPr txBox="1"/>
          <p:nvPr/>
        </p:nvSpPr>
        <p:spPr>
          <a:xfrm>
            <a:off x="2968691" y="2103120"/>
            <a:ext cx="1688531" cy="457200"/>
          </a:xfrm>
          <a:prstGeom prst="rect">
            <a:avLst/>
          </a:prstGeom>
          <a:noFill/>
          <a:ln/>
        </p:spPr>
        <p:txBody>
          <a:bodyPr wrap="square" lIns="0" tIns="0" rIns="0" bIns="0" rtlCol="0" anchor="ctr"/>
          <a:lstStyle/>
          <a:p>
            <a:pPr algn="ctr" indent="0" marL="0">
              <a:buNone/>
            </a:pPr>
            <a:r>
              <a:rPr lang="en-US" sz="1800" b="1" dirty="0">
                <a:solidFill>
                  <a:schemeClr val="tx2"/>
                </a:solidFill>
              </a:rPr>
              <a:t>Merge</a:t>
            </a:r>
            <a:endParaRPr lang="en-US" sz="1800" dirty="0"/>
          </a:p>
        </p:txBody>
      </p:sp>
      <p:sp>
        <p:nvSpPr>
          <p:cNvPr id="10" name="t-155"/>
          <p:cNvSpPr txBox="1"/>
          <p:nvPr/>
        </p:nvSpPr>
        <p:spPr>
          <a:xfrm>
            <a:off x="3014411" y="2651760"/>
            <a:ext cx="1597091" cy="1737360"/>
          </a:xfrm>
          <a:prstGeom prst="rect">
            <a:avLst/>
          </a:prstGeom>
          <a:noFill/>
          <a:ln/>
        </p:spPr>
        <p:txBody>
          <a:bodyPr wrap="square" lIns="0" tIns="0" rIns="0" bIns="0" rtlCol="0" anchor="t"/>
          <a:lstStyle/>
          <a:p>
            <a:pPr indent="0" marL="0">
              <a:buNone/>
            </a:pPr>
            <a:r>
              <a:rPr lang="en-US" sz="1500" dirty="0">
                <a:solidFill>
                  <a:schemeClr val="tx1"/>
                </a:solidFill>
              </a:rPr>
              <a:t>Plan again; exit code 2 means changes</a:t>
            </a:r>
            <a:endParaRPr lang="en-US" sz="1500" dirty="0"/>
          </a:p>
        </p:txBody>
      </p:sp>
      <p:sp>
        <p:nvSpPr>
          <p:cNvPr id="11" name="arrow-156"/>
          <p:cNvSpPr/>
          <p:nvPr/>
        </p:nvSpPr>
        <p:spPr>
          <a:xfrm>
            <a:off x="4840102" y="3108960"/>
            <a:ext cx="228600" cy="274320"/>
          </a:xfrm>
          <a:prstGeom prst="rightArrow">
            <a:avLst/>
          </a:prstGeom>
          <a:solidFill>
            <a:schemeClr val="accent2"/>
          </a:solidFill>
          <a:ln w="12700">
            <a:solidFill>
              <a:schemeClr val="accent2"/>
            </a:solidFill>
            <a:prstDash val="solid"/>
          </a:ln>
        </p:spPr>
      </p:sp>
      <p:sp>
        <p:nvSpPr>
          <p:cNvPr id="12" name="box-157"/>
          <p:cNvSpPr/>
          <p:nvPr/>
        </p:nvSpPr>
        <p:spPr>
          <a:xfrm>
            <a:off x="5114422" y="1920240"/>
            <a:ext cx="1962851" cy="2651760"/>
          </a:xfrm>
          <a:prstGeom prst="roundRect">
            <a:avLst>
              <a:gd name="adj" fmla="val 3727"/>
            </a:avLst>
          </a:prstGeom>
          <a:solidFill>
            <a:schemeClr val="tx2"/>
          </a:solidFill>
          <a:ln w="15875">
            <a:solidFill>
              <a:schemeClr val="accent1"/>
            </a:solidFill>
            <a:prstDash val="solid"/>
          </a:ln>
        </p:spPr>
      </p:sp>
      <p:sp>
        <p:nvSpPr>
          <p:cNvPr id="13" name="t-158"/>
          <p:cNvSpPr txBox="1"/>
          <p:nvPr/>
        </p:nvSpPr>
        <p:spPr>
          <a:xfrm>
            <a:off x="5251582" y="2103120"/>
            <a:ext cx="1688531" cy="457200"/>
          </a:xfrm>
          <a:prstGeom prst="rect">
            <a:avLst/>
          </a:prstGeom>
          <a:noFill/>
          <a:ln/>
        </p:spPr>
        <p:txBody>
          <a:bodyPr wrap="square" lIns="0" tIns="0" rIns="0" bIns="0" rtlCol="0" anchor="ctr"/>
          <a:lstStyle/>
          <a:p>
            <a:pPr algn="ctr" indent="0" marL="0">
              <a:buNone/>
            </a:pPr>
            <a:r>
              <a:rPr lang="en-US" sz="1800" b="1" dirty="0">
                <a:solidFill>
                  <a:schemeClr val="accent2"/>
                </a:solidFill>
              </a:rPr>
              <a:t>Approval</a:t>
            </a:r>
            <a:endParaRPr lang="en-US" sz="1800" dirty="0"/>
          </a:p>
        </p:txBody>
      </p:sp>
      <p:sp>
        <p:nvSpPr>
          <p:cNvPr id="14" name="t-159"/>
          <p:cNvSpPr txBox="1"/>
          <p:nvPr/>
        </p:nvSpPr>
        <p:spPr>
          <a:xfrm>
            <a:off x="5297302" y="2651760"/>
            <a:ext cx="1597091" cy="1737360"/>
          </a:xfrm>
          <a:prstGeom prst="rect">
            <a:avLst/>
          </a:prstGeom>
          <a:noFill/>
          <a:ln/>
        </p:spPr>
        <p:txBody>
          <a:bodyPr wrap="square" lIns="0" tIns="0" rIns="0" bIns="0" rtlCol="0" anchor="t"/>
          <a:lstStyle/>
          <a:p>
            <a:pPr indent="0" marL="0">
              <a:buNone/>
            </a:pPr>
            <a:r>
              <a:rPr lang="en-US" sz="1500" dirty="0">
                <a:solidFill>
                  <a:schemeClr val="bg1"/>
                </a:solidFill>
              </a:rPr>
              <a:t>'production' environment needs a reviewer</a:t>
            </a:r>
            <a:endParaRPr lang="en-US" sz="1500" dirty="0"/>
          </a:p>
        </p:txBody>
      </p:sp>
      <p:sp>
        <p:nvSpPr>
          <p:cNvPr id="15" name="arrow-160"/>
          <p:cNvSpPr/>
          <p:nvPr/>
        </p:nvSpPr>
        <p:spPr>
          <a:xfrm>
            <a:off x="7122993" y="3108960"/>
            <a:ext cx="228600" cy="274320"/>
          </a:xfrm>
          <a:prstGeom prst="rightArrow">
            <a:avLst/>
          </a:prstGeom>
          <a:solidFill>
            <a:schemeClr val="accent2"/>
          </a:solidFill>
          <a:ln w="12700">
            <a:solidFill>
              <a:schemeClr val="accent2"/>
            </a:solidFill>
            <a:prstDash val="solid"/>
          </a:ln>
        </p:spPr>
      </p:sp>
      <p:sp>
        <p:nvSpPr>
          <p:cNvPr id="16" name="box-161"/>
          <p:cNvSpPr/>
          <p:nvPr/>
        </p:nvSpPr>
        <p:spPr>
          <a:xfrm>
            <a:off x="7397313" y="1920240"/>
            <a:ext cx="1962851" cy="2651760"/>
          </a:xfrm>
          <a:prstGeom prst="roundRect">
            <a:avLst>
              <a:gd name="adj" fmla="val 3727"/>
            </a:avLst>
          </a:prstGeom>
          <a:solidFill>
            <a:schemeClr val="bg2"/>
          </a:solidFill>
          <a:ln w="15875">
            <a:solidFill>
              <a:schemeClr val="accent1"/>
            </a:solidFill>
            <a:prstDash val="solid"/>
          </a:ln>
        </p:spPr>
      </p:sp>
      <p:sp>
        <p:nvSpPr>
          <p:cNvPr id="17" name="t-162"/>
          <p:cNvSpPr txBox="1"/>
          <p:nvPr/>
        </p:nvSpPr>
        <p:spPr>
          <a:xfrm>
            <a:off x="7534473" y="2103120"/>
            <a:ext cx="1688531" cy="457200"/>
          </a:xfrm>
          <a:prstGeom prst="rect">
            <a:avLst/>
          </a:prstGeom>
          <a:noFill/>
          <a:ln/>
        </p:spPr>
        <p:txBody>
          <a:bodyPr wrap="square" lIns="0" tIns="0" rIns="0" bIns="0" rtlCol="0" anchor="ctr"/>
          <a:lstStyle/>
          <a:p>
            <a:pPr algn="ctr" indent="0" marL="0">
              <a:buNone/>
            </a:pPr>
            <a:r>
              <a:rPr lang="en-US" sz="1800" b="1" dirty="0">
                <a:solidFill>
                  <a:schemeClr val="tx2"/>
                </a:solidFill>
              </a:rPr>
              <a:t>Apply</a:t>
            </a:r>
            <a:endParaRPr lang="en-US" sz="1800" dirty="0"/>
          </a:p>
        </p:txBody>
      </p:sp>
      <p:sp>
        <p:nvSpPr>
          <p:cNvPr id="18" name="t-163"/>
          <p:cNvSpPr txBox="1"/>
          <p:nvPr/>
        </p:nvSpPr>
        <p:spPr>
          <a:xfrm>
            <a:off x="7580193" y="2651760"/>
            <a:ext cx="1597091" cy="1737360"/>
          </a:xfrm>
          <a:prstGeom prst="rect">
            <a:avLst/>
          </a:prstGeom>
          <a:noFill/>
          <a:ln/>
        </p:spPr>
        <p:txBody>
          <a:bodyPr wrap="square" lIns="0" tIns="0" rIns="0" bIns="0" rtlCol="0" anchor="t"/>
          <a:lstStyle/>
          <a:p>
            <a:pPr indent="0" marL="0">
              <a:buNone/>
            </a:pPr>
            <a:r>
              <a:rPr lang="en-US" sz="1500" dirty="0">
                <a:solidFill>
                  <a:schemeClr val="tx1"/>
                </a:solidFill>
              </a:rPr>
              <a:t>GitHub OIDC → WIF → CI SA → Terraform SA</a:t>
            </a:r>
            <a:endParaRPr lang="en-US" sz="1500" dirty="0"/>
          </a:p>
        </p:txBody>
      </p:sp>
      <p:sp>
        <p:nvSpPr>
          <p:cNvPr id="19" name="arrow-164"/>
          <p:cNvSpPr/>
          <p:nvPr/>
        </p:nvSpPr>
        <p:spPr>
          <a:xfrm>
            <a:off x="9405884" y="3108960"/>
            <a:ext cx="228600" cy="274320"/>
          </a:xfrm>
          <a:prstGeom prst="rightArrow">
            <a:avLst/>
          </a:prstGeom>
          <a:solidFill>
            <a:schemeClr val="accent2"/>
          </a:solidFill>
          <a:ln w="12700">
            <a:solidFill>
              <a:schemeClr val="accent2"/>
            </a:solidFill>
            <a:prstDash val="solid"/>
          </a:ln>
        </p:spPr>
      </p:sp>
      <p:sp>
        <p:nvSpPr>
          <p:cNvPr id="20" name="box-165"/>
          <p:cNvSpPr/>
          <p:nvPr/>
        </p:nvSpPr>
        <p:spPr>
          <a:xfrm>
            <a:off x="9680204" y="1920240"/>
            <a:ext cx="1962851" cy="2651760"/>
          </a:xfrm>
          <a:prstGeom prst="roundRect">
            <a:avLst>
              <a:gd name="adj" fmla="val 3727"/>
            </a:avLst>
          </a:prstGeom>
          <a:solidFill>
            <a:schemeClr val="bg2"/>
          </a:solidFill>
          <a:ln w="15875">
            <a:solidFill>
              <a:schemeClr val="accent1"/>
            </a:solidFill>
            <a:prstDash val="solid"/>
          </a:ln>
        </p:spPr>
      </p:sp>
      <p:sp>
        <p:nvSpPr>
          <p:cNvPr id="21" name="t-166"/>
          <p:cNvSpPr txBox="1"/>
          <p:nvPr/>
        </p:nvSpPr>
        <p:spPr>
          <a:xfrm>
            <a:off x="9817364" y="2103120"/>
            <a:ext cx="1688531" cy="457200"/>
          </a:xfrm>
          <a:prstGeom prst="rect">
            <a:avLst/>
          </a:prstGeom>
          <a:noFill/>
          <a:ln/>
        </p:spPr>
        <p:txBody>
          <a:bodyPr wrap="square" lIns="0" tIns="0" rIns="0" bIns="0" rtlCol="0" anchor="ctr"/>
          <a:lstStyle/>
          <a:p>
            <a:pPr algn="ctr" indent="0" marL="0">
              <a:buNone/>
            </a:pPr>
            <a:r>
              <a:rPr lang="en-US" sz="1800" b="1" dirty="0">
                <a:solidFill>
                  <a:schemeClr val="tx2"/>
                </a:solidFill>
              </a:rPr>
              <a:t>Daily</a:t>
            </a:r>
            <a:endParaRPr lang="en-US" sz="1800" dirty="0"/>
          </a:p>
        </p:txBody>
      </p:sp>
      <p:sp>
        <p:nvSpPr>
          <p:cNvPr id="22" name="t-167"/>
          <p:cNvSpPr txBox="1"/>
          <p:nvPr/>
        </p:nvSpPr>
        <p:spPr>
          <a:xfrm>
            <a:off x="9863084" y="2651760"/>
            <a:ext cx="1597091" cy="1737360"/>
          </a:xfrm>
          <a:prstGeom prst="rect">
            <a:avLst/>
          </a:prstGeom>
          <a:noFill/>
          <a:ln/>
        </p:spPr>
        <p:txBody>
          <a:bodyPr wrap="square" lIns="0" tIns="0" rIns="0" bIns="0" rtlCol="0" anchor="t"/>
          <a:lstStyle/>
          <a:p>
            <a:pPr indent="0" marL="0">
              <a:buNone/>
            </a:pPr>
            <a:r>
              <a:rPr lang="en-US" sz="1500" dirty="0">
                <a:solidFill>
                  <a:schemeClr val="tx1"/>
                </a:solidFill>
              </a:rPr>
              <a:t>Drift check fails on any difference; config backup</a:t>
            </a:r>
            <a:endParaRPr lang="en-US" sz="1500" dirty="0"/>
          </a:p>
        </p:txBody>
      </p:sp>
      <p:sp>
        <p:nvSpPr>
          <p:cNvPr id="23" name="t-168"/>
          <p:cNvSpPr txBox="1"/>
          <p:nvPr/>
        </p:nvSpPr>
        <p:spPr>
          <a:xfrm>
            <a:off x="548640" y="4937760"/>
            <a:ext cx="11094415" cy="548640"/>
          </a:xfrm>
          <a:prstGeom prst="rect">
            <a:avLst/>
          </a:prstGeom>
          <a:noFill/>
          <a:ln/>
        </p:spPr>
        <p:txBody>
          <a:bodyPr wrap="square" lIns="0" tIns="0" rIns="0" bIns="0" rtlCol="0" anchor="ctr"/>
          <a:lstStyle/>
          <a:p>
            <a:pPr indent="0" marL="0">
              <a:buNone/>
            </a:pPr>
            <a:r>
              <a:rPr lang="en-US" sz="1600" i="1" dirty="0">
                <a:solidFill>
                  <a:schemeClr val="accent3"/>
                </a:solidFill>
              </a:rPr>
              <a:t>The Workload Identity provider only accepts tokens from this repository; no secrets except an alert email are stored in GitHub.</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169"/>
          <p:cNvSpPr txBox="1"/>
          <p:nvPr/>
        </p:nvSpPr>
        <p:spPr>
          <a:xfrm>
            <a:off x="548640" y="228600"/>
            <a:ext cx="11094415"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APPENDIX · IP PLAN</a:t>
            </a:r>
            <a:endParaRPr lang="en-US" sz="1200" dirty="0"/>
          </a:p>
        </p:txBody>
      </p:sp>
      <p:sp>
        <p:nvSpPr>
          <p:cNvPr id="3" name="Text 0"/>
          <p:cNvSpPr/>
          <p:nvPr>
            <p:ph idx="100" type="title" hasCustomPrompt="1"/>
          </p:nvPr>
        </p:nvSpPr>
        <p:spPr>
          <a:xfrm>
            <a:off x="548640" y="502920"/>
            <a:ext cx="11094415" cy="914400"/>
          </a:xfrm>
          <a:prstGeom prst="rect">
            <a:avLst/>
          </a:prstGeom>
          <a:noFill/>
          <a:ln/>
        </p:spPr>
        <p:txBody>
          <a:bodyPr wrap="square" lIns="0" tIns="0" rIns="0" bIns="0" rtlCol="0" anchor="t"/>
          <a:lstStyle/>
          <a:p>
            <a:pPr algn="l" indent="0" marL="0">
              <a:buNone/>
            </a:pPr>
            <a:r>
              <a:rPr lang="en-US" sz="3400" b="1" dirty="0">
                <a:solidFill>
                  <a:schemeClr val="tx2"/>
                </a:solidFill>
              </a:rPr>
              <a:t>Address plan: a /16 per domain, room for DR</a:t>
            </a:r>
            <a:endParaRPr lang="en-US" sz="3400" dirty="0"/>
          </a:p>
        </p:txBody>
      </p:sp>
      <p:graphicFrame>
        <p:nvGraphicFramePr>
          <p:cNvPr id="13" name="table-17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3108960"/>
                <a:gridCol w="2926080"/>
                <a:gridCol w="2468880"/>
                <a:gridCol w="2587752"/>
              </a:tblGrid>
              <a:tr h="0">
                <a:tc>
                  <a:txBody>
                    <a:bodyPr/>
                    <a:lstStyle/>
                    <a:p>
                      <a:pPr indent="0" marL="0">
                        <a:buNone/>
                      </a:pPr>
                      <a:r>
                        <a:rPr lang="en-US" sz="1700" b="1" dirty="0">
                          <a:solidFill>
                            <a:schemeClr val="bg1"/>
                          </a:solidFill>
                        </a:rPr>
                        <a:t>Domain</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Reserved</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us-central1</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us-east1 (DR)</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tx2"/>
                    </a:solidFill>
                  </a:tcPr>
                </a:tc>
              </a:tr>
              <a:tr h="0">
                <a:tc>
                  <a:txBody>
                    <a:bodyPr/>
                    <a:lstStyle/>
                    <a:p>
                      <a:pPr indent="0" marL="0">
                        <a:buNone/>
                      </a:pPr>
                      <a:r>
                        <a:rPr lang="en-US" sz="1700" b="1" dirty="0">
                          <a:solidFill>
                            <a:schemeClr val="tx1"/>
                          </a:solidFill>
                        </a:rPr>
                        <a:t>Shared services</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10.0.0.0/16</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10.0.0.0/20</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10.0.16.0/20</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Dev / staging</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10.10 / 10.20.0.0/16</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/20 each</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none</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700" b="1" dirty="0">
                          <a:solidFill>
                            <a:schemeClr val="tx1"/>
                          </a:solidFill>
                        </a:rPr>
                        <a:t>Prod</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10.30.0.0/16</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10.30.0.0/20</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10.30.16.0/20</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Fintech</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10.100.0.0/16</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10.100.0.0/20</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10.100.16.0/20</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r h="0">
                <a:tc>
                  <a:txBody>
                    <a:bodyPr/>
                    <a:lstStyle/>
                    <a:p>
                      <a:pPr indent="0" marL="0">
                        <a:buNone/>
                      </a:pPr>
                      <a:r>
                        <a:rPr lang="en-US" sz="1700" b="1" dirty="0">
                          <a:solidFill>
                            <a:schemeClr val="tx1"/>
                          </a:solidFill>
                        </a:rPr>
                        <a:t>Healthcare</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10.110.0.0/16</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10.110.0.0/20</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10.110.16.0/20</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2"/>
                    </a:solidFill>
                  </a:tcPr>
                </a:tc>
              </a:tr>
              <a:tr h="0">
                <a:tc>
                  <a:txBody>
                    <a:bodyPr/>
                    <a:lstStyle/>
                    <a:p>
                      <a:pPr indent="0" marL="0">
                        <a:buNone/>
                      </a:pPr>
                      <a:r>
                        <a:rPr lang="en-US" sz="1700" b="1" dirty="0">
                          <a:solidFill>
                            <a:schemeClr val="tx1"/>
                          </a:solidFill>
                        </a:rPr>
                        <a:t>On-prem (simulated)</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192.168.0.0/20</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192.168.0.0/20</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n/a</a:t>
                      </a:r>
                      <a:endParaRPr lang="en-US" sz="1700" dirty="0"/>
                    </a:p>
                  </a:txBody>
                  <a:tcPr marL="109728" marR="109728" marT="109728" marB="109728">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chemeClr val="bg1"/>
                    </a:solidFill>
                  </a:tcPr>
                </a:tc>
              </a:tr>
            </a:tbl>
          </a:graphicData>
        </a:graphic>
      </p:graphicFrame>
      <p:sp>
        <p:nvSpPr>
          <p:cNvPr id="5" name="t-171"/>
          <p:cNvSpPr txBox="1"/>
          <p:nvPr/>
        </p:nvSpPr>
        <p:spPr>
          <a:xfrm>
            <a:off x="548640" y="5394960"/>
            <a:ext cx="11094415" cy="457200"/>
          </a:xfrm>
          <a:prstGeom prst="rect">
            <a:avLst/>
          </a:prstGeom>
          <a:noFill/>
          <a:ln/>
        </p:spPr>
        <p:txBody>
          <a:bodyPr wrap="square" lIns="0" tIns="0" rIns="0" bIns="0" rtlCol="0" anchor="ctr"/>
          <a:lstStyle/>
          <a:p>
            <a:pPr indent="0" marL="0">
              <a:buNone/>
            </a:pPr>
            <a:r>
              <a:rPr lang="en-US" sz="1600" i="1" dirty="0">
                <a:solidFill>
                  <a:schemeClr val="accent3"/>
                </a:solidFill>
              </a:rPr>
              <a:t>DR subnets sit inside existing /16s, so failover needed no firewall changes.</a:t>
            </a:r>
            <a:endParaRPr lang="en-US" sz="1600" dirty="0"/>
          </a:p>
        </p:txBody>
      </p:sp>
      <p:sp>
        <p:nvSpPr>
          <p:cNvPr id="25" name="Slide Number Placeholder 0"/>
          <p:cNvSpPr>
            <a:spLocks noGrp="1"/>
          </p:cNvSpPr>
          <p:nvPr>
            <p:ph type="sldNum" sz="quarter" idx="4294967295"/>
          </p:nvPr>
        </p:nvSpPr>
        <p:spPr>
          <a:xfrm>
            <a:off x="1118585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aaS Network Pitch">
  <a:themeElements>
    <a:clrScheme name="SaaS Network Pitch">
      <a:dk1>
        <a:srgbClr val="14213D"/>
      </a:dk1>
      <a:lt1>
        <a:srgbClr val="FFFFFF"/>
      </a:lt1>
      <a:dk2>
        <a:srgbClr val="102A43"/>
      </a:dk2>
      <a:lt2>
        <a:srgbClr val="EDF2F7"/>
      </a:lt2>
      <a:accent1>
        <a:srgbClr val="0E9AA7"/>
      </a:accent1>
      <a:accent2>
        <a:srgbClr val="F4A621"/>
      </a:accent2>
      <a:accent3>
        <a:srgbClr val="2E6F95"/>
      </a:accent3>
      <a:accent4>
        <a:srgbClr val="6B7C93"/>
      </a:accent4>
      <a:accent5>
        <a:srgbClr val="C8453B"/>
      </a:accent5>
      <a:accent6>
        <a:srgbClr val="3E9E5A"/>
      </a:accent6>
      <a:hlink>
        <a:srgbClr val="0E9AA7"/>
      </a:hlink>
      <a:folHlink>
        <a:srgbClr val="2E6F95"/>
      </a:folHlink>
    </a:clrScheme>
    <a:fontScheme name="SaaS Network Pit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Multi-Tenant SaaS Network on GCP - Interview Presentation</dc:title>
  <dc:subject>PptxGenJS Presentation</dc:subject>
  <dc:creator>Daniel Olasupo</dc:creator>
  <cp:lastModifiedBy>Daniel Olasupo</cp:lastModifiedBy>
  <cp:revision>1</cp:revision>
  <dcterms:created xsi:type="dcterms:W3CDTF">2026-10-21T22:51:49Z</dcterms:created>
  <dcterms:modified xsi:type="dcterms:W3CDTF">2026-10-21T22:51:49Z</dcterms:modified>
</cp:coreProperties>
</file>